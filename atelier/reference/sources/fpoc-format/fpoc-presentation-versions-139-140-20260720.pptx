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4"/>
    <p:sldMasterId id="2147483680" r:id="rId5"/>
  </p:sldMasterIdLst>
  <p:notesMasterIdLst>
    <p:notesMasterId r:id="rId32"/>
  </p:notesMasterIdLst>
  <p:handoutMasterIdLst>
    <p:handoutMasterId r:id="rId33"/>
  </p:handoutMasterIdLst>
  <p:sldIdLst>
    <p:sldId id="257" r:id="rId6"/>
    <p:sldId id="1156" r:id="rId7"/>
    <p:sldId id="259" r:id="rId8"/>
    <p:sldId id="308" r:id="rId9"/>
    <p:sldId id="297" r:id="rId10"/>
    <p:sldId id="1158" r:id="rId11"/>
    <p:sldId id="1155" r:id="rId12"/>
    <p:sldId id="1220" r:id="rId13"/>
    <p:sldId id="1221" r:id="rId14"/>
    <p:sldId id="1219" r:id="rId15"/>
    <p:sldId id="1222" r:id="rId16"/>
    <p:sldId id="1223" r:id="rId17"/>
    <p:sldId id="1225" r:id="rId18"/>
    <p:sldId id="1227" r:id="rId19"/>
    <p:sldId id="1226" r:id="rId20"/>
    <p:sldId id="1228" r:id="rId21"/>
    <p:sldId id="1231" r:id="rId22"/>
    <p:sldId id="1229" r:id="rId23"/>
    <p:sldId id="1204" r:id="rId24"/>
    <p:sldId id="1207" r:id="rId25"/>
    <p:sldId id="1208" r:id="rId26"/>
    <p:sldId id="1233" r:id="rId27"/>
    <p:sldId id="1232" r:id="rId28"/>
    <p:sldId id="1209" r:id="rId29"/>
    <p:sldId id="1210" r:id="rId30"/>
    <p:sldId id="324" r:id="rId31"/>
  </p:sldIdLst>
  <p:sldSz cx="9144000" cy="6858000" type="screen4x3"/>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E7DACF-F4EE-6474-B378-BDCDCA41CA1A}" name="François JACQUET" initials="FJ" userId="S::francois.jacquet@sintia.fr::35d1c76c-39c0-4d8e-b53e-2112b8f38703" providerId="AD"/>
  <p188:author id="{E416B8E3-3DA2-94F3-FAE1-459970B78AD7}" name="Circé KROUCH-GUILHEM" initials="CK" userId="S::Circe.KROUCHGUILHEM@mutualite.fr::1dfe774e-a2e7-4d7c-8d6a-bf3d3cd589e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CC"/>
    <a:srgbClr val="CCECFF"/>
    <a:srgbClr val="CCFFCC"/>
    <a:srgbClr val="F6910A"/>
    <a:srgbClr val="7DDDFF"/>
    <a:srgbClr val="8BE1FF"/>
    <a:srgbClr val="19C3FF"/>
    <a:srgbClr val="A40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1C7484-EF5B-4AF7-82D7-EDC36E01E588}" v="4" dt="2026-07-22T09:55:21.74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90" autoAdjust="0"/>
    <p:restoredTop sz="95033" autoAdjust="0"/>
  </p:normalViewPr>
  <p:slideViewPr>
    <p:cSldViewPr>
      <p:cViewPr varScale="1">
        <p:scale>
          <a:sx n="60" d="100"/>
          <a:sy n="60" d="100"/>
        </p:scale>
        <p:origin x="1388" y="44"/>
      </p:cViewPr>
      <p:guideLst>
        <p:guide orient="horz" pos="2160"/>
        <p:guide pos="2880"/>
      </p:guideLst>
    </p:cSldViewPr>
  </p:slideViewPr>
  <p:notesTextViewPr>
    <p:cViewPr>
      <p:scale>
        <a:sx n="1" d="1"/>
        <a:sy n="1" d="1"/>
      </p:scale>
      <p:origin x="0" y="0"/>
    </p:cViewPr>
  </p:notesTextViewPr>
  <p:notesViewPr>
    <p:cSldViewPr>
      <p:cViewPr varScale="1">
        <p:scale>
          <a:sx n="44" d="100"/>
          <a:sy n="44" d="100"/>
        </p:scale>
        <p:origin x="2780"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8/10/relationships/authors" Target="authors.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ADB1AD0-FC40-4EB5-A0EF-218337A99A2A}"/>
              </a:ext>
            </a:extLst>
          </p:cNvPr>
          <p:cNvSpPr>
            <a:spLocks noGrp="1"/>
          </p:cNvSpPr>
          <p:nvPr>
            <p:ph type="hdr" sz="quarter"/>
          </p:nvPr>
        </p:nvSpPr>
        <p:spPr>
          <a:xfrm>
            <a:off x="0" y="0"/>
            <a:ext cx="2951163" cy="498475"/>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41AFC073-6D31-4628-A645-064BDDD0E2C5}"/>
              </a:ext>
            </a:extLst>
          </p:cNvPr>
          <p:cNvSpPr>
            <a:spLocks noGrp="1"/>
          </p:cNvSpPr>
          <p:nvPr>
            <p:ph type="dt" sz="quarter" idx="1"/>
          </p:nvPr>
        </p:nvSpPr>
        <p:spPr>
          <a:xfrm>
            <a:off x="3856038" y="0"/>
            <a:ext cx="2951162" cy="498475"/>
          </a:xfrm>
          <a:prstGeom prst="rect">
            <a:avLst/>
          </a:prstGeom>
        </p:spPr>
        <p:txBody>
          <a:bodyPr vert="horz" lIns="91440" tIns="45720" rIns="91440" bIns="45720" rtlCol="0"/>
          <a:lstStyle>
            <a:lvl1pPr algn="r">
              <a:defRPr sz="1200"/>
            </a:lvl1pPr>
          </a:lstStyle>
          <a:p>
            <a:fld id="{B6D9A10B-A009-49B0-8F56-6AB74907370F}" type="datetimeFigureOut">
              <a:rPr lang="fr-FR" smtClean="0"/>
              <a:t>23/07/2026</a:t>
            </a:fld>
            <a:endParaRPr lang="fr-FR"/>
          </a:p>
        </p:txBody>
      </p:sp>
      <p:sp>
        <p:nvSpPr>
          <p:cNvPr id="4" name="Espace réservé du pied de page 3">
            <a:extLst>
              <a:ext uri="{FF2B5EF4-FFF2-40B4-BE49-F238E27FC236}">
                <a16:creationId xmlns:a16="http://schemas.microsoft.com/office/drawing/2014/main" id="{5E43F595-1C3A-4540-9B63-DC2C69656570}"/>
              </a:ext>
            </a:extLst>
          </p:cNvPr>
          <p:cNvSpPr>
            <a:spLocks noGrp="1"/>
          </p:cNvSpPr>
          <p:nvPr>
            <p:ph type="ftr" sz="quarter" idx="2"/>
          </p:nvPr>
        </p:nvSpPr>
        <p:spPr>
          <a:xfrm>
            <a:off x="0" y="9442450"/>
            <a:ext cx="2951163" cy="498475"/>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0B15F00-F12D-4E27-A19A-0108D7934F44}"/>
              </a:ext>
            </a:extLst>
          </p:cNvPr>
          <p:cNvSpPr>
            <a:spLocks noGrp="1"/>
          </p:cNvSpPr>
          <p:nvPr>
            <p:ph type="sldNum" sz="quarter" idx="3"/>
          </p:nvPr>
        </p:nvSpPr>
        <p:spPr>
          <a:xfrm>
            <a:off x="3856038" y="9442450"/>
            <a:ext cx="2951162" cy="498475"/>
          </a:xfrm>
          <a:prstGeom prst="rect">
            <a:avLst/>
          </a:prstGeom>
        </p:spPr>
        <p:txBody>
          <a:bodyPr vert="horz" lIns="91440" tIns="45720" rIns="91440" bIns="45720" rtlCol="0" anchor="b"/>
          <a:lstStyle>
            <a:lvl1pPr algn="r">
              <a:defRPr sz="1200"/>
            </a:lvl1pPr>
          </a:lstStyle>
          <a:p>
            <a:fld id="{94AEAB33-280F-4B92-8801-D4E40031DA81}" type="slidenum">
              <a:rPr lang="fr-FR" smtClean="0"/>
              <a:t>‹N°›</a:t>
            </a:fld>
            <a:endParaRPr lang="fr-FR"/>
          </a:p>
        </p:txBody>
      </p:sp>
    </p:spTree>
    <p:extLst>
      <p:ext uri="{BB962C8B-B14F-4D97-AF65-F5344CB8AC3E}">
        <p14:creationId xmlns:p14="http://schemas.microsoft.com/office/powerpoint/2010/main" val="162323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50474" cy="497046"/>
          </a:xfrm>
          <a:prstGeom prst="rect">
            <a:avLst/>
          </a:prstGeom>
        </p:spPr>
        <p:txBody>
          <a:bodyPr vert="horz" lIns="95709" tIns="47854" rIns="95709" bIns="47854" rtlCol="0"/>
          <a:lstStyle>
            <a:lvl1pPr algn="l">
              <a:defRPr sz="1300"/>
            </a:lvl1pPr>
          </a:lstStyle>
          <a:p>
            <a:endParaRPr lang="fr-FR"/>
          </a:p>
        </p:txBody>
      </p:sp>
      <p:sp>
        <p:nvSpPr>
          <p:cNvPr id="3" name="Espace réservé de la date 2"/>
          <p:cNvSpPr>
            <a:spLocks noGrp="1"/>
          </p:cNvSpPr>
          <p:nvPr>
            <p:ph type="dt" idx="1"/>
          </p:nvPr>
        </p:nvSpPr>
        <p:spPr>
          <a:xfrm>
            <a:off x="3856738" y="0"/>
            <a:ext cx="2950474" cy="497046"/>
          </a:xfrm>
          <a:prstGeom prst="rect">
            <a:avLst/>
          </a:prstGeom>
        </p:spPr>
        <p:txBody>
          <a:bodyPr vert="horz" lIns="95709" tIns="47854" rIns="95709" bIns="47854" rtlCol="0"/>
          <a:lstStyle>
            <a:lvl1pPr algn="r">
              <a:defRPr sz="1300"/>
            </a:lvl1pPr>
          </a:lstStyle>
          <a:p>
            <a:fld id="{ADAAFE26-CFC9-4492-87CD-37780ED3DAD4}" type="datetimeFigureOut">
              <a:rPr lang="fr-FR" smtClean="0"/>
              <a:t>23/07/2026</a:t>
            </a:fld>
            <a:endParaRPr lang="fr-FR"/>
          </a:p>
        </p:txBody>
      </p:sp>
      <p:sp>
        <p:nvSpPr>
          <p:cNvPr id="4" name="Espace réservé de l'image des diapositives 3"/>
          <p:cNvSpPr>
            <a:spLocks noGrp="1" noRot="1" noChangeAspect="1"/>
          </p:cNvSpPr>
          <p:nvPr>
            <p:ph type="sldImg" idx="2"/>
          </p:nvPr>
        </p:nvSpPr>
        <p:spPr>
          <a:xfrm>
            <a:off x="920750" y="746125"/>
            <a:ext cx="4967288" cy="3727450"/>
          </a:xfrm>
          <a:prstGeom prst="rect">
            <a:avLst/>
          </a:prstGeom>
          <a:noFill/>
          <a:ln w="12700">
            <a:solidFill>
              <a:prstClr val="black"/>
            </a:solidFill>
          </a:ln>
        </p:spPr>
        <p:txBody>
          <a:bodyPr vert="horz" lIns="95709" tIns="47854" rIns="95709" bIns="47854"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5709" tIns="47854" rIns="95709" bIns="47854"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42153"/>
            <a:ext cx="2950474" cy="497046"/>
          </a:xfrm>
          <a:prstGeom prst="rect">
            <a:avLst/>
          </a:prstGeom>
        </p:spPr>
        <p:txBody>
          <a:bodyPr vert="horz" lIns="95709" tIns="47854" rIns="95709" bIns="47854"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3856738" y="9442153"/>
            <a:ext cx="2950474" cy="497046"/>
          </a:xfrm>
          <a:prstGeom prst="rect">
            <a:avLst/>
          </a:prstGeom>
        </p:spPr>
        <p:txBody>
          <a:bodyPr vert="horz" lIns="95709" tIns="47854" rIns="95709" bIns="47854" rtlCol="0" anchor="b"/>
          <a:lstStyle>
            <a:lvl1pPr algn="r">
              <a:defRPr sz="1300"/>
            </a:lvl1pPr>
          </a:lstStyle>
          <a:p>
            <a:fld id="{532C9E7A-B1F5-4FA9-A130-3AE64B04A57D}" type="slidenum">
              <a:rPr lang="fr-FR" smtClean="0"/>
              <a:t>‹N°›</a:t>
            </a:fld>
            <a:endParaRPr lang="fr-FR"/>
          </a:p>
        </p:txBody>
      </p:sp>
    </p:spTree>
    <p:extLst>
      <p:ext uri="{BB962C8B-B14F-4D97-AF65-F5344CB8AC3E}">
        <p14:creationId xmlns:p14="http://schemas.microsoft.com/office/powerpoint/2010/main" val="9816035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17575" y="742950"/>
            <a:ext cx="4973638" cy="3730625"/>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31A57A-9A69-4400-B9C8-DD24B517174E}" type="slidenum">
              <a:rPr lang="fr-FR" smtClean="0">
                <a:solidFill>
                  <a:prstClr val="black"/>
                </a:solidFill>
              </a:rPr>
              <a:pPr/>
              <a:t>1</a:t>
            </a:fld>
            <a:endParaRPr lang="fr-FR" dirty="0">
              <a:solidFill>
                <a:prstClr val="black"/>
              </a:solidFill>
            </a:endParaRPr>
          </a:p>
        </p:txBody>
      </p:sp>
    </p:spTree>
    <p:extLst>
      <p:ext uri="{BB962C8B-B14F-4D97-AF65-F5344CB8AC3E}">
        <p14:creationId xmlns:p14="http://schemas.microsoft.com/office/powerpoint/2010/main" val="152343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17575" y="742950"/>
            <a:ext cx="4973638" cy="3730625"/>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31A57A-9A69-4400-B9C8-DD24B517174E}" type="slidenum">
              <a:rPr lang="fr-FR" smtClean="0">
                <a:solidFill>
                  <a:prstClr val="black"/>
                </a:solidFill>
              </a:rPr>
              <a:pPr/>
              <a:t>3</a:t>
            </a:fld>
            <a:endParaRPr lang="fr-FR" dirty="0">
              <a:solidFill>
                <a:prstClr val="black"/>
              </a:solidFill>
            </a:endParaRPr>
          </a:p>
        </p:txBody>
      </p:sp>
    </p:spTree>
    <p:extLst>
      <p:ext uri="{BB962C8B-B14F-4D97-AF65-F5344CB8AC3E}">
        <p14:creationId xmlns:p14="http://schemas.microsoft.com/office/powerpoint/2010/main" val="1766940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9559-9FE7-309E-BB7B-EEC9E8758F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3A3FFB-1574-6BF3-7136-12180C94D9E5}"/>
              </a:ext>
            </a:extLst>
          </p:cNvPr>
          <p:cNvSpPr>
            <a:spLocks noGrp="1" noRot="1" noChangeAspect="1"/>
          </p:cNvSpPr>
          <p:nvPr>
            <p:ph type="sldImg"/>
          </p:nvPr>
        </p:nvSpPr>
        <p:spPr>
          <a:xfrm>
            <a:off x="917575" y="742950"/>
            <a:ext cx="4973638" cy="3730625"/>
          </a:xfrm>
        </p:spPr>
      </p:sp>
      <p:sp>
        <p:nvSpPr>
          <p:cNvPr id="3" name="Espace réservé des commentaires 2">
            <a:extLst>
              <a:ext uri="{FF2B5EF4-FFF2-40B4-BE49-F238E27FC236}">
                <a16:creationId xmlns:a16="http://schemas.microsoft.com/office/drawing/2014/main" id="{686AA269-7E5A-8F76-3AE3-16429829EA5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BAC7181-D8BD-52C9-A49C-A39AE88F2CBA}"/>
              </a:ext>
            </a:extLst>
          </p:cNvPr>
          <p:cNvSpPr>
            <a:spLocks noGrp="1"/>
          </p:cNvSpPr>
          <p:nvPr>
            <p:ph type="sldNum" sz="quarter" idx="10"/>
          </p:nvPr>
        </p:nvSpPr>
        <p:spPr/>
        <p:txBody>
          <a:bodyPr/>
          <a:lstStyle/>
          <a:p>
            <a:fld id="{2A31A57A-9A69-4400-B9C8-DD24B517174E}" type="slidenum">
              <a:rPr lang="fr-FR" smtClean="0">
                <a:solidFill>
                  <a:prstClr val="black"/>
                </a:solidFill>
              </a:rPr>
              <a:pPr/>
              <a:t>6</a:t>
            </a:fld>
            <a:endParaRPr lang="fr-FR" dirty="0">
              <a:solidFill>
                <a:prstClr val="black"/>
              </a:solidFill>
            </a:endParaRPr>
          </a:p>
        </p:txBody>
      </p:sp>
    </p:spTree>
    <p:extLst>
      <p:ext uri="{BB962C8B-B14F-4D97-AF65-F5344CB8AC3E}">
        <p14:creationId xmlns:p14="http://schemas.microsoft.com/office/powerpoint/2010/main" val="1895707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F8C9-4991-60E0-CFB8-45235F3280F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4F1550-5E83-A4F5-DCC3-7006CFDBC58E}"/>
              </a:ext>
            </a:extLst>
          </p:cNvPr>
          <p:cNvSpPr>
            <a:spLocks noGrp="1" noRot="1" noChangeAspect="1"/>
          </p:cNvSpPr>
          <p:nvPr>
            <p:ph type="sldImg"/>
          </p:nvPr>
        </p:nvSpPr>
        <p:spPr>
          <a:xfrm>
            <a:off x="917575" y="742950"/>
            <a:ext cx="4973638" cy="3730625"/>
          </a:xfrm>
        </p:spPr>
      </p:sp>
      <p:sp>
        <p:nvSpPr>
          <p:cNvPr id="3" name="Espace réservé des commentaires 2">
            <a:extLst>
              <a:ext uri="{FF2B5EF4-FFF2-40B4-BE49-F238E27FC236}">
                <a16:creationId xmlns:a16="http://schemas.microsoft.com/office/drawing/2014/main" id="{E7972BE7-5152-B34D-9D8D-29877360355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8B6942-FB56-0D8D-644E-36FD304C9D1F}"/>
              </a:ext>
            </a:extLst>
          </p:cNvPr>
          <p:cNvSpPr>
            <a:spLocks noGrp="1"/>
          </p:cNvSpPr>
          <p:nvPr>
            <p:ph type="sldNum" sz="quarter" idx="10"/>
          </p:nvPr>
        </p:nvSpPr>
        <p:spPr/>
        <p:txBody>
          <a:bodyPr/>
          <a:lstStyle/>
          <a:p>
            <a:fld id="{2A31A57A-9A69-4400-B9C8-DD24B517174E}" type="slidenum">
              <a:rPr lang="fr-FR" smtClean="0">
                <a:solidFill>
                  <a:prstClr val="black"/>
                </a:solidFill>
              </a:rPr>
              <a:pPr/>
              <a:t>19</a:t>
            </a:fld>
            <a:endParaRPr lang="fr-FR" dirty="0">
              <a:solidFill>
                <a:prstClr val="black"/>
              </a:solidFill>
            </a:endParaRPr>
          </a:p>
        </p:txBody>
      </p:sp>
    </p:spTree>
    <p:extLst>
      <p:ext uri="{BB962C8B-B14F-4D97-AF65-F5344CB8AC3E}">
        <p14:creationId xmlns:p14="http://schemas.microsoft.com/office/powerpoint/2010/main" val="1212945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file:////Users/apolline/Creative%20Cloud%20Files/APOLLINE/00789%20-%20CTIP%20-%20Refonte%20identite&#769;%20et%20charte%20graphique/CREATION/01%20-%20Logo/EXPORTS/JPEG/CTIP_LOGO-12-05.jpg"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file:////Users/apolline/Creative%20Cloud%20Files/APOLLINE/00789%20-%20CTIP%20-%20Refonte%20identite&#769;%20et%20charte%20graphique/CREATION/01%20-%20Logo/EXPORTS/JPEG/CTIP_LOGO-12-05.jpg"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file:////Users/apolline/Creative%20Cloud%20Files/APOLLINE/00789%20-%20CTIP%20-%20Refonte%20identite&#769;%20et%20charte%20graphique/CREATION/01%20-%20Logo/EXPORTS/JPEG/CTIP_LOGO-12-05.jpg" TargetMode="Externa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cxnSp>
        <p:nvCxnSpPr>
          <p:cNvPr id="27" name="Connecteur droit 26">
            <a:extLst>
              <a:ext uri="{FF2B5EF4-FFF2-40B4-BE49-F238E27FC236}">
                <a16:creationId xmlns:a16="http://schemas.microsoft.com/office/drawing/2014/main" id="{5867BC6B-B713-1F45-81AA-F3B070F0B208}"/>
              </a:ext>
            </a:extLst>
          </p:cNvPr>
          <p:cNvCxnSpPr>
            <a:cxnSpLocks/>
          </p:cNvCxnSpPr>
          <p:nvPr userDrawn="1"/>
        </p:nvCxnSpPr>
        <p:spPr>
          <a:xfrm>
            <a:off x="4122000" y="2926812"/>
            <a:ext cx="900000" cy="0"/>
          </a:xfrm>
          <a:prstGeom prst="line">
            <a:avLst/>
          </a:prstGeom>
          <a:ln w="76200">
            <a:solidFill>
              <a:schemeClr val="accent4">
                <a:lumMod val="20000"/>
                <a:lumOff val="80000"/>
              </a:schemeClr>
            </a:solidFill>
          </a:ln>
        </p:spPr>
        <p:style>
          <a:lnRef idx="2">
            <a:schemeClr val="accent4"/>
          </a:lnRef>
          <a:fillRef idx="0">
            <a:schemeClr val="accent4"/>
          </a:fillRef>
          <a:effectRef idx="1">
            <a:schemeClr val="accent4"/>
          </a:effectRef>
          <a:fontRef idx="minor">
            <a:schemeClr val="tx1"/>
          </a:fontRef>
        </p:style>
      </p:cxnSp>
      <p:sp>
        <p:nvSpPr>
          <p:cNvPr id="2" name="Title 1"/>
          <p:cNvSpPr>
            <a:spLocks noGrp="1"/>
          </p:cNvSpPr>
          <p:nvPr>
            <p:ph type="ctrTitle" hasCustomPrompt="1"/>
          </p:nvPr>
        </p:nvSpPr>
        <p:spPr>
          <a:xfrm>
            <a:off x="1143000" y="530551"/>
            <a:ext cx="6858000" cy="2128263"/>
          </a:xfrm>
        </p:spPr>
        <p:txBody>
          <a:bodyPr anchor="b">
            <a:noAutofit/>
          </a:bodyPr>
          <a:lstStyle>
            <a:lvl1pPr algn="ctr">
              <a:lnSpc>
                <a:spcPct val="125000"/>
              </a:lnSpc>
              <a:defRPr sz="2800" b="1" cap="all" baseline="0"/>
            </a:lvl1pPr>
          </a:lstStyle>
          <a:p>
            <a:r>
              <a:rPr lang="fr-FR" dirty="0"/>
              <a:t>MODIFIEZ LE STYLE DU TITRE</a:t>
            </a:r>
            <a:endParaRPr lang="en-US" dirty="0"/>
          </a:p>
        </p:txBody>
      </p:sp>
      <p:sp>
        <p:nvSpPr>
          <p:cNvPr id="3" name="Subtitle 2"/>
          <p:cNvSpPr>
            <a:spLocks noGrp="1"/>
          </p:cNvSpPr>
          <p:nvPr>
            <p:ph type="subTitle" idx="1" hasCustomPrompt="1"/>
          </p:nvPr>
        </p:nvSpPr>
        <p:spPr>
          <a:xfrm>
            <a:off x="1143000" y="3194813"/>
            <a:ext cx="6858000" cy="929185"/>
          </a:xfrm>
        </p:spPr>
        <p:txBody>
          <a:bodyPr/>
          <a:lstStyle>
            <a:lvl1pPr marL="0" indent="0" algn="ctr">
              <a:buNone/>
              <a:defRPr sz="1800" b="0">
                <a:solidFill>
                  <a:schemeClr val="accent3"/>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Modifiez le style </a:t>
            </a:r>
            <a:br>
              <a:rPr lang="fr-FR" dirty="0"/>
            </a:br>
            <a:r>
              <a:rPr lang="fr-FR" dirty="0"/>
              <a:t>des sous-titres du masque</a:t>
            </a:r>
            <a:endParaRPr lang="en-US" dirty="0"/>
          </a:p>
        </p:txBody>
      </p:sp>
      <p:cxnSp>
        <p:nvCxnSpPr>
          <p:cNvPr id="12" name="Connecteur droit 11">
            <a:extLst>
              <a:ext uri="{FF2B5EF4-FFF2-40B4-BE49-F238E27FC236}">
                <a16:creationId xmlns:a16="http://schemas.microsoft.com/office/drawing/2014/main" id="{5CE03181-BC59-B84E-8D51-30A72FD42DDF}"/>
              </a:ext>
            </a:extLst>
          </p:cNvPr>
          <p:cNvCxnSpPr>
            <a:cxnSpLocks/>
          </p:cNvCxnSpPr>
          <p:nvPr userDrawn="1"/>
        </p:nvCxnSpPr>
        <p:spPr>
          <a:xfrm>
            <a:off x="5512527" y="6126992"/>
            <a:ext cx="3370217"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15" name="Connecteur droit 14">
            <a:extLst>
              <a:ext uri="{FF2B5EF4-FFF2-40B4-BE49-F238E27FC236}">
                <a16:creationId xmlns:a16="http://schemas.microsoft.com/office/drawing/2014/main" id="{5F4AD0ED-9D10-8F43-A7F9-C3A9C4D6AA87}"/>
              </a:ext>
            </a:extLst>
          </p:cNvPr>
          <p:cNvCxnSpPr>
            <a:cxnSpLocks/>
          </p:cNvCxnSpPr>
          <p:nvPr userDrawn="1"/>
        </p:nvCxnSpPr>
        <p:spPr>
          <a:xfrm>
            <a:off x="628651" y="6123152"/>
            <a:ext cx="3002281"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4" name="Connecteur droit 23">
            <a:extLst>
              <a:ext uri="{FF2B5EF4-FFF2-40B4-BE49-F238E27FC236}">
                <a16:creationId xmlns:a16="http://schemas.microsoft.com/office/drawing/2014/main" id="{1A9EEB10-E3D7-9B4F-A79B-CD0202F25B18}"/>
              </a:ext>
            </a:extLst>
          </p:cNvPr>
          <p:cNvCxnSpPr>
            <a:cxnSpLocks/>
          </p:cNvCxnSpPr>
          <p:nvPr userDrawn="1"/>
        </p:nvCxnSpPr>
        <p:spPr>
          <a:xfrm>
            <a:off x="3631204" y="2926812"/>
            <a:ext cx="1881595"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67807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e de titre + logos">
    <p:spTree>
      <p:nvGrpSpPr>
        <p:cNvPr id="1" name=""/>
        <p:cNvGrpSpPr/>
        <p:nvPr/>
      </p:nvGrpSpPr>
      <p:grpSpPr>
        <a:xfrm>
          <a:off x="0" y="0"/>
          <a:ext cx="0" cy="0"/>
          <a:chOff x="0" y="0"/>
          <a:chExt cx="0" cy="0"/>
        </a:xfrm>
      </p:grpSpPr>
      <p:cxnSp>
        <p:nvCxnSpPr>
          <p:cNvPr id="27" name="Connecteur droit 26">
            <a:extLst>
              <a:ext uri="{FF2B5EF4-FFF2-40B4-BE49-F238E27FC236}">
                <a16:creationId xmlns:a16="http://schemas.microsoft.com/office/drawing/2014/main" id="{5867BC6B-B713-1F45-81AA-F3B070F0B208}"/>
              </a:ext>
            </a:extLst>
          </p:cNvPr>
          <p:cNvCxnSpPr>
            <a:cxnSpLocks/>
          </p:cNvCxnSpPr>
          <p:nvPr userDrawn="1"/>
        </p:nvCxnSpPr>
        <p:spPr>
          <a:xfrm>
            <a:off x="1451505" y="3221388"/>
            <a:ext cx="818182" cy="0"/>
          </a:xfrm>
          <a:prstGeom prst="line">
            <a:avLst/>
          </a:prstGeom>
          <a:ln w="76200">
            <a:solidFill>
              <a:schemeClr val="accent4">
                <a:lumMod val="20000"/>
                <a:lumOff val="80000"/>
              </a:schemeClr>
            </a:solidFill>
          </a:ln>
        </p:spPr>
        <p:style>
          <a:lnRef idx="2">
            <a:schemeClr val="accent4"/>
          </a:lnRef>
          <a:fillRef idx="0">
            <a:schemeClr val="accent4"/>
          </a:fillRef>
          <a:effectRef idx="1">
            <a:schemeClr val="accent4"/>
          </a:effectRef>
          <a:fontRef idx="minor">
            <a:schemeClr val="tx1"/>
          </a:fontRef>
        </p:style>
      </p:cxnSp>
      <p:sp>
        <p:nvSpPr>
          <p:cNvPr id="2" name="Title 1"/>
          <p:cNvSpPr>
            <a:spLocks noGrp="1"/>
          </p:cNvSpPr>
          <p:nvPr>
            <p:ph type="ctrTitle" hasCustomPrompt="1"/>
          </p:nvPr>
        </p:nvSpPr>
        <p:spPr>
          <a:xfrm>
            <a:off x="1470991" y="825127"/>
            <a:ext cx="6530009" cy="2128263"/>
          </a:xfrm>
        </p:spPr>
        <p:txBody>
          <a:bodyPr anchor="b">
            <a:noAutofit/>
          </a:bodyPr>
          <a:lstStyle>
            <a:lvl1pPr algn="l">
              <a:lnSpc>
                <a:spcPct val="125000"/>
              </a:lnSpc>
              <a:defRPr sz="2800" b="1" cap="all" baseline="0"/>
            </a:lvl1pPr>
          </a:lstStyle>
          <a:p>
            <a:r>
              <a:rPr lang="fr-FR" dirty="0"/>
              <a:t>MODIFIEZ LE STYLE DU TITRE</a:t>
            </a:r>
            <a:endParaRPr lang="en-US" dirty="0"/>
          </a:p>
        </p:txBody>
      </p:sp>
      <p:sp>
        <p:nvSpPr>
          <p:cNvPr id="3" name="Subtitle 2"/>
          <p:cNvSpPr>
            <a:spLocks noGrp="1"/>
          </p:cNvSpPr>
          <p:nvPr>
            <p:ph type="subTitle" idx="1"/>
          </p:nvPr>
        </p:nvSpPr>
        <p:spPr>
          <a:xfrm>
            <a:off x="1470991" y="3489388"/>
            <a:ext cx="6530009" cy="1471176"/>
          </a:xfrm>
        </p:spPr>
        <p:txBody>
          <a:bodyPr/>
          <a:lstStyle>
            <a:lvl1pPr marL="0" indent="0" algn="l">
              <a:buNone/>
              <a:defRPr sz="1800" b="0">
                <a:solidFill>
                  <a:schemeClr val="accent3"/>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Modifiez le style des sous-titres du masque</a:t>
            </a:r>
            <a:endParaRPr lang="en-US" dirty="0"/>
          </a:p>
        </p:txBody>
      </p:sp>
      <p:cxnSp>
        <p:nvCxnSpPr>
          <p:cNvPr id="15" name="Connecteur droit 14">
            <a:extLst>
              <a:ext uri="{FF2B5EF4-FFF2-40B4-BE49-F238E27FC236}">
                <a16:creationId xmlns:a16="http://schemas.microsoft.com/office/drawing/2014/main" id="{5F4AD0ED-9D10-8F43-A7F9-C3A9C4D6AA87}"/>
              </a:ext>
            </a:extLst>
          </p:cNvPr>
          <p:cNvCxnSpPr>
            <a:cxnSpLocks/>
          </p:cNvCxnSpPr>
          <p:nvPr userDrawn="1"/>
        </p:nvCxnSpPr>
        <p:spPr>
          <a:xfrm>
            <a:off x="628650" y="6123152"/>
            <a:ext cx="593648"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4" name="Connecteur droit 23">
            <a:extLst>
              <a:ext uri="{FF2B5EF4-FFF2-40B4-BE49-F238E27FC236}">
                <a16:creationId xmlns:a16="http://schemas.microsoft.com/office/drawing/2014/main" id="{1A9EEB10-E3D7-9B4F-A79B-CD0202F25B18}"/>
              </a:ext>
            </a:extLst>
          </p:cNvPr>
          <p:cNvCxnSpPr>
            <a:cxnSpLocks/>
          </p:cNvCxnSpPr>
          <p:nvPr userDrawn="1"/>
        </p:nvCxnSpPr>
        <p:spPr>
          <a:xfrm>
            <a:off x="1005325" y="3221388"/>
            <a:ext cx="1710542"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701345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trée de chapitr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B311DF-C70A-FC45-99F3-DC6E231DC3A2}"/>
              </a:ext>
            </a:extLst>
          </p:cNvPr>
          <p:cNvSpPr>
            <a:spLocks noGrp="1"/>
          </p:cNvSpPr>
          <p:nvPr>
            <p:ph type="ctrTitle" hasCustomPrompt="1"/>
          </p:nvPr>
        </p:nvSpPr>
        <p:spPr>
          <a:xfrm>
            <a:off x="1143000" y="825127"/>
            <a:ext cx="6858000" cy="2128263"/>
          </a:xfrm>
        </p:spPr>
        <p:txBody>
          <a:bodyPr anchor="b">
            <a:noAutofit/>
          </a:bodyPr>
          <a:lstStyle>
            <a:lvl1pPr algn="ctr">
              <a:defRPr sz="2800" b="0"/>
            </a:lvl1pPr>
          </a:lstStyle>
          <a:p>
            <a:r>
              <a:rPr lang="fr-FR" dirty="0"/>
              <a:t>Titre entrée de chapitre </a:t>
            </a:r>
            <a:br>
              <a:rPr lang="fr-FR" dirty="0"/>
            </a:br>
            <a:r>
              <a:rPr lang="fr-FR" dirty="0"/>
              <a:t>sur plusieurs lignes possible</a:t>
            </a:r>
            <a:endParaRPr lang="en-US" dirty="0"/>
          </a:p>
        </p:txBody>
      </p:sp>
      <p:sp>
        <p:nvSpPr>
          <p:cNvPr id="8" name="Subtitle 2">
            <a:extLst>
              <a:ext uri="{FF2B5EF4-FFF2-40B4-BE49-F238E27FC236}">
                <a16:creationId xmlns:a16="http://schemas.microsoft.com/office/drawing/2014/main" id="{00724754-964C-2C48-A867-8C7730775C0F}"/>
              </a:ext>
            </a:extLst>
          </p:cNvPr>
          <p:cNvSpPr>
            <a:spLocks noGrp="1"/>
          </p:cNvSpPr>
          <p:nvPr>
            <p:ph type="subTitle" idx="1" hasCustomPrompt="1"/>
          </p:nvPr>
        </p:nvSpPr>
        <p:spPr>
          <a:xfrm>
            <a:off x="1143000" y="3489388"/>
            <a:ext cx="6858000" cy="1471176"/>
          </a:xfrm>
        </p:spPr>
        <p:txBody>
          <a:bodyPr>
            <a:noAutofit/>
          </a:bodyPr>
          <a:lstStyle>
            <a:lvl1pPr marL="0" indent="0" algn="ctr">
              <a:buNone/>
              <a:defRPr sz="1800" b="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Sous-titre entrée de chapitre</a:t>
            </a:r>
            <a:endParaRPr lang="en-US" dirty="0"/>
          </a:p>
        </p:txBody>
      </p:sp>
      <p:cxnSp>
        <p:nvCxnSpPr>
          <p:cNvPr id="10" name="Connecteur droit 9">
            <a:extLst>
              <a:ext uri="{FF2B5EF4-FFF2-40B4-BE49-F238E27FC236}">
                <a16:creationId xmlns:a16="http://schemas.microsoft.com/office/drawing/2014/main" id="{460B9AE9-2EEB-AB42-9EC9-3736B0F5BE75}"/>
              </a:ext>
            </a:extLst>
          </p:cNvPr>
          <p:cNvCxnSpPr>
            <a:cxnSpLocks/>
          </p:cNvCxnSpPr>
          <p:nvPr userDrawn="1"/>
        </p:nvCxnSpPr>
        <p:spPr>
          <a:xfrm>
            <a:off x="4122000" y="3221388"/>
            <a:ext cx="900000" cy="0"/>
          </a:xfrm>
          <a:prstGeom prst="line">
            <a:avLst/>
          </a:prstGeom>
          <a:ln w="76200">
            <a:solidFill>
              <a:schemeClr val="accent3">
                <a:lumMod val="20000"/>
                <a:lumOff val="80000"/>
              </a:schemeClr>
            </a:solidFill>
          </a:ln>
        </p:spPr>
        <p:style>
          <a:lnRef idx="2">
            <a:schemeClr val="accent4"/>
          </a:lnRef>
          <a:fillRef idx="0">
            <a:schemeClr val="accent4"/>
          </a:fillRef>
          <a:effectRef idx="1">
            <a:schemeClr val="accent4"/>
          </a:effectRef>
          <a:fontRef idx="minor">
            <a:schemeClr val="tx1"/>
          </a:fontRef>
        </p:style>
      </p:cxnSp>
      <p:cxnSp>
        <p:nvCxnSpPr>
          <p:cNvPr id="11" name="Connecteur droit 10">
            <a:extLst>
              <a:ext uri="{FF2B5EF4-FFF2-40B4-BE49-F238E27FC236}">
                <a16:creationId xmlns:a16="http://schemas.microsoft.com/office/drawing/2014/main" id="{4D658E76-D5EE-6A44-9A50-8B3B4F6F7A6E}"/>
              </a:ext>
            </a:extLst>
          </p:cNvPr>
          <p:cNvCxnSpPr>
            <a:cxnSpLocks/>
          </p:cNvCxnSpPr>
          <p:nvPr userDrawn="1"/>
        </p:nvCxnSpPr>
        <p:spPr>
          <a:xfrm>
            <a:off x="3631204" y="3221388"/>
            <a:ext cx="1881595" cy="0"/>
          </a:xfrm>
          <a:prstGeom prst="line">
            <a:avLst/>
          </a:prstGeom>
          <a:ln>
            <a:solidFill>
              <a:schemeClr val="accent3"/>
            </a:solidFill>
          </a:ln>
        </p:spPr>
        <p:style>
          <a:lnRef idx="2">
            <a:schemeClr val="accent4"/>
          </a:lnRef>
          <a:fillRef idx="0">
            <a:schemeClr val="accent4"/>
          </a:fillRef>
          <a:effectRef idx="1">
            <a:schemeClr val="accent4"/>
          </a:effectRef>
          <a:fontRef idx="minor">
            <a:schemeClr val="tx1"/>
          </a:fontRef>
        </p:style>
      </p:cxnSp>
      <p:sp>
        <p:nvSpPr>
          <p:cNvPr id="15" name="Slide Number Placeholder 5">
            <a:extLst>
              <a:ext uri="{FF2B5EF4-FFF2-40B4-BE49-F238E27FC236}">
                <a16:creationId xmlns:a16="http://schemas.microsoft.com/office/drawing/2014/main" id="{4F718287-44C2-4C35-AB6E-E2A8B9B51CE2}"/>
              </a:ext>
            </a:extLst>
          </p:cNvPr>
          <p:cNvSpPr>
            <a:spLocks noGrp="1"/>
          </p:cNvSpPr>
          <p:nvPr>
            <p:ph type="sldNum" sz="quarter" idx="12"/>
          </p:nvPr>
        </p:nvSpPr>
        <p:spPr>
          <a:xfrm>
            <a:off x="8533159" y="6450164"/>
            <a:ext cx="556591" cy="383904"/>
          </a:xfrm>
        </p:spPr>
        <p:txBody>
          <a:bodyPr/>
          <a:lstStyle/>
          <a:p>
            <a:fld id="{6C53AC0A-47EB-D843-AAE8-9061F973F010}" type="slidenum">
              <a:rPr lang="fr-FR" smtClean="0"/>
              <a:t>‹N°›</a:t>
            </a:fld>
            <a:endParaRPr lang="fr-FR"/>
          </a:p>
        </p:txBody>
      </p:sp>
    </p:spTree>
    <p:extLst>
      <p:ext uri="{BB962C8B-B14F-4D97-AF65-F5344CB8AC3E}">
        <p14:creationId xmlns:p14="http://schemas.microsoft.com/office/powerpoint/2010/main" val="2303076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932060" y="1"/>
            <a:ext cx="7601100" cy="836712"/>
          </a:xfrm>
        </p:spPr>
        <p:txBody>
          <a:bodyPr>
            <a:noAutofit/>
          </a:bodyPr>
          <a:lstStyle>
            <a:lvl1pPr>
              <a:defRPr sz="2400" b="1"/>
            </a:lvl1pPr>
          </a:lstStyle>
          <a:p>
            <a:r>
              <a:rPr lang="fr-FR" dirty="0"/>
              <a:t>Modifiez le style du titre</a:t>
            </a:r>
            <a:endParaRPr lang="en-US" dirty="0"/>
          </a:p>
        </p:txBody>
      </p:sp>
      <p:sp>
        <p:nvSpPr>
          <p:cNvPr id="3" name="Content Placeholder 2"/>
          <p:cNvSpPr>
            <a:spLocks noGrp="1"/>
          </p:cNvSpPr>
          <p:nvPr>
            <p:ph idx="1"/>
          </p:nvPr>
        </p:nvSpPr>
        <p:spPr>
          <a:xfrm>
            <a:off x="628650" y="1052736"/>
            <a:ext cx="7886700" cy="4824536"/>
          </a:xfrm>
        </p:spPr>
        <p:txBody>
          <a:bodyPr>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9" name="Groupe 8">
            <a:extLst>
              <a:ext uri="{FF2B5EF4-FFF2-40B4-BE49-F238E27FC236}">
                <a16:creationId xmlns:a16="http://schemas.microsoft.com/office/drawing/2014/main" id="{2C9D7D80-1F34-D449-9041-11A187B6C6A1}"/>
              </a:ext>
            </a:extLst>
          </p:cNvPr>
          <p:cNvGrpSpPr/>
          <p:nvPr userDrawn="1"/>
        </p:nvGrpSpPr>
        <p:grpSpPr>
          <a:xfrm rot="5400000">
            <a:off x="8396059" y="3725856"/>
            <a:ext cx="1008000" cy="0"/>
            <a:chOff x="-271761" y="1185342"/>
            <a:chExt cx="1881595" cy="0"/>
          </a:xfrm>
        </p:grpSpPr>
        <p:cxnSp>
          <p:nvCxnSpPr>
            <p:cNvPr id="7" name="Connecteur droit 6">
              <a:extLst>
                <a:ext uri="{FF2B5EF4-FFF2-40B4-BE49-F238E27FC236}">
                  <a16:creationId xmlns:a16="http://schemas.microsoft.com/office/drawing/2014/main" id="{E025ACA1-33BB-1242-9594-907030050DE5}"/>
                </a:ext>
              </a:extLst>
            </p:cNvPr>
            <p:cNvCxnSpPr>
              <a:cxnSpLocks/>
            </p:cNvCxnSpPr>
            <p:nvPr userDrawn="1"/>
          </p:nvCxnSpPr>
          <p:spPr>
            <a:xfrm>
              <a:off x="219036" y="1185342"/>
              <a:ext cx="900000" cy="0"/>
            </a:xfrm>
            <a:prstGeom prst="line">
              <a:avLst/>
            </a:prstGeom>
            <a:ln w="76200">
              <a:solidFill>
                <a:schemeClr val="accent4">
                  <a:lumMod val="20000"/>
                  <a:lumOff val="80000"/>
                </a:schemeClr>
              </a:solidFill>
            </a:ln>
          </p:spPr>
          <p:style>
            <a:lnRef idx="2">
              <a:schemeClr val="accent4"/>
            </a:lnRef>
            <a:fillRef idx="0">
              <a:schemeClr val="accent4"/>
            </a:fillRef>
            <a:effectRef idx="1">
              <a:schemeClr val="accent4"/>
            </a:effectRef>
            <a:fontRef idx="minor">
              <a:schemeClr val="tx1"/>
            </a:fontRef>
          </p:style>
        </p:cxnSp>
        <p:cxnSp>
          <p:nvCxnSpPr>
            <p:cNvPr id="8" name="Connecteur droit 7">
              <a:extLst>
                <a:ext uri="{FF2B5EF4-FFF2-40B4-BE49-F238E27FC236}">
                  <a16:creationId xmlns:a16="http://schemas.microsoft.com/office/drawing/2014/main" id="{E13D9203-3B21-0842-B97D-43543358B9A0}"/>
                </a:ext>
              </a:extLst>
            </p:cNvPr>
            <p:cNvCxnSpPr>
              <a:cxnSpLocks/>
            </p:cNvCxnSpPr>
            <p:nvPr userDrawn="1"/>
          </p:nvCxnSpPr>
          <p:spPr>
            <a:xfrm>
              <a:off x="-271761" y="1185342"/>
              <a:ext cx="1881595" cy="0"/>
            </a:xfrm>
            <a:prstGeom prst="line">
              <a:avLst/>
            </a:prstGeom>
            <a:ln/>
          </p:spPr>
          <p:style>
            <a:lnRef idx="2">
              <a:schemeClr val="accent4"/>
            </a:lnRef>
            <a:fillRef idx="0">
              <a:schemeClr val="accent4"/>
            </a:fillRef>
            <a:effectRef idx="1">
              <a:schemeClr val="accent4"/>
            </a:effectRef>
            <a:fontRef idx="minor">
              <a:schemeClr val="tx1"/>
            </a:fontRef>
          </p:style>
        </p:cxnSp>
      </p:grpSp>
      <p:sp>
        <p:nvSpPr>
          <p:cNvPr id="25" name="Slide Number Placeholder 5">
            <a:extLst>
              <a:ext uri="{FF2B5EF4-FFF2-40B4-BE49-F238E27FC236}">
                <a16:creationId xmlns:a16="http://schemas.microsoft.com/office/drawing/2014/main" id="{EA611DCC-74A2-4135-AFAA-706F66BD6E09}"/>
              </a:ext>
            </a:extLst>
          </p:cNvPr>
          <p:cNvSpPr>
            <a:spLocks noGrp="1"/>
          </p:cNvSpPr>
          <p:nvPr>
            <p:ph type="sldNum" sz="quarter" idx="12"/>
          </p:nvPr>
        </p:nvSpPr>
        <p:spPr>
          <a:xfrm>
            <a:off x="8533159" y="6429472"/>
            <a:ext cx="556591" cy="383904"/>
          </a:xfrm>
        </p:spPr>
        <p:txBody>
          <a:bodyPr/>
          <a:lstStyle/>
          <a:p>
            <a:fld id="{6C53AC0A-47EB-D843-AAE8-9061F973F010}" type="slidenum">
              <a:rPr lang="fr-FR" smtClean="0"/>
              <a:t>‹N°›</a:t>
            </a:fld>
            <a:endParaRPr lang="fr-FR"/>
          </a:p>
        </p:txBody>
      </p:sp>
    </p:spTree>
    <p:extLst>
      <p:ext uri="{BB962C8B-B14F-4D97-AF65-F5344CB8AC3E}">
        <p14:creationId xmlns:p14="http://schemas.microsoft.com/office/powerpoint/2010/main" val="4183715733"/>
      </p:ext>
    </p:extLst>
  </p:cSld>
  <p:clrMapOvr>
    <a:masterClrMapping/>
  </p:clrMapOvr>
  <p:extLst>
    <p:ext uri="{DCECCB84-F9BA-43D5-87BE-67443E8EF086}">
      <p15:sldGuideLst xmlns:p15="http://schemas.microsoft.com/office/powerpoint/2012/main">
        <p15:guide id="1" pos="385">
          <p15:clr>
            <a:srgbClr val="FBAE40"/>
          </p15:clr>
        </p15:guide>
        <p15:guide id="2" pos="537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vierge avec titre">
    <p:spTree>
      <p:nvGrpSpPr>
        <p:cNvPr id="1" name=""/>
        <p:cNvGrpSpPr/>
        <p:nvPr/>
      </p:nvGrpSpPr>
      <p:grpSpPr>
        <a:xfrm>
          <a:off x="0" y="0"/>
          <a:ext cx="0" cy="0"/>
          <a:chOff x="0" y="0"/>
          <a:chExt cx="0" cy="0"/>
        </a:xfrm>
      </p:grpSpPr>
      <p:sp>
        <p:nvSpPr>
          <p:cNvPr id="2" name="Title 1"/>
          <p:cNvSpPr>
            <a:spLocks noGrp="1"/>
          </p:cNvSpPr>
          <p:nvPr>
            <p:ph type="title"/>
          </p:nvPr>
        </p:nvSpPr>
        <p:spPr>
          <a:xfrm>
            <a:off x="924754" y="0"/>
            <a:ext cx="7886700" cy="854075"/>
          </a:xfrm>
        </p:spPr>
        <p:txBody>
          <a:bodyPr>
            <a:noAutofit/>
          </a:bodyPr>
          <a:lstStyle>
            <a:lvl1pPr>
              <a:defRPr/>
            </a:lvl1pPr>
          </a:lstStyle>
          <a:p>
            <a:endParaRPr lang="en-US" dirty="0"/>
          </a:p>
        </p:txBody>
      </p:sp>
      <p:sp>
        <p:nvSpPr>
          <p:cNvPr id="18" name="Slide Number Placeholder 5">
            <a:extLst>
              <a:ext uri="{FF2B5EF4-FFF2-40B4-BE49-F238E27FC236}">
                <a16:creationId xmlns:a16="http://schemas.microsoft.com/office/drawing/2014/main" id="{CE2B33AC-853D-4B27-9D63-D14CAC381D1C}"/>
              </a:ext>
            </a:extLst>
          </p:cNvPr>
          <p:cNvSpPr>
            <a:spLocks noGrp="1"/>
          </p:cNvSpPr>
          <p:nvPr>
            <p:ph type="sldNum" sz="quarter" idx="12"/>
          </p:nvPr>
        </p:nvSpPr>
        <p:spPr>
          <a:xfrm>
            <a:off x="8533159" y="6429472"/>
            <a:ext cx="556591" cy="383904"/>
          </a:xfrm>
        </p:spPr>
        <p:txBody>
          <a:bodyPr/>
          <a:lstStyle/>
          <a:p>
            <a:fld id="{6C53AC0A-47EB-D843-AAE8-9061F973F010}" type="slidenum">
              <a:rPr lang="fr-FR" smtClean="0"/>
              <a:t>‹N°›</a:t>
            </a:fld>
            <a:endParaRPr lang="fr-FR"/>
          </a:p>
        </p:txBody>
      </p:sp>
    </p:spTree>
    <p:extLst>
      <p:ext uri="{BB962C8B-B14F-4D97-AF65-F5344CB8AC3E}">
        <p14:creationId xmlns:p14="http://schemas.microsoft.com/office/powerpoint/2010/main" val="510494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Vierge">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42920199-0F26-47D4-81A3-F0EB915A27F3}"/>
              </a:ext>
            </a:extLst>
          </p:cNvPr>
          <p:cNvSpPr>
            <a:spLocks noGrp="1"/>
          </p:cNvSpPr>
          <p:nvPr>
            <p:ph type="sldNum" sz="quarter" idx="12"/>
          </p:nvPr>
        </p:nvSpPr>
        <p:spPr>
          <a:xfrm>
            <a:off x="8533159" y="6429472"/>
            <a:ext cx="556591" cy="383904"/>
          </a:xfrm>
        </p:spPr>
        <p:txBody>
          <a:bodyPr/>
          <a:lstStyle/>
          <a:p>
            <a:fld id="{6C53AC0A-47EB-D843-AAE8-9061F973F010}" type="slidenum">
              <a:rPr lang="fr-FR" smtClean="0"/>
              <a:t>‹N°›</a:t>
            </a:fld>
            <a:endParaRPr lang="fr-FR"/>
          </a:p>
        </p:txBody>
      </p:sp>
      <p:sp>
        <p:nvSpPr>
          <p:cNvPr id="7" name="Title 1">
            <a:extLst>
              <a:ext uri="{FF2B5EF4-FFF2-40B4-BE49-F238E27FC236}">
                <a16:creationId xmlns:a16="http://schemas.microsoft.com/office/drawing/2014/main" id="{A11D0D2D-C033-461C-B478-83DDC7A399FC}"/>
              </a:ext>
            </a:extLst>
          </p:cNvPr>
          <p:cNvSpPr>
            <a:spLocks noGrp="1"/>
          </p:cNvSpPr>
          <p:nvPr>
            <p:ph type="title"/>
          </p:nvPr>
        </p:nvSpPr>
        <p:spPr>
          <a:xfrm>
            <a:off x="924754" y="-10158"/>
            <a:ext cx="7886700" cy="854075"/>
          </a:xfrm>
        </p:spPr>
        <p:txBody>
          <a:bodyPr>
            <a:noAutofit/>
          </a:bodyPr>
          <a:lstStyle>
            <a:lvl1pPr>
              <a:defRPr/>
            </a:lvl1pPr>
          </a:lstStyle>
          <a:p>
            <a:endParaRPr lang="en-US" dirty="0"/>
          </a:p>
        </p:txBody>
      </p:sp>
    </p:spTree>
    <p:extLst>
      <p:ext uri="{BB962C8B-B14F-4D97-AF65-F5344CB8AC3E}">
        <p14:creationId xmlns:p14="http://schemas.microsoft.com/office/powerpoint/2010/main" val="3109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age de clo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66DB510-F097-DE43-ADD5-A5E58C0BF46C}"/>
              </a:ext>
            </a:extLst>
          </p:cNvPr>
          <p:cNvSpPr/>
          <p:nvPr userDrawn="1"/>
        </p:nvSpPr>
        <p:spPr>
          <a:xfrm>
            <a:off x="4572001" y="4063188"/>
            <a:ext cx="3974443" cy="1231106"/>
          </a:xfrm>
          <a:prstGeom prst="rect">
            <a:avLst/>
          </a:prstGeom>
        </p:spPr>
        <p:txBody>
          <a:bodyPr wrap="square" lIns="0" tIns="0" rIns="0" bIns="0">
            <a:spAutoFit/>
          </a:bodyPr>
          <a:lstStyle/>
          <a:p>
            <a:pPr algn="r"/>
            <a:r>
              <a:rPr lang="fr-FR" sz="1000" b="1" dirty="0"/>
              <a:t>CENTRE TECHNIQUE</a:t>
            </a:r>
            <a:br>
              <a:rPr lang="fr-FR" sz="1000" b="1" dirty="0"/>
            </a:br>
            <a:r>
              <a:rPr lang="fr-FR" sz="1000" b="1" dirty="0"/>
              <a:t>DES INSTITUTIONS DE PRÉVOYANCE</a:t>
            </a:r>
          </a:p>
          <a:p>
            <a:pPr algn="r"/>
            <a:endParaRPr lang="fr-FR" sz="900" dirty="0"/>
          </a:p>
          <a:p>
            <a:pPr algn="r"/>
            <a:r>
              <a:rPr lang="fr-FR" sz="900" dirty="0"/>
              <a:t>10, rue Cambacérès</a:t>
            </a:r>
            <a:br>
              <a:rPr lang="fr-FR" sz="900" dirty="0"/>
            </a:br>
            <a:r>
              <a:rPr lang="fr-FR" sz="900" dirty="0"/>
              <a:t>75008 Paris</a:t>
            </a:r>
          </a:p>
          <a:p>
            <a:pPr algn="r"/>
            <a:r>
              <a:rPr lang="fr-FR" sz="800" b="1" dirty="0">
                <a:solidFill>
                  <a:schemeClr val="accent2"/>
                </a:solidFill>
              </a:rPr>
              <a:t>-</a:t>
            </a:r>
          </a:p>
          <a:p>
            <a:pPr algn="r"/>
            <a:r>
              <a:rPr lang="fr-FR" sz="800" b="1" dirty="0"/>
              <a:t>01 42 66 68 49</a:t>
            </a:r>
          </a:p>
          <a:p>
            <a:pPr marL="0" marR="0" lvl="0" indent="0" algn="r" defTabSz="457200" rtl="0" eaLnBrk="1" fontAlgn="auto" latinLnBrk="0" hangingPunct="1">
              <a:lnSpc>
                <a:spcPct val="100000"/>
              </a:lnSpc>
              <a:spcBef>
                <a:spcPts val="0"/>
              </a:spcBef>
              <a:spcAft>
                <a:spcPts val="0"/>
              </a:spcAft>
              <a:buClrTx/>
              <a:buSzTx/>
              <a:buFontTx/>
              <a:buNone/>
              <a:tabLst/>
              <a:defRPr/>
            </a:pPr>
            <a:r>
              <a:rPr lang="fr-FR" sz="800" b="1" dirty="0">
                <a:solidFill>
                  <a:schemeClr val="accent2"/>
                </a:solidFill>
              </a:rPr>
              <a:t>-</a:t>
            </a:r>
            <a:endParaRPr lang="fr-FR" sz="800" b="1" dirty="0"/>
          </a:p>
          <a:p>
            <a:pPr algn="r"/>
            <a:r>
              <a:rPr lang="fr-FR" sz="900" u="none" dirty="0" err="1">
                <a:solidFill>
                  <a:schemeClr val="accent1"/>
                </a:solidFill>
              </a:rPr>
              <a:t>www.ctip.asso.fr</a:t>
            </a:r>
            <a:endParaRPr lang="fr-FR" sz="900" u="none" dirty="0">
              <a:solidFill>
                <a:schemeClr val="accent1"/>
              </a:solidFill>
            </a:endParaRPr>
          </a:p>
        </p:txBody>
      </p:sp>
      <p:grpSp>
        <p:nvGrpSpPr>
          <p:cNvPr id="21" name="Groupe 20">
            <a:extLst>
              <a:ext uri="{FF2B5EF4-FFF2-40B4-BE49-F238E27FC236}">
                <a16:creationId xmlns:a16="http://schemas.microsoft.com/office/drawing/2014/main" id="{A14EB3D1-9AD4-1B44-9611-F3FCD13B4CBE}"/>
              </a:ext>
            </a:extLst>
          </p:cNvPr>
          <p:cNvGrpSpPr/>
          <p:nvPr userDrawn="1"/>
        </p:nvGrpSpPr>
        <p:grpSpPr>
          <a:xfrm>
            <a:off x="611189" y="836712"/>
            <a:ext cx="2805081" cy="1800493"/>
            <a:chOff x="611188" y="627533"/>
            <a:chExt cx="2805081" cy="1350370"/>
          </a:xfrm>
        </p:grpSpPr>
        <p:sp>
          <p:nvSpPr>
            <p:cNvPr id="15" name="Rectangle 14">
              <a:extLst>
                <a:ext uri="{FF2B5EF4-FFF2-40B4-BE49-F238E27FC236}">
                  <a16:creationId xmlns:a16="http://schemas.microsoft.com/office/drawing/2014/main" id="{364D8078-AC14-6146-96B0-5686F3E5043A}"/>
                </a:ext>
              </a:extLst>
            </p:cNvPr>
            <p:cNvSpPr/>
            <p:nvPr userDrawn="1"/>
          </p:nvSpPr>
          <p:spPr>
            <a:xfrm>
              <a:off x="746068" y="627533"/>
              <a:ext cx="2670201" cy="1350370"/>
            </a:xfrm>
            <a:prstGeom prst="rect">
              <a:avLst/>
            </a:prstGeom>
          </p:spPr>
          <p:txBody>
            <a:bodyPr wrap="square">
              <a:spAutoFit/>
            </a:bodyPr>
            <a:lstStyle/>
            <a:p>
              <a:pPr algn="l">
                <a:spcAft>
                  <a:spcPts val="1800"/>
                </a:spcAft>
              </a:pPr>
              <a:r>
                <a:rPr lang="fr-FR" sz="1400" kern="1200" dirty="0">
                  <a:solidFill>
                    <a:schemeClr val="tx1"/>
                  </a:solidFill>
                  <a:latin typeface="+mn-lt"/>
                  <a:ea typeface="+mn-ea"/>
                  <a:cs typeface="+mn-cs"/>
                </a:rPr>
                <a:t>Le</a:t>
              </a:r>
              <a:r>
                <a:rPr lang="fr-FR" sz="1400" b="1" kern="1200" dirty="0">
                  <a:solidFill>
                    <a:schemeClr val="tx1"/>
                  </a:solidFill>
                  <a:latin typeface="+mn-lt"/>
                  <a:ea typeface="+mn-ea"/>
                  <a:cs typeface="+mn-cs"/>
                </a:rPr>
                <a:t> </a:t>
              </a:r>
              <a:r>
                <a:rPr lang="fr-FR" sz="1400" b="0" kern="1200" dirty="0">
                  <a:solidFill>
                    <a:schemeClr val="tx1"/>
                  </a:solidFill>
                  <a:latin typeface="+mn-lt"/>
                  <a:ea typeface="+mn-ea"/>
                  <a:cs typeface="+mn-cs"/>
                </a:rPr>
                <a:t>CTIP</a:t>
              </a:r>
              <a:r>
                <a:rPr lang="fr-FR" sz="1400" b="1" kern="1200" dirty="0">
                  <a:solidFill>
                    <a:schemeClr val="tx1"/>
                  </a:solidFill>
                  <a:latin typeface="+mn-lt"/>
                  <a:ea typeface="+mn-ea"/>
                  <a:cs typeface="+mn-cs"/>
                </a:rPr>
                <a:t> </a:t>
              </a:r>
              <a:r>
                <a:rPr lang="fr-FR" sz="1400" kern="1200" dirty="0">
                  <a:solidFill>
                    <a:schemeClr val="tx1"/>
                  </a:solidFill>
                  <a:latin typeface="+mn-lt"/>
                  <a:ea typeface="+mn-ea"/>
                  <a:cs typeface="+mn-cs"/>
                </a:rPr>
                <a:t>regroupe</a:t>
              </a:r>
            </a:p>
            <a:p>
              <a:pPr algn="l">
                <a:lnSpc>
                  <a:spcPct val="100000"/>
                </a:lnSpc>
                <a:spcAft>
                  <a:spcPts val="300"/>
                </a:spcAft>
              </a:pPr>
              <a:r>
                <a:rPr lang="fr-FR" sz="1600" b="1" kern="1200" dirty="0">
                  <a:solidFill>
                    <a:schemeClr val="accent1"/>
                  </a:solidFill>
                  <a:latin typeface="+mn-lt"/>
                  <a:ea typeface="+mn-ea"/>
                  <a:cs typeface="+mn-cs"/>
                </a:rPr>
                <a:t>39</a:t>
              </a:r>
              <a:r>
                <a:rPr lang="fr-FR" sz="1200" b="1" kern="1200" dirty="0">
                  <a:solidFill>
                    <a:schemeClr val="accent1"/>
                  </a:solidFill>
                  <a:latin typeface="+mn-lt"/>
                  <a:ea typeface="+mn-ea"/>
                  <a:cs typeface="+mn-cs"/>
                </a:rPr>
                <a:t> </a:t>
              </a:r>
              <a:r>
                <a:rPr lang="fr-FR" sz="1200" b="1" kern="1200" dirty="0">
                  <a:solidFill>
                    <a:schemeClr val="tx1"/>
                  </a:solidFill>
                  <a:latin typeface="+mn-lt"/>
                  <a:ea typeface="+mn-ea"/>
                  <a:cs typeface="+mn-cs"/>
                </a:rPr>
                <a:t>organismes de prévoyance</a:t>
              </a:r>
            </a:p>
            <a:p>
              <a:pPr algn="l">
                <a:lnSpc>
                  <a:spcPct val="100000"/>
                </a:lnSpc>
                <a:spcAft>
                  <a:spcPts val="300"/>
                </a:spcAft>
              </a:pPr>
              <a:r>
                <a:rPr lang="fr-FR" sz="1200" b="0" kern="1200" dirty="0">
                  <a:solidFill>
                    <a:schemeClr val="tx1"/>
                  </a:solidFill>
                  <a:latin typeface="+mn-lt"/>
                  <a:ea typeface="+mn-ea"/>
                  <a:cs typeface="+mn-cs"/>
                </a:rPr>
                <a:t>qui couvrent</a:t>
              </a:r>
            </a:p>
            <a:p>
              <a:pPr algn="l">
                <a:lnSpc>
                  <a:spcPct val="100000"/>
                </a:lnSpc>
                <a:spcAft>
                  <a:spcPts val="300"/>
                </a:spcAft>
              </a:pPr>
              <a:r>
                <a:rPr lang="fr-FR" sz="1600" b="1" kern="1200" dirty="0">
                  <a:solidFill>
                    <a:schemeClr val="accent1"/>
                  </a:solidFill>
                  <a:latin typeface="+mn-lt"/>
                  <a:ea typeface="+mn-ea"/>
                  <a:cs typeface="+mn-cs"/>
                </a:rPr>
                <a:t>13</a:t>
              </a:r>
              <a:r>
                <a:rPr lang="fr-FR" sz="1200" b="1" kern="1200" dirty="0">
                  <a:solidFill>
                    <a:schemeClr val="tx1"/>
                  </a:solidFill>
                  <a:latin typeface="+mn-lt"/>
                  <a:ea typeface="+mn-ea"/>
                  <a:cs typeface="+mn-cs"/>
                </a:rPr>
                <a:t> millions de salariés</a:t>
              </a:r>
            </a:p>
            <a:p>
              <a:pPr algn="l">
                <a:lnSpc>
                  <a:spcPct val="100000"/>
                </a:lnSpc>
                <a:spcAft>
                  <a:spcPts val="300"/>
                </a:spcAft>
              </a:pPr>
              <a:r>
                <a:rPr lang="fr-FR" sz="1200" b="0" kern="1200" dirty="0">
                  <a:solidFill>
                    <a:schemeClr val="tx1"/>
                  </a:solidFill>
                  <a:latin typeface="+mn-lt"/>
                  <a:ea typeface="+mn-ea"/>
                  <a:cs typeface="+mn-cs"/>
                </a:rPr>
                <a:t>à travers</a:t>
              </a:r>
            </a:p>
            <a:p>
              <a:pPr algn="l">
                <a:lnSpc>
                  <a:spcPct val="100000"/>
                </a:lnSpc>
                <a:spcAft>
                  <a:spcPts val="300"/>
                </a:spcAft>
              </a:pPr>
              <a:r>
                <a:rPr lang="fr-FR" sz="1600" b="1" kern="1200" dirty="0">
                  <a:solidFill>
                    <a:schemeClr val="accent1"/>
                  </a:solidFill>
                  <a:latin typeface="+mn-lt"/>
                  <a:ea typeface="+mn-ea"/>
                  <a:cs typeface="+mn-cs"/>
                </a:rPr>
                <a:t>2</a:t>
              </a:r>
              <a:r>
                <a:rPr lang="fr-FR" sz="1200" b="1" kern="1200" dirty="0">
                  <a:solidFill>
                    <a:schemeClr val="tx1"/>
                  </a:solidFill>
                  <a:latin typeface="+mn-lt"/>
                  <a:ea typeface="+mn-ea"/>
                  <a:cs typeface="+mn-cs"/>
                </a:rPr>
                <a:t> millions d’entreprises</a:t>
              </a:r>
            </a:p>
          </p:txBody>
        </p:sp>
        <p:cxnSp>
          <p:nvCxnSpPr>
            <p:cNvPr id="17" name="Connecteur droit 16">
              <a:extLst>
                <a:ext uri="{FF2B5EF4-FFF2-40B4-BE49-F238E27FC236}">
                  <a16:creationId xmlns:a16="http://schemas.microsoft.com/office/drawing/2014/main" id="{3B631C34-CBC5-484E-BC4F-58F484514B91}"/>
                </a:ext>
              </a:extLst>
            </p:cNvPr>
            <p:cNvCxnSpPr>
              <a:cxnSpLocks/>
            </p:cNvCxnSpPr>
            <p:nvPr userDrawn="1"/>
          </p:nvCxnSpPr>
          <p:spPr>
            <a:xfrm>
              <a:off x="746068" y="918339"/>
              <a:ext cx="450124" cy="0"/>
            </a:xfrm>
            <a:prstGeom prst="line">
              <a:avLst/>
            </a:prstGeom>
            <a:ln w="76200">
              <a:solidFill>
                <a:schemeClr val="accent3">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35B5984F-4A13-A445-A370-01D777D2C8BE}"/>
                </a:ext>
              </a:extLst>
            </p:cNvPr>
            <p:cNvCxnSpPr>
              <a:cxnSpLocks/>
            </p:cNvCxnSpPr>
            <p:nvPr userDrawn="1"/>
          </p:nvCxnSpPr>
          <p:spPr>
            <a:xfrm flipV="1">
              <a:off x="611188" y="910655"/>
              <a:ext cx="735772" cy="7143"/>
            </a:xfrm>
            <a:prstGeom prst="line">
              <a:avLst/>
            </a:prstGeom>
            <a:ln/>
          </p:spPr>
          <p:style>
            <a:lnRef idx="2">
              <a:schemeClr val="accent3"/>
            </a:lnRef>
            <a:fillRef idx="0">
              <a:schemeClr val="accent3"/>
            </a:fillRef>
            <a:effectRef idx="1">
              <a:schemeClr val="accent3"/>
            </a:effectRef>
            <a:fontRef idx="minor">
              <a:schemeClr val="tx1"/>
            </a:fontRef>
          </p:style>
        </p:cxnSp>
      </p:grpSp>
      <p:pic>
        <p:nvPicPr>
          <p:cNvPr id="3" name="Image 2">
            <a:extLst>
              <a:ext uri="{FF2B5EF4-FFF2-40B4-BE49-F238E27FC236}">
                <a16:creationId xmlns:a16="http://schemas.microsoft.com/office/drawing/2014/main" id="{206C8748-A3CD-B147-BD78-E2BCAC1C2D1A}"/>
              </a:ext>
            </a:extLst>
          </p:cNvPr>
          <p:cNvPicPr>
            <a:picLocks noChangeAspect="1"/>
          </p:cNvPicPr>
          <p:nvPr userDrawn="1"/>
        </p:nvPicPr>
        <p:blipFill>
          <a:blip r:embed="rId2" r:link="rId3"/>
          <a:srcRect/>
          <a:stretch>
            <a:fillRect/>
          </a:stretch>
        </p:blipFill>
        <p:spPr>
          <a:xfrm>
            <a:off x="6804248" y="2013000"/>
            <a:ext cx="1856232" cy="1563624"/>
          </a:xfrm>
          <a:prstGeom prst="rect">
            <a:avLst/>
          </a:prstGeom>
        </p:spPr>
      </p:pic>
    </p:spTree>
    <p:extLst>
      <p:ext uri="{BB962C8B-B14F-4D97-AF65-F5344CB8AC3E}">
        <p14:creationId xmlns:p14="http://schemas.microsoft.com/office/powerpoint/2010/main" val="1218453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ge de cloture + contact">
    <p:spTree>
      <p:nvGrpSpPr>
        <p:cNvPr id="1" name=""/>
        <p:cNvGrpSpPr/>
        <p:nvPr/>
      </p:nvGrpSpPr>
      <p:grpSpPr>
        <a:xfrm>
          <a:off x="0" y="0"/>
          <a:ext cx="0" cy="0"/>
          <a:chOff x="0" y="0"/>
          <a:chExt cx="0" cy="0"/>
        </a:xfrm>
      </p:grpSpPr>
    </p:spTree>
    <p:extLst>
      <p:ext uri="{BB962C8B-B14F-4D97-AF65-F5344CB8AC3E}">
        <p14:creationId xmlns:p14="http://schemas.microsoft.com/office/powerpoint/2010/main" val="97240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cxnSp>
        <p:nvCxnSpPr>
          <p:cNvPr id="27" name="Connecteur droit 26">
            <a:extLst>
              <a:ext uri="{FF2B5EF4-FFF2-40B4-BE49-F238E27FC236}">
                <a16:creationId xmlns:a16="http://schemas.microsoft.com/office/drawing/2014/main" id="{5867BC6B-B713-1F45-81AA-F3B070F0B208}"/>
              </a:ext>
            </a:extLst>
          </p:cNvPr>
          <p:cNvCxnSpPr>
            <a:cxnSpLocks/>
          </p:cNvCxnSpPr>
          <p:nvPr userDrawn="1"/>
        </p:nvCxnSpPr>
        <p:spPr>
          <a:xfrm>
            <a:off x="4122000" y="2926812"/>
            <a:ext cx="900000" cy="0"/>
          </a:xfrm>
          <a:prstGeom prst="line">
            <a:avLst/>
          </a:prstGeom>
          <a:ln w="76200">
            <a:solidFill>
              <a:schemeClr val="accent4">
                <a:lumMod val="20000"/>
                <a:lumOff val="80000"/>
              </a:schemeClr>
            </a:solidFill>
          </a:ln>
        </p:spPr>
        <p:style>
          <a:lnRef idx="2">
            <a:schemeClr val="accent4"/>
          </a:lnRef>
          <a:fillRef idx="0">
            <a:schemeClr val="accent4"/>
          </a:fillRef>
          <a:effectRef idx="1">
            <a:schemeClr val="accent4"/>
          </a:effectRef>
          <a:fontRef idx="minor">
            <a:schemeClr val="tx1"/>
          </a:fontRef>
        </p:style>
      </p:cxnSp>
      <p:sp>
        <p:nvSpPr>
          <p:cNvPr id="2" name="Title 1"/>
          <p:cNvSpPr>
            <a:spLocks noGrp="1"/>
          </p:cNvSpPr>
          <p:nvPr>
            <p:ph type="ctrTitle" hasCustomPrompt="1"/>
          </p:nvPr>
        </p:nvSpPr>
        <p:spPr>
          <a:xfrm>
            <a:off x="1143000" y="530551"/>
            <a:ext cx="6858000" cy="2128263"/>
          </a:xfrm>
        </p:spPr>
        <p:txBody>
          <a:bodyPr anchor="b">
            <a:noAutofit/>
          </a:bodyPr>
          <a:lstStyle>
            <a:lvl1pPr algn="ctr">
              <a:lnSpc>
                <a:spcPct val="125000"/>
              </a:lnSpc>
              <a:defRPr sz="2800" b="1" cap="all" baseline="0"/>
            </a:lvl1pPr>
          </a:lstStyle>
          <a:p>
            <a:r>
              <a:rPr lang="fr-FR" dirty="0"/>
              <a:t>MODIFIEZ LE STYLE DU TITRE</a:t>
            </a:r>
            <a:endParaRPr lang="en-US" dirty="0"/>
          </a:p>
        </p:txBody>
      </p:sp>
      <p:sp>
        <p:nvSpPr>
          <p:cNvPr id="3" name="Subtitle 2"/>
          <p:cNvSpPr>
            <a:spLocks noGrp="1"/>
          </p:cNvSpPr>
          <p:nvPr>
            <p:ph type="subTitle" idx="1" hasCustomPrompt="1"/>
          </p:nvPr>
        </p:nvSpPr>
        <p:spPr>
          <a:xfrm>
            <a:off x="1143000" y="3194813"/>
            <a:ext cx="6858000" cy="929185"/>
          </a:xfrm>
        </p:spPr>
        <p:txBody>
          <a:bodyPr/>
          <a:lstStyle>
            <a:lvl1pPr marL="0" indent="0" algn="ctr">
              <a:buNone/>
              <a:defRPr sz="1800" b="0">
                <a:solidFill>
                  <a:schemeClr val="accent3"/>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Modifiez le style </a:t>
            </a:r>
            <a:br>
              <a:rPr lang="fr-FR" dirty="0"/>
            </a:br>
            <a:r>
              <a:rPr lang="fr-FR" dirty="0"/>
              <a:t>des sous-titres du masque</a:t>
            </a:r>
            <a:endParaRPr lang="en-US" dirty="0"/>
          </a:p>
        </p:txBody>
      </p:sp>
      <p:cxnSp>
        <p:nvCxnSpPr>
          <p:cNvPr id="12" name="Connecteur droit 11">
            <a:extLst>
              <a:ext uri="{FF2B5EF4-FFF2-40B4-BE49-F238E27FC236}">
                <a16:creationId xmlns:a16="http://schemas.microsoft.com/office/drawing/2014/main" id="{5CE03181-BC59-B84E-8D51-30A72FD42DDF}"/>
              </a:ext>
            </a:extLst>
          </p:cNvPr>
          <p:cNvCxnSpPr>
            <a:cxnSpLocks/>
          </p:cNvCxnSpPr>
          <p:nvPr userDrawn="1"/>
        </p:nvCxnSpPr>
        <p:spPr>
          <a:xfrm>
            <a:off x="5512527" y="6126992"/>
            <a:ext cx="3370217"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15" name="Connecteur droit 14">
            <a:extLst>
              <a:ext uri="{FF2B5EF4-FFF2-40B4-BE49-F238E27FC236}">
                <a16:creationId xmlns:a16="http://schemas.microsoft.com/office/drawing/2014/main" id="{5F4AD0ED-9D10-8F43-A7F9-C3A9C4D6AA87}"/>
              </a:ext>
            </a:extLst>
          </p:cNvPr>
          <p:cNvCxnSpPr>
            <a:cxnSpLocks/>
          </p:cNvCxnSpPr>
          <p:nvPr userDrawn="1"/>
        </p:nvCxnSpPr>
        <p:spPr>
          <a:xfrm>
            <a:off x="628651" y="6123152"/>
            <a:ext cx="3002281"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4" name="Connecteur droit 23">
            <a:extLst>
              <a:ext uri="{FF2B5EF4-FFF2-40B4-BE49-F238E27FC236}">
                <a16:creationId xmlns:a16="http://schemas.microsoft.com/office/drawing/2014/main" id="{1A9EEB10-E3D7-9B4F-A79B-CD0202F25B18}"/>
              </a:ext>
            </a:extLst>
          </p:cNvPr>
          <p:cNvCxnSpPr>
            <a:cxnSpLocks/>
          </p:cNvCxnSpPr>
          <p:nvPr userDrawn="1"/>
        </p:nvCxnSpPr>
        <p:spPr>
          <a:xfrm>
            <a:off x="3631204" y="2926812"/>
            <a:ext cx="1881595" cy="0"/>
          </a:xfrm>
          <a:prstGeom prst="line">
            <a:avLst/>
          </a:prstGeom>
          <a:ln/>
        </p:spPr>
        <p:style>
          <a:lnRef idx="2">
            <a:schemeClr val="accent4"/>
          </a:lnRef>
          <a:fillRef idx="0">
            <a:schemeClr val="accent4"/>
          </a:fillRef>
          <a:effectRef idx="1">
            <a:schemeClr val="accent4"/>
          </a:effectRef>
          <a:fontRef idx="minor">
            <a:schemeClr val="tx1"/>
          </a:fontRef>
        </p:style>
      </p:cxnSp>
      <p:pic>
        <p:nvPicPr>
          <p:cNvPr id="4" name="Image 3">
            <a:extLst>
              <a:ext uri="{FF2B5EF4-FFF2-40B4-BE49-F238E27FC236}">
                <a16:creationId xmlns:a16="http://schemas.microsoft.com/office/drawing/2014/main" id="{69DE7274-5D65-1ED7-C162-39FBAEC7F0BB}"/>
              </a:ext>
            </a:extLst>
          </p:cNvPr>
          <p:cNvPicPr>
            <a:picLocks noChangeAspect="1"/>
          </p:cNvPicPr>
          <p:nvPr userDrawn="1"/>
        </p:nvPicPr>
        <p:blipFill>
          <a:blip r:embed="rId2" r:link="rId3"/>
          <a:srcRect/>
          <a:stretch>
            <a:fillRect/>
          </a:stretch>
        </p:blipFill>
        <p:spPr>
          <a:xfrm>
            <a:off x="3669849" y="4576386"/>
            <a:ext cx="1856232" cy="1563624"/>
          </a:xfrm>
          <a:prstGeom prst="rect">
            <a:avLst/>
          </a:prstGeom>
        </p:spPr>
      </p:pic>
    </p:spTree>
    <p:extLst>
      <p:ext uri="{BB962C8B-B14F-4D97-AF65-F5344CB8AC3E}">
        <p14:creationId xmlns:p14="http://schemas.microsoft.com/office/powerpoint/2010/main" val="2418022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e de titre + logos">
    <p:spTree>
      <p:nvGrpSpPr>
        <p:cNvPr id="1" name=""/>
        <p:cNvGrpSpPr/>
        <p:nvPr/>
      </p:nvGrpSpPr>
      <p:grpSpPr>
        <a:xfrm>
          <a:off x="0" y="0"/>
          <a:ext cx="0" cy="0"/>
          <a:chOff x="0" y="0"/>
          <a:chExt cx="0" cy="0"/>
        </a:xfrm>
      </p:grpSpPr>
      <p:cxnSp>
        <p:nvCxnSpPr>
          <p:cNvPr id="27" name="Connecteur droit 26">
            <a:extLst>
              <a:ext uri="{FF2B5EF4-FFF2-40B4-BE49-F238E27FC236}">
                <a16:creationId xmlns:a16="http://schemas.microsoft.com/office/drawing/2014/main" id="{5867BC6B-B713-1F45-81AA-F3B070F0B208}"/>
              </a:ext>
            </a:extLst>
          </p:cNvPr>
          <p:cNvCxnSpPr>
            <a:cxnSpLocks/>
          </p:cNvCxnSpPr>
          <p:nvPr userDrawn="1"/>
        </p:nvCxnSpPr>
        <p:spPr>
          <a:xfrm>
            <a:off x="1451505" y="3221388"/>
            <a:ext cx="818182" cy="0"/>
          </a:xfrm>
          <a:prstGeom prst="line">
            <a:avLst/>
          </a:prstGeom>
          <a:ln w="76200">
            <a:solidFill>
              <a:schemeClr val="accent4">
                <a:lumMod val="20000"/>
                <a:lumOff val="80000"/>
              </a:schemeClr>
            </a:solidFill>
          </a:ln>
        </p:spPr>
        <p:style>
          <a:lnRef idx="2">
            <a:schemeClr val="accent4"/>
          </a:lnRef>
          <a:fillRef idx="0">
            <a:schemeClr val="accent4"/>
          </a:fillRef>
          <a:effectRef idx="1">
            <a:schemeClr val="accent4"/>
          </a:effectRef>
          <a:fontRef idx="minor">
            <a:schemeClr val="tx1"/>
          </a:fontRef>
        </p:style>
      </p:cxnSp>
      <p:sp>
        <p:nvSpPr>
          <p:cNvPr id="2" name="Title 1"/>
          <p:cNvSpPr>
            <a:spLocks noGrp="1"/>
          </p:cNvSpPr>
          <p:nvPr>
            <p:ph type="ctrTitle" hasCustomPrompt="1"/>
          </p:nvPr>
        </p:nvSpPr>
        <p:spPr>
          <a:xfrm>
            <a:off x="1470991" y="825127"/>
            <a:ext cx="6530009" cy="2128263"/>
          </a:xfrm>
        </p:spPr>
        <p:txBody>
          <a:bodyPr anchor="b">
            <a:noAutofit/>
          </a:bodyPr>
          <a:lstStyle>
            <a:lvl1pPr algn="l">
              <a:lnSpc>
                <a:spcPct val="125000"/>
              </a:lnSpc>
              <a:defRPr sz="2800" b="1" cap="all" baseline="0"/>
            </a:lvl1pPr>
          </a:lstStyle>
          <a:p>
            <a:r>
              <a:rPr lang="fr-FR" dirty="0"/>
              <a:t>MODIFIEZ LE STYLE DU TITRE</a:t>
            </a:r>
            <a:endParaRPr lang="en-US" dirty="0"/>
          </a:p>
        </p:txBody>
      </p:sp>
      <p:sp>
        <p:nvSpPr>
          <p:cNvPr id="3" name="Subtitle 2"/>
          <p:cNvSpPr>
            <a:spLocks noGrp="1"/>
          </p:cNvSpPr>
          <p:nvPr>
            <p:ph type="subTitle" idx="1"/>
          </p:nvPr>
        </p:nvSpPr>
        <p:spPr>
          <a:xfrm>
            <a:off x="1470991" y="3489388"/>
            <a:ext cx="6530009" cy="1471176"/>
          </a:xfrm>
        </p:spPr>
        <p:txBody>
          <a:bodyPr/>
          <a:lstStyle>
            <a:lvl1pPr marL="0" indent="0" algn="l">
              <a:buNone/>
              <a:defRPr sz="1800" b="0">
                <a:solidFill>
                  <a:schemeClr val="accent3"/>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dirty="0"/>
              <a:t>Modifiez le style des sous-titres du masque</a:t>
            </a:r>
            <a:endParaRPr lang="en-US" dirty="0"/>
          </a:p>
        </p:txBody>
      </p:sp>
      <p:cxnSp>
        <p:nvCxnSpPr>
          <p:cNvPr id="15" name="Connecteur droit 14">
            <a:extLst>
              <a:ext uri="{FF2B5EF4-FFF2-40B4-BE49-F238E27FC236}">
                <a16:creationId xmlns:a16="http://schemas.microsoft.com/office/drawing/2014/main" id="{5F4AD0ED-9D10-8F43-A7F9-C3A9C4D6AA87}"/>
              </a:ext>
            </a:extLst>
          </p:cNvPr>
          <p:cNvCxnSpPr>
            <a:cxnSpLocks/>
          </p:cNvCxnSpPr>
          <p:nvPr userDrawn="1"/>
        </p:nvCxnSpPr>
        <p:spPr>
          <a:xfrm>
            <a:off x="628650" y="6123152"/>
            <a:ext cx="593648"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4" name="Connecteur droit 23">
            <a:extLst>
              <a:ext uri="{FF2B5EF4-FFF2-40B4-BE49-F238E27FC236}">
                <a16:creationId xmlns:a16="http://schemas.microsoft.com/office/drawing/2014/main" id="{1A9EEB10-E3D7-9B4F-A79B-CD0202F25B18}"/>
              </a:ext>
            </a:extLst>
          </p:cNvPr>
          <p:cNvCxnSpPr>
            <a:cxnSpLocks/>
          </p:cNvCxnSpPr>
          <p:nvPr userDrawn="1"/>
        </p:nvCxnSpPr>
        <p:spPr>
          <a:xfrm>
            <a:off x="1005325" y="3221388"/>
            <a:ext cx="1710542"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163521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age de clo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66DB510-F097-DE43-ADD5-A5E58C0BF46C}"/>
              </a:ext>
            </a:extLst>
          </p:cNvPr>
          <p:cNvSpPr/>
          <p:nvPr userDrawn="1"/>
        </p:nvSpPr>
        <p:spPr>
          <a:xfrm>
            <a:off x="4572001" y="4063188"/>
            <a:ext cx="3974443" cy="1231106"/>
          </a:xfrm>
          <a:prstGeom prst="rect">
            <a:avLst/>
          </a:prstGeom>
        </p:spPr>
        <p:txBody>
          <a:bodyPr wrap="square" lIns="0" tIns="0" rIns="0" bIns="0">
            <a:spAutoFit/>
          </a:bodyPr>
          <a:lstStyle/>
          <a:p>
            <a:pPr algn="r"/>
            <a:r>
              <a:rPr lang="fr-FR" sz="1000" b="1" dirty="0"/>
              <a:t>CENTRE TECHNIQUE</a:t>
            </a:r>
            <a:br>
              <a:rPr lang="fr-FR" sz="1000" b="1" dirty="0"/>
            </a:br>
            <a:r>
              <a:rPr lang="fr-FR" sz="1000" b="1" dirty="0"/>
              <a:t>DES INSTITUTIONS DE PRÉVOYANCE</a:t>
            </a:r>
          </a:p>
          <a:p>
            <a:pPr algn="r"/>
            <a:endParaRPr lang="fr-FR" sz="900" dirty="0"/>
          </a:p>
          <a:p>
            <a:pPr algn="r"/>
            <a:r>
              <a:rPr lang="fr-FR" sz="900" dirty="0"/>
              <a:t>10, rue Cambacérès</a:t>
            </a:r>
            <a:br>
              <a:rPr lang="fr-FR" sz="900" dirty="0"/>
            </a:br>
            <a:r>
              <a:rPr lang="fr-FR" sz="900" dirty="0"/>
              <a:t>75008 Paris</a:t>
            </a:r>
          </a:p>
          <a:p>
            <a:pPr algn="r"/>
            <a:r>
              <a:rPr lang="fr-FR" sz="800" b="1" dirty="0">
                <a:solidFill>
                  <a:schemeClr val="accent2"/>
                </a:solidFill>
              </a:rPr>
              <a:t>-</a:t>
            </a:r>
          </a:p>
          <a:p>
            <a:pPr algn="r"/>
            <a:r>
              <a:rPr lang="fr-FR" sz="800" b="1" dirty="0"/>
              <a:t>01 42 66 68 49</a:t>
            </a:r>
          </a:p>
          <a:p>
            <a:pPr marL="0" marR="0" lvl="0" indent="0" algn="r" defTabSz="457200" rtl="0" eaLnBrk="1" fontAlgn="auto" latinLnBrk="0" hangingPunct="1">
              <a:lnSpc>
                <a:spcPct val="100000"/>
              </a:lnSpc>
              <a:spcBef>
                <a:spcPts val="0"/>
              </a:spcBef>
              <a:spcAft>
                <a:spcPts val="0"/>
              </a:spcAft>
              <a:buClrTx/>
              <a:buSzTx/>
              <a:buFontTx/>
              <a:buNone/>
              <a:tabLst/>
              <a:defRPr/>
            </a:pPr>
            <a:r>
              <a:rPr lang="fr-FR" sz="800" b="1" dirty="0">
                <a:solidFill>
                  <a:schemeClr val="accent2"/>
                </a:solidFill>
              </a:rPr>
              <a:t>-</a:t>
            </a:r>
            <a:endParaRPr lang="fr-FR" sz="800" b="1" dirty="0"/>
          </a:p>
          <a:p>
            <a:pPr algn="r"/>
            <a:r>
              <a:rPr lang="fr-FR" sz="900" u="none" dirty="0" err="1">
                <a:solidFill>
                  <a:schemeClr val="accent1"/>
                </a:solidFill>
              </a:rPr>
              <a:t>www.ctip.asso.fr</a:t>
            </a:r>
            <a:endParaRPr lang="fr-FR" sz="900" u="none" dirty="0">
              <a:solidFill>
                <a:schemeClr val="accent1"/>
              </a:solidFill>
            </a:endParaRPr>
          </a:p>
        </p:txBody>
      </p:sp>
      <p:grpSp>
        <p:nvGrpSpPr>
          <p:cNvPr id="21" name="Groupe 20">
            <a:extLst>
              <a:ext uri="{FF2B5EF4-FFF2-40B4-BE49-F238E27FC236}">
                <a16:creationId xmlns:a16="http://schemas.microsoft.com/office/drawing/2014/main" id="{A14EB3D1-9AD4-1B44-9611-F3FCD13B4CBE}"/>
              </a:ext>
            </a:extLst>
          </p:cNvPr>
          <p:cNvGrpSpPr/>
          <p:nvPr userDrawn="1"/>
        </p:nvGrpSpPr>
        <p:grpSpPr>
          <a:xfrm>
            <a:off x="611189" y="836712"/>
            <a:ext cx="2805081" cy="1800493"/>
            <a:chOff x="611188" y="627533"/>
            <a:chExt cx="2805081" cy="1350370"/>
          </a:xfrm>
        </p:grpSpPr>
        <p:sp>
          <p:nvSpPr>
            <p:cNvPr id="15" name="Rectangle 14">
              <a:extLst>
                <a:ext uri="{FF2B5EF4-FFF2-40B4-BE49-F238E27FC236}">
                  <a16:creationId xmlns:a16="http://schemas.microsoft.com/office/drawing/2014/main" id="{364D8078-AC14-6146-96B0-5686F3E5043A}"/>
                </a:ext>
              </a:extLst>
            </p:cNvPr>
            <p:cNvSpPr/>
            <p:nvPr userDrawn="1"/>
          </p:nvSpPr>
          <p:spPr>
            <a:xfrm>
              <a:off x="746068" y="627533"/>
              <a:ext cx="2670201" cy="1350370"/>
            </a:xfrm>
            <a:prstGeom prst="rect">
              <a:avLst/>
            </a:prstGeom>
          </p:spPr>
          <p:txBody>
            <a:bodyPr wrap="square">
              <a:spAutoFit/>
            </a:bodyPr>
            <a:lstStyle/>
            <a:p>
              <a:pPr algn="l">
                <a:spcAft>
                  <a:spcPts val="1800"/>
                </a:spcAft>
              </a:pPr>
              <a:r>
                <a:rPr lang="fr-FR" sz="1400" kern="1200" dirty="0">
                  <a:solidFill>
                    <a:schemeClr val="tx1"/>
                  </a:solidFill>
                  <a:latin typeface="+mn-lt"/>
                  <a:ea typeface="+mn-ea"/>
                  <a:cs typeface="+mn-cs"/>
                </a:rPr>
                <a:t>Le</a:t>
              </a:r>
              <a:r>
                <a:rPr lang="fr-FR" sz="1400" b="1" kern="1200" dirty="0">
                  <a:solidFill>
                    <a:schemeClr val="tx1"/>
                  </a:solidFill>
                  <a:latin typeface="+mn-lt"/>
                  <a:ea typeface="+mn-ea"/>
                  <a:cs typeface="+mn-cs"/>
                </a:rPr>
                <a:t> </a:t>
              </a:r>
              <a:r>
                <a:rPr lang="fr-FR" sz="1400" b="0" kern="1200" dirty="0">
                  <a:solidFill>
                    <a:schemeClr val="tx1"/>
                  </a:solidFill>
                  <a:latin typeface="+mn-lt"/>
                  <a:ea typeface="+mn-ea"/>
                  <a:cs typeface="+mn-cs"/>
                </a:rPr>
                <a:t>CTIP</a:t>
              </a:r>
              <a:r>
                <a:rPr lang="fr-FR" sz="1400" b="1" kern="1200" dirty="0">
                  <a:solidFill>
                    <a:schemeClr val="tx1"/>
                  </a:solidFill>
                  <a:latin typeface="+mn-lt"/>
                  <a:ea typeface="+mn-ea"/>
                  <a:cs typeface="+mn-cs"/>
                </a:rPr>
                <a:t> </a:t>
              </a:r>
              <a:r>
                <a:rPr lang="fr-FR" sz="1400" kern="1200" dirty="0">
                  <a:solidFill>
                    <a:schemeClr val="tx1"/>
                  </a:solidFill>
                  <a:latin typeface="+mn-lt"/>
                  <a:ea typeface="+mn-ea"/>
                  <a:cs typeface="+mn-cs"/>
                </a:rPr>
                <a:t>regroupe</a:t>
              </a:r>
            </a:p>
            <a:p>
              <a:pPr algn="l">
                <a:lnSpc>
                  <a:spcPct val="100000"/>
                </a:lnSpc>
                <a:spcAft>
                  <a:spcPts val="300"/>
                </a:spcAft>
              </a:pPr>
              <a:r>
                <a:rPr lang="fr-FR" sz="1600" b="1" kern="1200" dirty="0">
                  <a:solidFill>
                    <a:schemeClr val="accent1"/>
                  </a:solidFill>
                  <a:latin typeface="+mn-lt"/>
                  <a:ea typeface="+mn-ea"/>
                  <a:cs typeface="+mn-cs"/>
                </a:rPr>
                <a:t>39</a:t>
              </a:r>
              <a:r>
                <a:rPr lang="fr-FR" sz="1200" b="1" kern="1200" dirty="0">
                  <a:solidFill>
                    <a:schemeClr val="accent1"/>
                  </a:solidFill>
                  <a:latin typeface="+mn-lt"/>
                  <a:ea typeface="+mn-ea"/>
                  <a:cs typeface="+mn-cs"/>
                </a:rPr>
                <a:t> </a:t>
              </a:r>
              <a:r>
                <a:rPr lang="fr-FR" sz="1200" b="1" kern="1200" dirty="0">
                  <a:solidFill>
                    <a:schemeClr val="tx1"/>
                  </a:solidFill>
                  <a:latin typeface="+mn-lt"/>
                  <a:ea typeface="+mn-ea"/>
                  <a:cs typeface="+mn-cs"/>
                </a:rPr>
                <a:t>organismes de prévoyance</a:t>
              </a:r>
            </a:p>
            <a:p>
              <a:pPr algn="l">
                <a:lnSpc>
                  <a:spcPct val="100000"/>
                </a:lnSpc>
                <a:spcAft>
                  <a:spcPts val="300"/>
                </a:spcAft>
              </a:pPr>
              <a:r>
                <a:rPr lang="fr-FR" sz="1200" b="0" kern="1200" dirty="0">
                  <a:solidFill>
                    <a:schemeClr val="tx1"/>
                  </a:solidFill>
                  <a:latin typeface="+mn-lt"/>
                  <a:ea typeface="+mn-ea"/>
                  <a:cs typeface="+mn-cs"/>
                </a:rPr>
                <a:t>qui couvrent</a:t>
              </a:r>
            </a:p>
            <a:p>
              <a:pPr algn="l">
                <a:lnSpc>
                  <a:spcPct val="100000"/>
                </a:lnSpc>
                <a:spcAft>
                  <a:spcPts val="300"/>
                </a:spcAft>
              </a:pPr>
              <a:r>
                <a:rPr lang="fr-FR" sz="1600" b="1" kern="1200" dirty="0">
                  <a:solidFill>
                    <a:schemeClr val="accent1"/>
                  </a:solidFill>
                  <a:latin typeface="+mn-lt"/>
                  <a:ea typeface="+mn-ea"/>
                  <a:cs typeface="+mn-cs"/>
                </a:rPr>
                <a:t>13</a:t>
              </a:r>
              <a:r>
                <a:rPr lang="fr-FR" sz="1200" b="1" kern="1200" dirty="0">
                  <a:solidFill>
                    <a:schemeClr val="tx1"/>
                  </a:solidFill>
                  <a:latin typeface="+mn-lt"/>
                  <a:ea typeface="+mn-ea"/>
                  <a:cs typeface="+mn-cs"/>
                </a:rPr>
                <a:t> millions de salariés</a:t>
              </a:r>
            </a:p>
            <a:p>
              <a:pPr algn="l">
                <a:lnSpc>
                  <a:spcPct val="100000"/>
                </a:lnSpc>
                <a:spcAft>
                  <a:spcPts val="300"/>
                </a:spcAft>
              </a:pPr>
              <a:r>
                <a:rPr lang="fr-FR" sz="1200" b="0" kern="1200" dirty="0">
                  <a:solidFill>
                    <a:schemeClr val="tx1"/>
                  </a:solidFill>
                  <a:latin typeface="+mn-lt"/>
                  <a:ea typeface="+mn-ea"/>
                  <a:cs typeface="+mn-cs"/>
                </a:rPr>
                <a:t>à travers</a:t>
              </a:r>
            </a:p>
            <a:p>
              <a:pPr algn="l">
                <a:lnSpc>
                  <a:spcPct val="100000"/>
                </a:lnSpc>
                <a:spcAft>
                  <a:spcPts val="300"/>
                </a:spcAft>
              </a:pPr>
              <a:r>
                <a:rPr lang="fr-FR" sz="1600" b="1" kern="1200" dirty="0">
                  <a:solidFill>
                    <a:schemeClr val="accent1"/>
                  </a:solidFill>
                  <a:latin typeface="+mn-lt"/>
                  <a:ea typeface="+mn-ea"/>
                  <a:cs typeface="+mn-cs"/>
                </a:rPr>
                <a:t>2</a:t>
              </a:r>
              <a:r>
                <a:rPr lang="fr-FR" sz="1200" b="1" kern="1200" dirty="0">
                  <a:solidFill>
                    <a:schemeClr val="tx1"/>
                  </a:solidFill>
                  <a:latin typeface="+mn-lt"/>
                  <a:ea typeface="+mn-ea"/>
                  <a:cs typeface="+mn-cs"/>
                </a:rPr>
                <a:t> millions d’entreprises</a:t>
              </a:r>
            </a:p>
          </p:txBody>
        </p:sp>
        <p:cxnSp>
          <p:nvCxnSpPr>
            <p:cNvPr id="17" name="Connecteur droit 16">
              <a:extLst>
                <a:ext uri="{FF2B5EF4-FFF2-40B4-BE49-F238E27FC236}">
                  <a16:creationId xmlns:a16="http://schemas.microsoft.com/office/drawing/2014/main" id="{3B631C34-CBC5-484E-BC4F-58F484514B91}"/>
                </a:ext>
              </a:extLst>
            </p:cNvPr>
            <p:cNvCxnSpPr>
              <a:cxnSpLocks/>
            </p:cNvCxnSpPr>
            <p:nvPr userDrawn="1"/>
          </p:nvCxnSpPr>
          <p:spPr>
            <a:xfrm>
              <a:off x="746068" y="918339"/>
              <a:ext cx="450124" cy="0"/>
            </a:xfrm>
            <a:prstGeom prst="line">
              <a:avLst/>
            </a:prstGeom>
            <a:ln w="76200">
              <a:solidFill>
                <a:schemeClr val="accent3">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35B5984F-4A13-A445-A370-01D777D2C8BE}"/>
                </a:ext>
              </a:extLst>
            </p:cNvPr>
            <p:cNvCxnSpPr>
              <a:cxnSpLocks/>
            </p:cNvCxnSpPr>
            <p:nvPr userDrawn="1"/>
          </p:nvCxnSpPr>
          <p:spPr>
            <a:xfrm flipV="1">
              <a:off x="611188" y="910655"/>
              <a:ext cx="735772" cy="7143"/>
            </a:xfrm>
            <a:prstGeom prst="line">
              <a:avLst/>
            </a:prstGeom>
            <a:ln/>
          </p:spPr>
          <p:style>
            <a:lnRef idx="2">
              <a:schemeClr val="accent3"/>
            </a:lnRef>
            <a:fillRef idx="0">
              <a:schemeClr val="accent3"/>
            </a:fillRef>
            <a:effectRef idx="1">
              <a:schemeClr val="accent3"/>
            </a:effectRef>
            <a:fontRef idx="minor">
              <a:schemeClr val="tx1"/>
            </a:fontRef>
          </p:style>
        </p:cxnSp>
      </p:grpSp>
      <p:pic>
        <p:nvPicPr>
          <p:cNvPr id="2" name="Image 1">
            <a:extLst>
              <a:ext uri="{FF2B5EF4-FFF2-40B4-BE49-F238E27FC236}">
                <a16:creationId xmlns:a16="http://schemas.microsoft.com/office/drawing/2014/main" id="{ECF282D4-DD34-699D-065A-DE38B1193EA6}"/>
              </a:ext>
            </a:extLst>
          </p:cNvPr>
          <p:cNvPicPr>
            <a:picLocks noChangeAspect="1"/>
          </p:cNvPicPr>
          <p:nvPr userDrawn="1"/>
        </p:nvPicPr>
        <p:blipFill>
          <a:blip r:embed="rId2" r:link="rId3"/>
          <a:srcRect/>
          <a:stretch>
            <a:fillRect/>
          </a:stretch>
        </p:blipFill>
        <p:spPr>
          <a:xfrm>
            <a:off x="6804248" y="2132856"/>
            <a:ext cx="1856232" cy="1563624"/>
          </a:xfrm>
          <a:prstGeom prst="rect">
            <a:avLst/>
          </a:prstGeom>
        </p:spPr>
      </p:pic>
    </p:spTree>
    <p:extLst>
      <p:ext uri="{BB962C8B-B14F-4D97-AF65-F5344CB8AC3E}">
        <p14:creationId xmlns:p14="http://schemas.microsoft.com/office/powerpoint/2010/main" val="3657666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ge de cloture + contac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66DB510-F097-DE43-ADD5-A5E58C0BF46C}"/>
              </a:ext>
            </a:extLst>
          </p:cNvPr>
          <p:cNvSpPr/>
          <p:nvPr userDrawn="1"/>
        </p:nvSpPr>
        <p:spPr>
          <a:xfrm>
            <a:off x="2584780" y="5144851"/>
            <a:ext cx="3974443" cy="584775"/>
          </a:xfrm>
          <a:prstGeom prst="rect">
            <a:avLst/>
          </a:prstGeom>
        </p:spPr>
        <p:txBody>
          <a:bodyPr wrap="square" lIns="0" tIns="0" rIns="0" bIns="0">
            <a:spAutoFit/>
          </a:bodyPr>
          <a:lstStyle/>
          <a:p>
            <a:pPr algn="ctr"/>
            <a:r>
              <a:rPr lang="fr-FR" sz="1000" b="1" dirty="0"/>
              <a:t>CENTRE TECHNIQUE</a:t>
            </a:r>
            <a:br>
              <a:rPr lang="fr-FR" sz="1000" b="1" dirty="0"/>
            </a:br>
            <a:r>
              <a:rPr lang="fr-FR" sz="1000" b="1" dirty="0"/>
              <a:t>DES INSTITUTIONS DE PRÉVOYANCE</a:t>
            </a:r>
          </a:p>
          <a:p>
            <a:pPr algn="ctr"/>
            <a:endParaRPr lang="fr-FR" sz="900" dirty="0"/>
          </a:p>
          <a:p>
            <a:pPr algn="ctr"/>
            <a:r>
              <a:rPr lang="fr-FR" sz="900" dirty="0"/>
              <a:t>10, rue Cambacérès • 75008 Paris </a:t>
            </a:r>
            <a:r>
              <a:rPr lang="fr-FR" sz="800" b="1" dirty="0">
                <a:solidFill>
                  <a:schemeClr val="accent2"/>
                </a:solidFill>
              </a:rPr>
              <a:t>- </a:t>
            </a:r>
            <a:r>
              <a:rPr lang="fr-FR" sz="800" b="1" dirty="0"/>
              <a:t>01 42 66 68 49 </a:t>
            </a:r>
            <a:r>
              <a:rPr lang="fr-FR" sz="800" b="1" dirty="0">
                <a:solidFill>
                  <a:schemeClr val="accent2"/>
                </a:solidFill>
              </a:rPr>
              <a:t>-</a:t>
            </a:r>
            <a:r>
              <a:rPr lang="fr-FR" sz="800" b="1" u="none" dirty="0">
                <a:solidFill>
                  <a:schemeClr val="tx1"/>
                </a:solidFill>
              </a:rPr>
              <a:t> </a:t>
            </a:r>
            <a:r>
              <a:rPr lang="fr-FR" sz="900" u="none" dirty="0" err="1">
                <a:solidFill>
                  <a:schemeClr val="accent1"/>
                </a:solidFill>
              </a:rPr>
              <a:t>www.ctip.asso.fr</a:t>
            </a:r>
            <a:endParaRPr lang="fr-FR" sz="900" u="none" dirty="0">
              <a:solidFill>
                <a:schemeClr val="accent1"/>
              </a:solidFill>
            </a:endParaRPr>
          </a:p>
        </p:txBody>
      </p:sp>
    </p:spTree>
    <p:extLst>
      <p:ext uri="{BB962C8B-B14F-4D97-AF65-F5344CB8AC3E}">
        <p14:creationId xmlns:p14="http://schemas.microsoft.com/office/powerpoint/2010/main" val="1682655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075ADD08-B6A7-4140-B75E-2CCB665BCEFB}"/>
              </a:ext>
            </a:extLst>
          </p:cNvPr>
          <p:cNvCxnSpPr>
            <a:cxnSpLocks/>
          </p:cNvCxnSpPr>
          <p:nvPr userDrawn="1"/>
        </p:nvCxnSpPr>
        <p:spPr>
          <a:xfrm flipV="1">
            <a:off x="8535877" y="6126991"/>
            <a:ext cx="0" cy="375411"/>
          </a:xfrm>
          <a:prstGeom prst="line">
            <a:avLst/>
          </a:prstGeom>
          <a:ln/>
        </p:spPr>
        <p:style>
          <a:lnRef idx="2">
            <a:schemeClr val="dk1"/>
          </a:lnRef>
          <a:fillRef idx="0">
            <a:schemeClr val="dk1"/>
          </a:fillRef>
          <a:effectRef idx="1">
            <a:schemeClr val="dk1"/>
          </a:effectRef>
          <a:fontRef idx="minor">
            <a:schemeClr val="tx1"/>
          </a:fontRef>
        </p:style>
      </p:cxnSp>
      <p:sp>
        <p:nvSpPr>
          <p:cNvPr id="2" name="Title Placeholder 1"/>
          <p:cNvSpPr>
            <a:spLocks noGrp="1"/>
          </p:cNvSpPr>
          <p:nvPr>
            <p:ph type="title"/>
          </p:nvPr>
        </p:nvSpPr>
        <p:spPr>
          <a:xfrm>
            <a:off x="845972" y="1"/>
            <a:ext cx="7669378" cy="788804"/>
          </a:xfrm>
          <a:prstGeom prst="rect">
            <a:avLst/>
          </a:prstGeom>
        </p:spPr>
        <p:txBody>
          <a:bodyPr vert="horz" lIns="180000" tIns="180000" rIns="0" bIns="0" rtlCol="0" anchor="t" anchorCtr="0">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908726"/>
            <a:ext cx="7886700" cy="5112562"/>
          </a:xfrm>
          <a:prstGeom prst="rect">
            <a:avLst/>
          </a:prstGeom>
        </p:spPr>
        <p:txBody>
          <a:bodyPr vert="horz" lIns="180000" tIns="0" rIns="0" bIns="180000" rtlCol="0">
            <a:no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Footer Placeholder 4"/>
          <p:cNvSpPr>
            <a:spLocks noGrp="1"/>
          </p:cNvSpPr>
          <p:nvPr>
            <p:ph type="ftr" sz="quarter" idx="3"/>
          </p:nvPr>
        </p:nvSpPr>
        <p:spPr>
          <a:xfrm>
            <a:off x="5148064" y="6145772"/>
            <a:ext cx="3373085" cy="351935"/>
          </a:xfrm>
          <a:prstGeom prst="rect">
            <a:avLst/>
          </a:prstGeom>
        </p:spPr>
        <p:txBody>
          <a:bodyPr vert="horz" lIns="91440" tIns="45720" rIns="91440" bIns="45720" rtlCol="0" anchor="ctr"/>
          <a:lstStyle>
            <a:lvl1pPr algn="r">
              <a:defRPr sz="1200" b="0" i="0">
                <a:solidFill>
                  <a:schemeClr val="accent6">
                    <a:lumMod val="50000"/>
                  </a:schemeClr>
                </a:solidFill>
                <a:latin typeface="Arial" panose="020B0604020202020204" pitchFamily="34" charset="0"/>
              </a:defRPr>
            </a:lvl1pPr>
          </a:lstStyle>
          <a:p>
            <a:r>
              <a:rPr lang="fr-FR"/>
              <a:t>GT-IP PASRAU</a:t>
            </a:r>
            <a:endParaRPr lang="fr-FR" dirty="0"/>
          </a:p>
        </p:txBody>
      </p:sp>
      <p:sp>
        <p:nvSpPr>
          <p:cNvPr id="6" name="Slide Number Placeholder 5"/>
          <p:cNvSpPr>
            <a:spLocks noGrp="1"/>
          </p:cNvSpPr>
          <p:nvPr>
            <p:ph type="sldNum" sz="quarter" idx="4"/>
          </p:nvPr>
        </p:nvSpPr>
        <p:spPr>
          <a:xfrm>
            <a:off x="8533159" y="6126991"/>
            <a:ext cx="556591" cy="383904"/>
          </a:xfrm>
          <a:prstGeom prst="rect">
            <a:avLst/>
          </a:prstGeom>
        </p:spPr>
        <p:txBody>
          <a:bodyPr vert="horz" lIns="91440" tIns="45720" rIns="91440" bIns="45720" rtlCol="0" anchor="ctr"/>
          <a:lstStyle>
            <a:lvl1pPr algn="ctr">
              <a:defRPr sz="1200" b="1" i="0">
                <a:solidFill>
                  <a:schemeClr val="tx1"/>
                </a:solidFill>
                <a:latin typeface="Arial" panose="020B0604020202020204" pitchFamily="34" charset="0"/>
              </a:defRPr>
            </a:lvl1pPr>
          </a:lstStyle>
          <a:p>
            <a:fld id="{6C53AC0A-47EB-D843-AAE8-9061F973F010}" type="slidenum">
              <a:rPr lang="fr-FR" smtClean="0"/>
              <a:pPr/>
              <a:t>‹N°›</a:t>
            </a:fld>
            <a:endParaRPr lang="fr-FR" dirty="0"/>
          </a:p>
        </p:txBody>
      </p:sp>
      <p:cxnSp>
        <p:nvCxnSpPr>
          <p:cNvPr id="7" name="Connecteur droit 6">
            <a:extLst>
              <a:ext uri="{FF2B5EF4-FFF2-40B4-BE49-F238E27FC236}">
                <a16:creationId xmlns:a16="http://schemas.microsoft.com/office/drawing/2014/main" id="{F10AEABC-3B30-AD49-9038-30D2B03464B2}"/>
              </a:ext>
            </a:extLst>
          </p:cNvPr>
          <p:cNvCxnSpPr>
            <a:cxnSpLocks/>
          </p:cNvCxnSpPr>
          <p:nvPr userDrawn="1"/>
        </p:nvCxnSpPr>
        <p:spPr>
          <a:xfrm>
            <a:off x="8305098" y="6126992"/>
            <a:ext cx="450124" cy="0"/>
          </a:xfrm>
          <a:prstGeom prst="line">
            <a:avLst/>
          </a:prstGeom>
          <a:ln w="76200">
            <a:solidFill>
              <a:schemeClr val="accent2">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41A4A87E-28D2-4546-9A51-0C87BE286C98}"/>
              </a:ext>
            </a:extLst>
          </p:cNvPr>
          <p:cNvCxnSpPr>
            <a:cxnSpLocks/>
          </p:cNvCxnSpPr>
          <p:nvPr userDrawn="1"/>
        </p:nvCxnSpPr>
        <p:spPr>
          <a:xfrm flipV="1">
            <a:off x="8305098" y="6126992"/>
            <a:ext cx="838902" cy="4696"/>
          </a:xfrm>
          <a:prstGeom prst="line">
            <a:avLst/>
          </a:prstGeom>
          <a:ln/>
        </p:spPr>
        <p:style>
          <a:lnRef idx="2">
            <a:schemeClr val="accent2"/>
          </a:lnRef>
          <a:fillRef idx="0">
            <a:schemeClr val="accent2"/>
          </a:fillRef>
          <a:effectRef idx="1">
            <a:schemeClr val="accent2"/>
          </a:effectRef>
          <a:fontRef idx="minor">
            <a:schemeClr val="tx1"/>
          </a:fontRef>
        </p:style>
      </p:cxnSp>
      <p:grpSp>
        <p:nvGrpSpPr>
          <p:cNvPr id="20" name="Groupe 19">
            <a:extLst>
              <a:ext uri="{FF2B5EF4-FFF2-40B4-BE49-F238E27FC236}">
                <a16:creationId xmlns:a16="http://schemas.microsoft.com/office/drawing/2014/main" id="{D3BC8A8D-E851-A741-BFA6-912A9C2624F3}"/>
              </a:ext>
            </a:extLst>
          </p:cNvPr>
          <p:cNvGrpSpPr/>
          <p:nvPr userDrawn="1"/>
        </p:nvGrpSpPr>
        <p:grpSpPr>
          <a:xfrm>
            <a:off x="1" y="355602"/>
            <a:ext cx="835829" cy="375409"/>
            <a:chOff x="8048546" y="4747644"/>
            <a:chExt cx="835829" cy="281557"/>
          </a:xfrm>
        </p:grpSpPr>
        <p:cxnSp>
          <p:nvCxnSpPr>
            <p:cNvPr id="19" name="Connecteur droit 18">
              <a:extLst>
                <a:ext uri="{FF2B5EF4-FFF2-40B4-BE49-F238E27FC236}">
                  <a16:creationId xmlns:a16="http://schemas.microsoft.com/office/drawing/2014/main" id="{6A4F907D-D8A3-EE45-A982-49AECD8BE02B}"/>
                </a:ext>
              </a:extLst>
            </p:cNvPr>
            <p:cNvCxnSpPr>
              <a:cxnSpLocks/>
            </p:cNvCxnSpPr>
            <p:nvPr userDrawn="1"/>
          </p:nvCxnSpPr>
          <p:spPr>
            <a:xfrm flipV="1">
              <a:off x="8665030" y="4747644"/>
              <a:ext cx="0" cy="281557"/>
            </a:xfrm>
            <a:prstGeom prst="line">
              <a:avLst/>
            </a:prstGeom>
            <a:ln/>
          </p:spPr>
          <p:style>
            <a:lnRef idx="2">
              <a:schemeClr val="dk1"/>
            </a:lnRef>
            <a:fillRef idx="0">
              <a:schemeClr val="dk1"/>
            </a:fillRef>
            <a:effectRef idx="1">
              <a:schemeClr val="dk1"/>
            </a:effectRef>
            <a:fontRef idx="minor">
              <a:schemeClr val="tx1"/>
            </a:fontRef>
          </p:style>
        </p:cxnSp>
        <p:cxnSp>
          <p:nvCxnSpPr>
            <p:cNvPr id="17" name="Connecteur droit 16">
              <a:extLst>
                <a:ext uri="{FF2B5EF4-FFF2-40B4-BE49-F238E27FC236}">
                  <a16:creationId xmlns:a16="http://schemas.microsoft.com/office/drawing/2014/main" id="{78491DDA-7025-4C4E-BB3F-690670416DDD}"/>
                </a:ext>
              </a:extLst>
            </p:cNvPr>
            <p:cNvCxnSpPr>
              <a:cxnSpLocks/>
            </p:cNvCxnSpPr>
            <p:nvPr userDrawn="1"/>
          </p:nvCxnSpPr>
          <p:spPr>
            <a:xfrm>
              <a:off x="8434251" y="4747644"/>
              <a:ext cx="450124" cy="0"/>
            </a:xfrm>
            <a:prstGeom prst="line">
              <a:avLst/>
            </a:prstGeom>
            <a:ln w="76200">
              <a:solidFill>
                <a:schemeClr val="accent2">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372341AE-26D4-0B47-B5CD-F54DD529DAC2}"/>
                </a:ext>
              </a:extLst>
            </p:cNvPr>
            <p:cNvCxnSpPr>
              <a:cxnSpLocks/>
            </p:cNvCxnSpPr>
            <p:nvPr userDrawn="1"/>
          </p:nvCxnSpPr>
          <p:spPr>
            <a:xfrm>
              <a:off x="8048546" y="4747645"/>
              <a:ext cx="835829" cy="0"/>
            </a:xfrm>
            <a:prstGeom prst="line">
              <a:avLst/>
            </a:prstGeom>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135225976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3" r:id="rId5"/>
    <p:sldLayoutId id="2147483674" r:id="rId6"/>
    <p:sldLayoutId id="2147483677" r:id="rId7"/>
    <p:sldLayoutId id="2147483678" r:id="rId8"/>
  </p:sldLayoutIdLst>
  <p:hf hdr="0" dt="0"/>
  <p:txStyles>
    <p:title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p:titleStyle>
    <p:bodyStyle>
      <a:lvl1pPr marL="0" indent="0" algn="l" defTabSz="685800" rtl="0" eaLnBrk="1" latinLnBrk="0" hangingPunct="1">
        <a:lnSpc>
          <a:spcPct val="90000"/>
        </a:lnSpc>
        <a:spcBef>
          <a:spcPts val="50"/>
        </a:spcBef>
        <a:buFontTx/>
        <a:buNone/>
        <a:defRPr sz="2000" b="0" i="0" kern="1200" baseline="0">
          <a:solidFill>
            <a:schemeClr val="tx1"/>
          </a:solidFill>
          <a:latin typeface="Arial" panose="020B0604020202020204" pitchFamily="34" charset="0"/>
          <a:ea typeface="+mn-ea"/>
          <a:cs typeface="+mn-cs"/>
        </a:defRPr>
      </a:lvl1pPr>
      <a:lvl2pPr marL="180000" indent="0" algn="l" defTabSz="685800" rtl="0" eaLnBrk="1" latinLnBrk="0" hangingPunct="1">
        <a:lnSpc>
          <a:spcPct val="90000"/>
        </a:lnSpc>
        <a:spcBef>
          <a:spcPts val="350"/>
        </a:spcBef>
        <a:buClr>
          <a:schemeClr val="accent3"/>
        </a:buClr>
        <a:buFont typeface="Police système"/>
        <a:buNone/>
        <a:defRPr sz="1500" b="0" i="0" kern="1200" baseline="0">
          <a:solidFill>
            <a:schemeClr val="tx1"/>
          </a:solidFill>
          <a:latin typeface="+mj-lt"/>
          <a:ea typeface="+mn-ea"/>
          <a:cs typeface="+mn-cs"/>
        </a:defRPr>
      </a:lvl2pPr>
      <a:lvl3pPr marL="360000" indent="-171450" algn="l" defTabSz="685800" rtl="0" eaLnBrk="1" latinLnBrk="0" hangingPunct="1">
        <a:lnSpc>
          <a:spcPct val="90000"/>
        </a:lnSpc>
        <a:spcBef>
          <a:spcPts val="375"/>
        </a:spcBef>
        <a:buClr>
          <a:schemeClr val="accent3"/>
        </a:buClr>
        <a:buSzPct val="150000"/>
        <a:buFont typeface="Police système"/>
        <a:buChar char="-"/>
        <a:defRPr sz="1500" b="1" i="0" kern="1200" baseline="0">
          <a:solidFill>
            <a:schemeClr val="tx1"/>
          </a:solidFill>
          <a:latin typeface="Arial" panose="020B0604020202020204" pitchFamily="34" charset="0"/>
          <a:ea typeface="+mn-ea"/>
          <a:cs typeface="+mn-cs"/>
        </a:defRPr>
      </a:lvl3pPr>
      <a:lvl4pPr marL="540000" indent="-171450" algn="l" defTabSz="685800" rtl="0" eaLnBrk="1" latinLnBrk="0" hangingPunct="1">
        <a:lnSpc>
          <a:spcPct val="90000"/>
        </a:lnSpc>
        <a:spcBef>
          <a:spcPts val="375"/>
        </a:spcBef>
        <a:buSzPct val="150000"/>
        <a:buFont typeface="Police système"/>
        <a:buChar char="‣"/>
        <a:defRPr sz="1350" b="1" i="0" kern="1200" baseline="0">
          <a:solidFill>
            <a:schemeClr val="tx1"/>
          </a:solidFill>
          <a:latin typeface="Arial" panose="020B0604020202020204" pitchFamily="34" charset="0"/>
          <a:ea typeface="+mn-ea"/>
          <a:cs typeface="+mn-cs"/>
        </a:defRPr>
      </a:lvl4pPr>
      <a:lvl5pPr marL="720000" indent="-171450" algn="l" defTabSz="685800" rtl="0" eaLnBrk="1" latinLnBrk="0" hangingPunct="1">
        <a:lnSpc>
          <a:spcPct val="90000"/>
        </a:lnSpc>
        <a:spcBef>
          <a:spcPts val="375"/>
        </a:spcBef>
        <a:buClr>
          <a:schemeClr val="accent1"/>
        </a:buClr>
        <a:buSzPct val="150000"/>
        <a:buFont typeface="Arial" panose="020B0604020202020204" pitchFamily="34" charset="0"/>
        <a:buChar char="•"/>
        <a:defRPr sz="1350" b="0" i="0" kern="1200" baseline="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9">
          <p15:clr>
            <a:srgbClr val="F26B43"/>
          </p15:clr>
        </p15:guide>
        <p15:guide id="2" pos="158">
          <p15:clr>
            <a:srgbClr val="F26B43"/>
          </p15:clr>
        </p15:guide>
        <p15:guide id="3" pos="5602">
          <p15:clr>
            <a:srgbClr val="F26B43"/>
          </p15:clr>
        </p15:guide>
        <p15:guide id="4" orient="horz" pos="3072">
          <p15:clr>
            <a:srgbClr val="F26B43"/>
          </p15:clr>
        </p15:guide>
        <p15:guide id="5" orient="horz" pos="2799">
          <p15:clr>
            <a:srgbClr val="F26B43"/>
          </p15:clr>
        </p15:guide>
        <p15:guide id="6" pos="385">
          <p15:clr>
            <a:srgbClr val="F26B43"/>
          </p15:clr>
        </p15:guide>
        <p15:guide id="7" pos="537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075ADD08-B6A7-4140-B75E-2CCB665BCEFB}"/>
              </a:ext>
            </a:extLst>
          </p:cNvPr>
          <p:cNvCxnSpPr>
            <a:cxnSpLocks/>
          </p:cNvCxnSpPr>
          <p:nvPr userDrawn="1"/>
        </p:nvCxnSpPr>
        <p:spPr>
          <a:xfrm flipV="1">
            <a:off x="8535877" y="6126991"/>
            <a:ext cx="0" cy="375411"/>
          </a:xfrm>
          <a:prstGeom prst="line">
            <a:avLst/>
          </a:prstGeom>
          <a:ln/>
        </p:spPr>
        <p:style>
          <a:lnRef idx="2">
            <a:schemeClr val="dk1"/>
          </a:lnRef>
          <a:fillRef idx="0">
            <a:schemeClr val="dk1"/>
          </a:fillRef>
          <a:effectRef idx="1">
            <a:schemeClr val="dk1"/>
          </a:effectRef>
          <a:fontRef idx="minor">
            <a:schemeClr val="tx1"/>
          </a:fontRef>
        </p:style>
      </p:cxnSp>
      <p:sp>
        <p:nvSpPr>
          <p:cNvPr id="2" name="Title Placeholder 1"/>
          <p:cNvSpPr>
            <a:spLocks noGrp="1"/>
          </p:cNvSpPr>
          <p:nvPr>
            <p:ph type="title"/>
          </p:nvPr>
        </p:nvSpPr>
        <p:spPr>
          <a:xfrm>
            <a:off x="845972" y="1"/>
            <a:ext cx="7669378" cy="788804"/>
          </a:xfrm>
          <a:prstGeom prst="rect">
            <a:avLst/>
          </a:prstGeom>
        </p:spPr>
        <p:txBody>
          <a:bodyPr vert="horz" lIns="180000" tIns="180000" rIns="0" bIns="0" rtlCol="0" anchor="t" anchorCtr="0">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908726"/>
            <a:ext cx="7886700" cy="5112562"/>
          </a:xfrm>
          <a:prstGeom prst="rect">
            <a:avLst/>
          </a:prstGeom>
        </p:spPr>
        <p:txBody>
          <a:bodyPr vert="horz" lIns="180000" tIns="0" rIns="0" bIns="180000" rtlCol="0">
            <a:no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Footer Placeholder 4"/>
          <p:cNvSpPr>
            <a:spLocks noGrp="1"/>
          </p:cNvSpPr>
          <p:nvPr>
            <p:ph type="ftr" sz="quarter" idx="3"/>
          </p:nvPr>
        </p:nvSpPr>
        <p:spPr>
          <a:xfrm>
            <a:off x="5148064" y="6145772"/>
            <a:ext cx="3373085" cy="351935"/>
          </a:xfrm>
          <a:prstGeom prst="rect">
            <a:avLst/>
          </a:prstGeom>
        </p:spPr>
        <p:txBody>
          <a:bodyPr vert="horz" lIns="91440" tIns="45720" rIns="91440" bIns="45720" rtlCol="0" anchor="ctr"/>
          <a:lstStyle>
            <a:lvl1pPr algn="r">
              <a:defRPr sz="1200" b="0" i="0">
                <a:solidFill>
                  <a:schemeClr val="accent6">
                    <a:lumMod val="50000"/>
                  </a:schemeClr>
                </a:solidFill>
                <a:latin typeface="Arial" panose="020B0604020202020204" pitchFamily="34" charset="0"/>
              </a:defRPr>
            </a:lvl1pPr>
          </a:lstStyle>
          <a:p>
            <a:r>
              <a:rPr lang="fr-FR"/>
              <a:t>GT-IP PASRAU</a:t>
            </a:r>
            <a:endParaRPr lang="fr-FR" dirty="0"/>
          </a:p>
        </p:txBody>
      </p:sp>
      <p:sp>
        <p:nvSpPr>
          <p:cNvPr id="6" name="Slide Number Placeholder 5"/>
          <p:cNvSpPr>
            <a:spLocks noGrp="1"/>
          </p:cNvSpPr>
          <p:nvPr>
            <p:ph type="sldNum" sz="quarter" idx="4"/>
          </p:nvPr>
        </p:nvSpPr>
        <p:spPr>
          <a:xfrm>
            <a:off x="8533159" y="6126991"/>
            <a:ext cx="556591" cy="383904"/>
          </a:xfrm>
          <a:prstGeom prst="rect">
            <a:avLst/>
          </a:prstGeom>
        </p:spPr>
        <p:txBody>
          <a:bodyPr vert="horz" lIns="91440" tIns="45720" rIns="91440" bIns="45720" rtlCol="0" anchor="ctr"/>
          <a:lstStyle>
            <a:lvl1pPr algn="ctr">
              <a:defRPr sz="1200" b="1" i="0">
                <a:solidFill>
                  <a:schemeClr val="tx1"/>
                </a:solidFill>
                <a:latin typeface="Arial" panose="020B0604020202020204" pitchFamily="34" charset="0"/>
              </a:defRPr>
            </a:lvl1pPr>
          </a:lstStyle>
          <a:p>
            <a:fld id="{6C53AC0A-47EB-D843-AAE8-9061F973F010}" type="slidenum">
              <a:rPr lang="fr-FR" smtClean="0"/>
              <a:pPr/>
              <a:t>‹N°›</a:t>
            </a:fld>
            <a:endParaRPr lang="fr-FR" dirty="0"/>
          </a:p>
        </p:txBody>
      </p:sp>
      <p:cxnSp>
        <p:nvCxnSpPr>
          <p:cNvPr id="7" name="Connecteur droit 6">
            <a:extLst>
              <a:ext uri="{FF2B5EF4-FFF2-40B4-BE49-F238E27FC236}">
                <a16:creationId xmlns:a16="http://schemas.microsoft.com/office/drawing/2014/main" id="{F10AEABC-3B30-AD49-9038-30D2B03464B2}"/>
              </a:ext>
            </a:extLst>
          </p:cNvPr>
          <p:cNvCxnSpPr>
            <a:cxnSpLocks/>
          </p:cNvCxnSpPr>
          <p:nvPr userDrawn="1"/>
        </p:nvCxnSpPr>
        <p:spPr>
          <a:xfrm>
            <a:off x="8305098" y="6126992"/>
            <a:ext cx="450124" cy="0"/>
          </a:xfrm>
          <a:prstGeom prst="line">
            <a:avLst/>
          </a:prstGeom>
          <a:ln w="76200">
            <a:solidFill>
              <a:schemeClr val="accent2">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41A4A87E-28D2-4546-9A51-0C87BE286C98}"/>
              </a:ext>
            </a:extLst>
          </p:cNvPr>
          <p:cNvCxnSpPr>
            <a:cxnSpLocks/>
          </p:cNvCxnSpPr>
          <p:nvPr userDrawn="1"/>
        </p:nvCxnSpPr>
        <p:spPr>
          <a:xfrm flipV="1">
            <a:off x="8305098" y="6126992"/>
            <a:ext cx="838902" cy="4696"/>
          </a:xfrm>
          <a:prstGeom prst="line">
            <a:avLst/>
          </a:prstGeom>
          <a:ln/>
        </p:spPr>
        <p:style>
          <a:lnRef idx="2">
            <a:schemeClr val="accent2"/>
          </a:lnRef>
          <a:fillRef idx="0">
            <a:schemeClr val="accent2"/>
          </a:fillRef>
          <a:effectRef idx="1">
            <a:schemeClr val="accent2"/>
          </a:effectRef>
          <a:fontRef idx="minor">
            <a:schemeClr val="tx1"/>
          </a:fontRef>
        </p:style>
      </p:cxnSp>
      <p:grpSp>
        <p:nvGrpSpPr>
          <p:cNvPr id="20" name="Groupe 19">
            <a:extLst>
              <a:ext uri="{FF2B5EF4-FFF2-40B4-BE49-F238E27FC236}">
                <a16:creationId xmlns:a16="http://schemas.microsoft.com/office/drawing/2014/main" id="{D3BC8A8D-E851-A741-BFA6-912A9C2624F3}"/>
              </a:ext>
            </a:extLst>
          </p:cNvPr>
          <p:cNvGrpSpPr/>
          <p:nvPr userDrawn="1"/>
        </p:nvGrpSpPr>
        <p:grpSpPr>
          <a:xfrm>
            <a:off x="1" y="355602"/>
            <a:ext cx="835829" cy="375409"/>
            <a:chOff x="8048546" y="4747644"/>
            <a:chExt cx="835829" cy="281557"/>
          </a:xfrm>
        </p:grpSpPr>
        <p:cxnSp>
          <p:nvCxnSpPr>
            <p:cNvPr id="19" name="Connecteur droit 18">
              <a:extLst>
                <a:ext uri="{FF2B5EF4-FFF2-40B4-BE49-F238E27FC236}">
                  <a16:creationId xmlns:a16="http://schemas.microsoft.com/office/drawing/2014/main" id="{6A4F907D-D8A3-EE45-A982-49AECD8BE02B}"/>
                </a:ext>
              </a:extLst>
            </p:cNvPr>
            <p:cNvCxnSpPr>
              <a:cxnSpLocks/>
            </p:cNvCxnSpPr>
            <p:nvPr userDrawn="1"/>
          </p:nvCxnSpPr>
          <p:spPr>
            <a:xfrm flipV="1">
              <a:off x="8665030" y="4747644"/>
              <a:ext cx="0" cy="281557"/>
            </a:xfrm>
            <a:prstGeom prst="line">
              <a:avLst/>
            </a:prstGeom>
            <a:ln/>
          </p:spPr>
          <p:style>
            <a:lnRef idx="2">
              <a:schemeClr val="dk1"/>
            </a:lnRef>
            <a:fillRef idx="0">
              <a:schemeClr val="dk1"/>
            </a:fillRef>
            <a:effectRef idx="1">
              <a:schemeClr val="dk1"/>
            </a:effectRef>
            <a:fontRef idx="minor">
              <a:schemeClr val="tx1"/>
            </a:fontRef>
          </p:style>
        </p:cxnSp>
        <p:cxnSp>
          <p:nvCxnSpPr>
            <p:cNvPr id="17" name="Connecteur droit 16">
              <a:extLst>
                <a:ext uri="{FF2B5EF4-FFF2-40B4-BE49-F238E27FC236}">
                  <a16:creationId xmlns:a16="http://schemas.microsoft.com/office/drawing/2014/main" id="{78491DDA-7025-4C4E-BB3F-690670416DDD}"/>
                </a:ext>
              </a:extLst>
            </p:cNvPr>
            <p:cNvCxnSpPr>
              <a:cxnSpLocks/>
            </p:cNvCxnSpPr>
            <p:nvPr userDrawn="1"/>
          </p:nvCxnSpPr>
          <p:spPr>
            <a:xfrm>
              <a:off x="8434251" y="4747644"/>
              <a:ext cx="450124" cy="0"/>
            </a:xfrm>
            <a:prstGeom prst="line">
              <a:avLst/>
            </a:prstGeom>
            <a:ln w="76200">
              <a:solidFill>
                <a:schemeClr val="accent2">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372341AE-26D4-0B47-B5CD-F54DD529DAC2}"/>
                </a:ext>
              </a:extLst>
            </p:cNvPr>
            <p:cNvCxnSpPr>
              <a:cxnSpLocks/>
            </p:cNvCxnSpPr>
            <p:nvPr userDrawn="1"/>
          </p:nvCxnSpPr>
          <p:spPr>
            <a:xfrm>
              <a:off x="8048546" y="4747645"/>
              <a:ext cx="835829" cy="0"/>
            </a:xfrm>
            <a:prstGeom prst="line">
              <a:avLst/>
            </a:prstGeom>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265302796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90" r:id="rId3"/>
    <p:sldLayoutId id="2147483691" r:id="rId4"/>
  </p:sldLayoutIdLst>
  <p:hf hdr="0" dt="0"/>
  <p:txStyles>
    <p:title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p:titleStyle>
    <p:bodyStyle>
      <a:lvl1pPr marL="0" indent="0" algn="l" defTabSz="685800" rtl="0" eaLnBrk="1" latinLnBrk="0" hangingPunct="1">
        <a:lnSpc>
          <a:spcPct val="90000"/>
        </a:lnSpc>
        <a:spcBef>
          <a:spcPts val="50"/>
        </a:spcBef>
        <a:buFontTx/>
        <a:buNone/>
        <a:defRPr sz="2000" b="0" i="0" kern="1200" baseline="0">
          <a:solidFill>
            <a:schemeClr val="tx1"/>
          </a:solidFill>
          <a:latin typeface="Arial" panose="020B0604020202020204" pitchFamily="34" charset="0"/>
          <a:ea typeface="+mn-ea"/>
          <a:cs typeface="+mn-cs"/>
        </a:defRPr>
      </a:lvl1pPr>
      <a:lvl2pPr marL="180000" indent="0" algn="l" defTabSz="685800" rtl="0" eaLnBrk="1" latinLnBrk="0" hangingPunct="1">
        <a:lnSpc>
          <a:spcPct val="90000"/>
        </a:lnSpc>
        <a:spcBef>
          <a:spcPts val="350"/>
        </a:spcBef>
        <a:buClr>
          <a:schemeClr val="accent3"/>
        </a:buClr>
        <a:buFont typeface="Police système"/>
        <a:buNone/>
        <a:defRPr sz="1500" b="0" i="0" kern="1200" baseline="0">
          <a:solidFill>
            <a:schemeClr val="tx1"/>
          </a:solidFill>
          <a:latin typeface="+mj-lt"/>
          <a:ea typeface="+mn-ea"/>
          <a:cs typeface="+mn-cs"/>
        </a:defRPr>
      </a:lvl2pPr>
      <a:lvl3pPr marL="360000" indent="-171450" algn="l" defTabSz="685800" rtl="0" eaLnBrk="1" latinLnBrk="0" hangingPunct="1">
        <a:lnSpc>
          <a:spcPct val="90000"/>
        </a:lnSpc>
        <a:spcBef>
          <a:spcPts val="375"/>
        </a:spcBef>
        <a:buClr>
          <a:schemeClr val="accent3"/>
        </a:buClr>
        <a:buSzPct val="150000"/>
        <a:buFont typeface="Police système"/>
        <a:buChar char="-"/>
        <a:defRPr sz="1500" b="1" i="0" kern="1200" baseline="0">
          <a:solidFill>
            <a:schemeClr val="tx1"/>
          </a:solidFill>
          <a:latin typeface="Arial" panose="020B0604020202020204" pitchFamily="34" charset="0"/>
          <a:ea typeface="+mn-ea"/>
          <a:cs typeface="+mn-cs"/>
        </a:defRPr>
      </a:lvl3pPr>
      <a:lvl4pPr marL="540000" indent="-171450" algn="l" defTabSz="685800" rtl="0" eaLnBrk="1" latinLnBrk="0" hangingPunct="1">
        <a:lnSpc>
          <a:spcPct val="90000"/>
        </a:lnSpc>
        <a:spcBef>
          <a:spcPts val="375"/>
        </a:spcBef>
        <a:buSzPct val="150000"/>
        <a:buFont typeface="Police système"/>
        <a:buChar char="‣"/>
        <a:defRPr sz="1350" b="1" i="0" kern="1200" baseline="0">
          <a:solidFill>
            <a:schemeClr val="tx1"/>
          </a:solidFill>
          <a:latin typeface="Arial" panose="020B0604020202020204" pitchFamily="34" charset="0"/>
          <a:ea typeface="+mn-ea"/>
          <a:cs typeface="+mn-cs"/>
        </a:defRPr>
      </a:lvl4pPr>
      <a:lvl5pPr marL="720000" indent="-171450" algn="l" defTabSz="685800" rtl="0" eaLnBrk="1" latinLnBrk="0" hangingPunct="1">
        <a:lnSpc>
          <a:spcPct val="90000"/>
        </a:lnSpc>
        <a:spcBef>
          <a:spcPts val="375"/>
        </a:spcBef>
        <a:buClr>
          <a:schemeClr val="accent1"/>
        </a:buClr>
        <a:buSzPct val="150000"/>
        <a:buFont typeface="Arial" panose="020B0604020202020204" pitchFamily="34" charset="0"/>
        <a:buChar char="•"/>
        <a:defRPr sz="1350" b="0" i="0" kern="1200" baseline="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9">
          <p15:clr>
            <a:srgbClr val="F26B43"/>
          </p15:clr>
        </p15:guide>
        <p15:guide id="2" pos="158">
          <p15:clr>
            <a:srgbClr val="F26B43"/>
          </p15:clr>
        </p15:guide>
        <p15:guide id="3" pos="5602">
          <p15:clr>
            <a:srgbClr val="F26B43"/>
          </p15:clr>
        </p15:guide>
        <p15:guide id="4" orient="horz" pos="3072">
          <p15:clr>
            <a:srgbClr val="F26B43"/>
          </p15:clr>
        </p15:guide>
        <p15:guide id="5" orient="horz" pos="2799">
          <p15:clr>
            <a:srgbClr val="F26B43"/>
          </p15:clr>
        </p15:guide>
        <p15:guide id="6" pos="385">
          <p15:clr>
            <a:srgbClr val="F26B43"/>
          </p15:clr>
        </p15:guide>
        <p15:guide id="7" pos="537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mailto:dsn@sintia.fr" TargetMode="External"/><Relationship Id="rId2" Type="http://schemas.openxmlformats.org/officeDocument/2006/relationships/hyperlink" Target="mailto:dsn@fips-paritaire.fr" TargetMode="External"/><Relationship Id="rId1" Type="http://schemas.openxmlformats.org/officeDocument/2006/relationships/slideLayout" Target="../slideLayouts/slideLayout8.xml"/><Relationship Id="rId5" Type="http://schemas.openxmlformats.org/officeDocument/2006/relationships/image" Target="../media/image2.png"/><Relationship Id="rId4" Type="http://schemas.openxmlformats.org/officeDocument/2006/relationships/hyperlink" Target="mailto:svp.dsn@mutualite.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re 19"/>
          <p:cNvSpPr>
            <a:spLocks noGrp="1"/>
          </p:cNvSpPr>
          <p:nvPr>
            <p:ph type="ctrTitle"/>
          </p:nvPr>
        </p:nvSpPr>
        <p:spPr/>
        <p:txBody>
          <a:bodyPr anchor="ctr"/>
          <a:lstStyle/>
          <a:p>
            <a:r>
              <a:rPr lang="fr-FR" dirty="0"/>
              <a:t>FICHES DE PARAMETRAGE </a:t>
            </a:r>
            <a:br>
              <a:rPr lang="fr-FR" dirty="0"/>
            </a:br>
            <a:r>
              <a:rPr lang="fr-FR" dirty="0"/>
              <a:t>V139 - V140</a:t>
            </a:r>
            <a:endParaRPr lang="fr-FR" sz="5400" dirty="0"/>
          </a:p>
        </p:txBody>
      </p:sp>
      <p:sp>
        <p:nvSpPr>
          <p:cNvPr id="2" name="Sous-titre 1">
            <a:extLst>
              <a:ext uri="{FF2B5EF4-FFF2-40B4-BE49-F238E27FC236}">
                <a16:creationId xmlns:a16="http://schemas.microsoft.com/office/drawing/2014/main" id="{5BC53BF6-1D6E-46B7-AAB9-9A9349DB39FB}"/>
              </a:ext>
            </a:extLst>
          </p:cNvPr>
          <p:cNvSpPr>
            <a:spLocks noGrp="1"/>
          </p:cNvSpPr>
          <p:nvPr>
            <p:ph type="subTitle" idx="1"/>
          </p:nvPr>
        </p:nvSpPr>
        <p:spPr>
          <a:xfrm>
            <a:off x="1143000" y="3140968"/>
            <a:ext cx="6858000" cy="983031"/>
          </a:xfrm>
        </p:spPr>
        <p:txBody>
          <a:bodyPr/>
          <a:lstStyle/>
          <a:p>
            <a:r>
              <a:rPr lang="fr-FR" dirty="0"/>
              <a:t>Mise à jour du 20 juillet 2026</a:t>
            </a:r>
          </a:p>
        </p:txBody>
      </p:sp>
      <p:pic>
        <p:nvPicPr>
          <p:cNvPr id="4" name="Image 3">
            <a:extLst>
              <a:ext uri="{FF2B5EF4-FFF2-40B4-BE49-F238E27FC236}">
                <a16:creationId xmlns:a16="http://schemas.microsoft.com/office/drawing/2014/main" id="{67A8F7FD-E799-6FC0-99BE-05B9DB787E8D}"/>
              </a:ext>
            </a:extLst>
          </p:cNvPr>
          <p:cNvPicPr>
            <a:picLocks noChangeAspect="1"/>
          </p:cNvPicPr>
          <p:nvPr/>
        </p:nvPicPr>
        <p:blipFill>
          <a:blip r:embed="rId3"/>
          <a:stretch>
            <a:fillRect/>
          </a:stretch>
        </p:blipFill>
        <p:spPr>
          <a:xfrm>
            <a:off x="1490232" y="4072813"/>
            <a:ext cx="6163535" cy="1457528"/>
          </a:xfrm>
          <a:prstGeom prst="rect">
            <a:avLst/>
          </a:prstGeom>
        </p:spPr>
      </p:pic>
    </p:spTree>
    <p:extLst>
      <p:ext uri="{BB962C8B-B14F-4D97-AF65-F5344CB8AC3E}">
        <p14:creationId xmlns:p14="http://schemas.microsoft.com/office/powerpoint/2010/main" val="3323608301"/>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97E1E8-C3EC-1F87-391D-2836AFA6771E}"/>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id="{1F2F9C10-0237-1FA0-7DF5-77DE8262F0E7}"/>
              </a:ext>
            </a:extLst>
          </p:cNvPr>
          <p:cNvSpPr>
            <a:spLocks noGrp="1"/>
          </p:cNvSpPr>
          <p:nvPr>
            <p:ph idx="1"/>
          </p:nvPr>
        </p:nvSpPr>
        <p:spPr>
          <a:xfrm>
            <a:off x="762431" y="819546"/>
            <a:ext cx="8049023" cy="5464363"/>
          </a:xfrm>
        </p:spPr>
        <p:txBody>
          <a:bodyPr/>
          <a:lstStyle/>
          <a:p>
            <a:pPr>
              <a:lnSpc>
                <a:spcPct val="100000"/>
              </a:lnSpc>
              <a:spcBef>
                <a:spcPts val="900"/>
              </a:spcBef>
            </a:pPr>
            <a:endParaRPr lang="fr-FR" sz="1800" b="1" dirty="0"/>
          </a:p>
          <a:p>
            <a:pPr>
              <a:lnSpc>
                <a:spcPct val="100000"/>
              </a:lnSpc>
              <a:spcBef>
                <a:spcPts val="900"/>
              </a:spcBef>
            </a:pPr>
            <a:r>
              <a:rPr lang="fr-FR" sz="1800" b="1" dirty="0"/>
              <a:t>1. Calendrier des versions</a:t>
            </a:r>
            <a:endParaRPr lang="fr-FR" sz="1800" dirty="0"/>
          </a:p>
          <a:p>
            <a:pPr>
              <a:lnSpc>
                <a:spcPct val="100000"/>
              </a:lnSpc>
              <a:spcBef>
                <a:spcPts val="0"/>
              </a:spcBef>
            </a:pPr>
            <a:r>
              <a:rPr lang="fr-FR" sz="1800" b="1" dirty="0"/>
              <a:t> </a:t>
            </a:r>
          </a:p>
          <a:p>
            <a:pPr>
              <a:lnSpc>
                <a:spcPct val="100000"/>
              </a:lnSpc>
              <a:spcBef>
                <a:spcPts val="0"/>
              </a:spcBef>
            </a:pPr>
            <a:br>
              <a:rPr lang="fr-FR" sz="1800" b="1" dirty="0"/>
            </a:br>
            <a:r>
              <a:rPr lang="fr-FR" sz="1800" b="1" dirty="0"/>
              <a:t>2. Mise à jour des versions 139 et 140</a:t>
            </a:r>
            <a:endParaRPr lang="fr-FR" sz="1800" dirty="0"/>
          </a:p>
          <a:p>
            <a:pPr marL="446088" indent="-269875" algn="l">
              <a:lnSpc>
                <a:spcPct val="100000"/>
              </a:lnSpc>
              <a:spcBef>
                <a:spcPts val="600"/>
              </a:spcBef>
              <a:buFont typeface="Arial" panose="020B0604020202020204" pitchFamily="34" charset="0"/>
              <a:buChar char="•"/>
            </a:pPr>
            <a:r>
              <a:rPr lang="fr-FR" sz="1800" dirty="0"/>
              <a:t>Modification du contrôle sur les libellés des références contrat</a:t>
            </a:r>
          </a:p>
          <a:p>
            <a:pPr marL="446088" indent="-269875" algn="l">
              <a:lnSpc>
                <a:spcPct val="100000"/>
              </a:lnSpc>
              <a:spcBef>
                <a:spcPts val="600"/>
              </a:spcBef>
              <a:buFont typeface="Arial" panose="020B0604020202020204" pitchFamily="34" charset="0"/>
              <a:buChar char="•"/>
            </a:pPr>
            <a:r>
              <a:rPr lang="fr-FR" sz="1800" dirty="0"/>
              <a:t>Ajout de conditions tarifaires et modification de contrôles associés</a:t>
            </a:r>
          </a:p>
          <a:p>
            <a:pPr marL="176213" marR="0" lvl="0" algn="l" defTabSz="685800" rtl="0" eaLnBrk="1" fontAlgn="auto" latinLnBrk="0" hangingPunct="1">
              <a:lnSpc>
                <a:spcPct val="90000"/>
              </a:lnSpc>
              <a:spcBef>
                <a:spcPts val="50"/>
              </a:spcBef>
              <a:spcAft>
                <a:spcPts val="0"/>
              </a:spcAft>
              <a:buClrTx/>
              <a:buSzTx/>
              <a:tabLst/>
              <a:defRPr/>
            </a:pPr>
            <a:endParaRPr lang="fr-FR" sz="1800" dirty="0">
              <a:solidFill>
                <a:srgbClr val="242F62"/>
              </a:solidFill>
              <a:highlight>
                <a:srgbClr val="00FF00"/>
              </a:highlight>
            </a:endParaRPr>
          </a:p>
          <a:p>
            <a:pPr>
              <a:lnSpc>
                <a:spcPct val="100000"/>
              </a:lnSpc>
              <a:spcBef>
                <a:spcPts val="0"/>
              </a:spcBef>
            </a:pPr>
            <a:r>
              <a:rPr lang="fr-FR" sz="1800" b="1" dirty="0"/>
              <a:t>3. Delta entre les versions de fiches 139 et 140</a:t>
            </a:r>
          </a:p>
          <a:p>
            <a:pPr>
              <a:lnSpc>
                <a:spcPct val="100000"/>
              </a:lnSpc>
              <a:spcBef>
                <a:spcPts val="0"/>
              </a:spcBef>
              <a:defRPr/>
            </a:pPr>
            <a:endParaRPr kumimoji="0" lang="fr-FR" sz="1800" b="1" i="0" u="none" strike="noStrike" kern="1200" cap="none" spc="0" normalizeH="0" baseline="0" noProof="0" dirty="0">
              <a:ln>
                <a:noFill/>
              </a:ln>
              <a:solidFill>
                <a:schemeClr val="tx2"/>
              </a:solidFill>
              <a:effectLst/>
              <a:highlight>
                <a:srgbClr val="00FF00"/>
              </a:highlight>
              <a:uLnTx/>
              <a:uFillTx/>
              <a:latin typeface="Arial" panose="020B0604020202020204" pitchFamily="34" charset="0"/>
              <a:ea typeface="+mn-ea"/>
              <a:cs typeface="+mn-cs"/>
            </a:endParaRPr>
          </a:p>
          <a:p>
            <a:pPr>
              <a:lnSpc>
                <a:spcPct val="100000"/>
              </a:lnSpc>
              <a:spcBef>
                <a:spcPts val="0"/>
              </a:spcBef>
              <a:defRPr/>
            </a:pPr>
            <a:endParaRPr kumimoji="0" lang="fr-FR" sz="1800" b="1" i="0" u="none" strike="noStrike" kern="1200" cap="none" spc="0" normalizeH="0" baseline="0" noProof="0" dirty="0">
              <a:ln>
                <a:noFill/>
              </a:ln>
              <a:solidFill>
                <a:schemeClr val="tx2"/>
              </a:solidFill>
              <a:effectLst/>
              <a:highlight>
                <a:srgbClr val="00FF00"/>
              </a:highlight>
              <a:uLnTx/>
              <a:uFillTx/>
              <a:latin typeface="Arial" panose="020B0604020202020204" pitchFamily="34" charset="0"/>
              <a:ea typeface="+mn-ea"/>
              <a:cs typeface="+mn-cs"/>
            </a:endParaRPr>
          </a:p>
        </p:txBody>
      </p:sp>
      <p:sp>
        <p:nvSpPr>
          <p:cNvPr id="4" name="Espace réservé du numéro de diapositive 3">
            <a:extLst>
              <a:ext uri="{FF2B5EF4-FFF2-40B4-BE49-F238E27FC236}">
                <a16:creationId xmlns:a16="http://schemas.microsoft.com/office/drawing/2014/main" id="{14373476-7195-CC05-824A-F3DC9685BCAE}"/>
              </a:ext>
            </a:extLst>
          </p:cNvPr>
          <p:cNvSpPr>
            <a:spLocks noGrp="1"/>
          </p:cNvSpPr>
          <p:nvPr>
            <p:ph type="sldNum" sz="quarter" idx="12"/>
          </p:nvPr>
        </p:nvSpPr>
        <p:spPr/>
        <p:txBody>
          <a:bodyPr/>
          <a:lstStyle/>
          <a:p>
            <a:fld id="{6C53AC0A-47EB-D843-AAE8-9061F973F010}" type="slidenum">
              <a:rPr lang="fr-FR" smtClean="0"/>
              <a:t>2</a:t>
            </a:fld>
            <a:endParaRPr lang="fr-FR"/>
          </a:p>
        </p:txBody>
      </p:sp>
    </p:spTree>
    <p:extLst>
      <p:ext uri="{BB962C8B-B14F-4D97-AF65-F5344CB8AC3E}">
        <p14:creationId xmlns:p14="http://schemas.microsoft.com/office/powerpoint/2010/main" val="3616826002"/>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ctrTitle"/>
          </p:nvPr>
        </p:nvSpPr>
        <p:spPr/>
        <p:txBody>
          <a:bodyPr/>
          <a:lstStyle/>
          <a:p>
            <a:r>
              <a:rPr lang="fr-FR" b="1" dirty="0"/>
              <a:t>Calendrier des versions</a:t>
            </a:r>
            <a:br>
              <a:rPr lang="fr-FR" b="1" dirty="0"/>
            </a:br>
            <a:endParaRPr lang="fr-FR" b="1" dirty="0"/>
          </a:p>
        </p:txBody>
      </p:sp>
      <p:sp>
        <p:nvSpPr>
          <p:cNvPr id="5" name="Espace réservé du numéro de diapositive 4">
            <a:extLst>
              <a:ext uri="{FF2B5EF4-FFF2-40B4-BE49-F238E27FC236}">
                <a16:creationId xmlns:a16="http://schemas.microsoft.com/office/drawing/2014/main" id="{40A6F36E-BD16-4C3A-B047-B53ECA93F50B}"/>
              </a:ext>
            </a:extLst>
          </p:cNvPr>
          <p:cNvSpPr>
            <a:spLocks noGrp="1"/>
          </p:cNvSpPr>
          <p:nvPr>
            <p:ph type="sldNum" sz="quarter" idx="12"/>
          </p:nvPr>
        </p:nvSpPr>
        <p:spPr/>
        <p:txBody>
          <a:bodyPr/>
          <a:lstStyle/>
          <a:p>
            <a:fld id="{6C53AC0A-47EB-D843-AAE8-9061F973F010}" type="slidenum">
              <a:rPr lang="fr-FR" smtClean="0"/>
              <a:t>3</a:t>
            </a:fld>
            <a:endParaRPr lang="fr-FR"/>
          </a:p>
        </p:txBody>
      </p:sp>
      <p:sp>
        <p:nvSpPr>
          <p:cNvPr id="24" name="Espace réservé du contenu 23"/>
          <p:cNvSpPr>
            <a:spLocks noGrp="1"/>
          </p:cNvSpPr>
          <p:nvPr>
            <p:ph sz="quarter" idx="4294967295"/>
          </p:nvPr>
        </p:nvSpPr>
        <p:spPr>
          <a:xfrm>
            <a:off x="683568" y="441223"/>
            <a:ext cx="3113928" cy="383904"/>
          </a:xfrm>
        </p:spPr>
        <p:txBody>
          <a:bodyPr vert="horz" lIns="180000" tIns="0" rIns="0" bIns="180000" rtlCol="0">
            <a:noAutofit/>
          </a:bodyPr>
          <a:lstStyle/>
          <a:p>
            <a:r>
              <a:rPr lang="fr-FR" sz="2800" b="1" dirty="0">
                <a:solidFill>
                  <a:schemeClr val="accent5">
                    <a:lumMod val="75000"/>
                  </a:schemeClr>
                </a:solidFill>
              </a:rPr>
              <a:t>PARTIE 1</a:t>
            </a:r>
          </a:p>
        </p:txBody>
      </p:sp>
      <p:sp>
        <p:nvSpPr>
          <p:cNvPr id="2" name="Titre 1">
            <a:extLst>
              <a:ext uri="{FF2B5EF4-FFF2-40B4-BE49-F238E27FC236}">
                <a16:creationId xmlns:a16="http://schemas.microsoft.com/office/drawing/2014/main" id="{51A23A11-533C-49A1-A244-6125977A6A16}"/>
              </a:ext>
            </a:extLst>
          </p:cNvPr>
          <p:cNvSpPr txBox="1">
            <a:spLocks/>
          </p:cNvSpPr>
          <p:nvPr/>
        </p:nvSpPr>
        <p:spPr>
          <a:xfrm>
            <a:off x="1253157" y="2564904"/>
            <a:ext cx="7056784" cy="1224136"/>
          </a:xfrm>
          <a:prstGeom prst="rect">
            <a:avLst/>
          </a:prstGeom>
        </p:spPr>
        <p:txBody>
          <a:bodyPr vert="horz" lIns="0" tIns="0" rIns="0" bIns="0" rtlCol="0" anchor="t" anchorCtr="0">
            <a:noAutofit/>
          </a:bodyPr>
          <a:lstStyle>
            <a:lvl1pPr algn="l" defTabSz="914400" rtl="0" eaLnBrk="1" latinLnBrk="0" hangingPunct="1">
              <a:spcBef>
                <a:spcPct val="0"/>
              </a:spcBef>
              <a:buNone/>
              <a:defRPr sz="2600" b="0" kern="1200" cap="none" spc="-30" baseline="0">
                <a:solidFill>
                  <a:schemeClr val="bg1"/>
                </a:solidFill>
                <a:latin typeface="+mj-lt"/>
                <a:ea typeface="+mj-ea"/>
                <a:cs typeface="+mj-cs"/>
              </a:defRPr>
            </a:lvl1pPr>
          </a:lstStyle>
          <a:p>
            <a:endParaRPr lang="fr-FR" sz="1600" dirty="0"/>
          </a:p>
        </p:txBody>
      </p:sp>
    </p:spTree>
    <p:extLst>
      <p:ext uri="{BB962C8B-B14F-4D97-AF65-F5344CB8AC3E}">
        <p14:creationId xmlns:p14="http://schemas.microsoft.com/office/powerpoint/2010/main" val="1988942414"/>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0A3E5A-BC19-9A4C-A2DB-8E751F6EF4E8}"/>
              </a:ext>
            </a:extLst>
          </p:cNvPr>
          <p:cNvSpPr>
            <a:spLocks noGrp="1"/>
          </p:cNvSpPr>
          <p:nvPr>
            <p:ph type="title"/>
          </p:nvPr>
        </p:nvSpPr>
        <p:spPr/>
        <p:txBody>
          <a:bodyPr vert="horz" lIns="180000" tIns="180000" rIns="0" bIns="0" rtlCol="0" anchor="t" anchorCtr="0">
            <a:noAutofit/>
          </a:bodyPr>
          <a:lstStyle/>
          <a:p>
            <a:r>
              <a:rPr lang="fr-FR" sz="1800" dirty="0"/>
              <a:t> 1. Calendrier </a:t>
            </a:r>
            <a:r>
              <a:rPr lang="fr-FR" sz="1800" dirty="0">
                <a:latin typeface="Arial" panose="020B0604020202020204" pitchFamily="34" charset="0"/>
              </a:rPr>
              <a:t>des versions</a:t>
            </a:r>
            <a:endParaRPr lang="fr-FR" sz="1800" dirty="0"/>
          </a:p>
        </p:txBody>
      </p:sp>
      <p:sp>
        <p:nvSpPr>
          <p:cNvPr id="6" name="Espace réservé du numéro de diapositive 5">
            <a:extLst>
              <a:ext uri="{FF2B5EF4-FFF2-40B4-BE49-F238E27FC236}">
                <a16:creationId xmlns:a16="http://schemas.microsoft.com/office/drawing/2014/main" id="{4786A58D-9BF9-5D46-85F6-481BA861D14E}"/>
              </a:ext>
            </a:extLst>
          </p:cNvPr>
          <p:cNvSpPr>
            <a:spLocks noGrp="1"/>
          </p:cNvSpPr>
          <p:nvPr>
            <p:ph type="sldNum" sz="quarter" idx="12"/>
          </p:nvPr>
        </p:nvSpPr>
        <p:spPr/>
        <p:txBody>
          <a:bodyPr/>
          <a:lstStyle/>
          <a:p>
            <a:fld id="{6C53AC0A-47EB-D843-AAE8-9061F973F010}" type="slidenum">
              <a:rPr lang="fr-FR" smtClean="0"/>
              <a:t>4</a:t>
            </a:fld>
            <a:endParaRPr lang="fr-FR"/>
          </a:p>
        </p:txBody>
      </p:sp>
      <p:sp>
        <p:nvSpPr>
          <p:cNvPr id="9" name="Espace réservé du contenu 2">
            <a:extLst>
              <a:ext uri="{FF2B5EF4-FFF2-40B4-BE49-F238E27FC236}">
                <a16:creationId xmlns:a16="http://schemas.microsoft.com/office/drawing/2014/main" id="{B2D30F73-AD59-4E18-9BCB-D227DB6F0CB3}"/>
              </a:ext>
            </a:extLst>
          </p:cNvPr>
          <p:cNvSpPr>
            <a:spLocks noGrp="1"/>
          </p:cNvSpPr>
          <p:nvPr>
            <p:ph idx="1"/>
          </p:nvPr>
        </p:nvSpPr>
        <p:spPr>
          <a:xfrm>
            <a:off x="610840" y="716768"/>
            <a:ext cx="7922319" cy="4224400"/>
          </a:xfrm>
        </p:spPr>
        <p:txBody>
          <a:bodyPr/>
          <a:lstStyle/>
          <a:p>
            <a:pPr algn="just">
              <a:lnSpc>
                <a:spcPct val="100000"/>
              </a:lnSpc>
              <a:spcBef>
                <a:spcPts val="0"/>
              </a:spcBef>
            </a:pPr>
            <a:r>
              <a:rPr lang="fr-FR" sz="1800" b="1" dirty="0">
                <a:latin typeface="+mn-lt"/>
                <a:ea typeface="Times New Roman" panose="02020603050405020304" pitchFamily="18" charset="0"/>
                <a:cs typeface="Times New Roman" panose="02020603050405020304" pitchFamily="18" charset="0"/>
              </a:rPr>
              <a:t>La version 138 </a:t>
            </a:r>
            <a:r>
              <a:rPr lang="fr-FR" sz="1400" b="1" i="1" dirty="0">
                <a:latin typeface="+mn-lt"/>
                <a:ea typeface="Times New Roman" panose="02020603050405020304" pitchFamily="18" charset="0"/>
                <a:cs typeface="Times New Roman" panose="02020603050405020304" pitchFamily="18" charset="0"/>
              </a:rPr>
              <a:t>(créée en juillet 2018, durcie en septembre 2023 et mise à jour en septembre 2024) </a:t>
            </a:r>
            <a:endParaRPr lang="fr-FR" sz="1600" b="1" i="1" dirty="0">
              <a:latin typeface="+mn-lt"/>
              <a:ea typeface="Times New Roman" panose="02020603050405020304" pitchFamily="18" charset="0"/>
              <a:cs typeface="Times New Roman" panose="02020603050405020304" pitchFamily="18" charset="0"/>
            </a:endParaRPr>
          </a:p>
          <a:p>
            <a:pPr lvl="1" algn="just">
              <a:lnSpc>
                <a:spcPct val="100000"/>
              </a:lnSpc>
              <a:spcBef>
                <a:spcPts val="600"/>
              </a:spcBef>
              <a:spcAft>
                <a:spcPts val="600"/>
              </a:spcAft>
            </a:pPr>
            <a:r>
              <a:rPr lang="fr-FR" sz="1600" dirty="0">
                <a:latin typeface="+mn-lt"/>
                <a:ea typeface="Times New Roman" panose="02020603050405020304" pitchFamily="18" charset="0"/>
                <a:cs typeface="Times New Roman" panose="02020603050405020304" pitchFamily="18" charset="0"/>
              </a:rPr>
              <a:t>La version 138 n’est plus acceptée en réception sur les concentrateurs depuis octobre 2025. </a:t>
            </a:r>
            <a:r>
              <a:rPr lang="fr-FR" sz="1600" dirty="0">
                <a:cs typeface="Times New Roman" panose="02020603050405020304" pitchFamily="18" charset="0"/>
              </a:rPr>
              <a:t>A noter que les fiches en version 138 reçues antérieurement sont encore valides et stockées sur les concentrateurs, mais seront </a:t>
            </a:r>
            <a:r>
              <a:rPr lang="fr-FR" sz="1600" dirty="0">
                <a:solidFill>
                  <a:srgbClr val="FF0000"/>
                </a:solidFill>
                <a:cs typeface="Times New Roman" panose="02020603050405020304" pitchFamily="18" charset="0"/>
              </a:rPr>
              <a:t>définitivement purgées en juin 2027.</a:t>
            </a:r>
          </a:p>
          <a:p>
            <a:pPr lvl="1" algn="just">
              <a:lnSpc>
                <a:spcPct val="100000"/>
              </a:lnSpc>
              <a:spcBef>
                <a:spcPts val="0"/>
              </a:spcBef>
            </a:pPr>
            <a:endParaRPr lang="fr-FR" sz="1000" dirty="0">
              <a:cs typeface="Times New Roman" panose="02020603050405020304" pitchFamily="18" charset="0"/>
            </a:endParaRPr>
          </a:p>
          <a:p>
            <a:pPr algn="just">
              <a:lnSpc>
                <a:spcPct val="100000"/>
              </a:lnSpc>
              <a:spcBef>
                <a:spcPts val="0"/>
              </a:spcBef>
            </a:pPr>
            <a:r>
              <a:rPr lang="fr-FR" sz="1800" b="1" dirty="0">
                <a:latin typeface="+mn-lt"/>
                <a:cs typeface="Times New Roman" panose="02020603050405020304" pitchFamily="18" charset="0"/>
              </a:rPr>
              <a:t>La version 139 </a:t>
            </a:r>
            <a:r>
              <a:rPr lang="fr-FR" sz="1400" b="1" i="1" dirty="0">
                <a:latin typeface="+mn-lt"/>
                <a:cs typeface="Times New Roman" panose="02020603050405020304" pitchFamily="18" charset="0"/>
              </a:rPr>
              <a:t>(créée en mai 2019, durcie en juillet 2021 et septembre 2023, puis mise à jour en septembre 2024 et octobre 2025)</a:t>
            </a:r>
          </a:p>
          <a:p>
            <a:pPr algn="just">
              <a:lnSpc>
                <a:spcPct val="100000"/>
              </a:lnSpc>
              <a:spcBef>
                <a:spcPts val="0"/>
              </a:spcBef>
            </a:pPr>
            <a:r>
              <a:rPr lang="fr-FR" sz="1800" b="1" dirty="0">
                <a:cs typeface="Times New Roman" panose="02020603050405020304" pitchFamily="18" charset="0"/>
              </a:rPr>
              <a:t>La version 140 </a:t>
            </a:r>
            <a:r>
              <a:rPr lang="fr-FR" sz="1400" b="1" i="1" dirty="0">
                <a:latin typeface="+mn-lt"/>
                <a:cs typeface="Times New Roman" panose="02020603050405020304" pitchFamily="18" charset="0"/>
              </a:rPr>
              <a:t>(créée en octobre 2025)</a:t>
            </a:r>
          </a:p>
          <a:p>
            <a:pPr lvl="1" algn="just">
              <a:lnSpc>
                <a:spcPct val="100000"/>
              </a:lnSpc>
              <a:spcBef>
                <a:spcPts val="600"/>
              </a:spcBef>
              <a:spcAft>
                <a:spcPts val="600"/>
              </a:spcAft>
            </a:pPr>
            <a:r>
              <a:rPr lang="fr-FR" sz="1600" dirty="0">
                <a:solidFill>
                  <a:srgbClr val="FF0000"/>
                </a:solidFill>
                <a:ea typeface="Times New Roman" panose="02020603050405020304" pitchFamily="18" charset="0"/>
                <a:cs typeface="Times New Roman" panose="02020603050405020304" pitchFamily="18" charset="0"/>
              </a:rPr>
              <a:t>Les versions 139 et 140 sont acceptées en réception sur les concentrateurs et seront mises à jour en octobre 2026. </a:t>
            </a:r>
            <a:r>
              <a:rPr lang="fr-FR" sz="1600" dirty="0">
                <a:ea typeface="Times New Roman" panose="02020603050405020304" pitchFamily="18" charset="0"/>
                <a:cs typeface="Times New Roman" panose="02020603050405020304" pitchFamily="18" charset="0"/>
              </a:rPr>
              <a:t>Les anciennes fiches de même numéro de version restent  compatibles.</a:t>
            </a:r>
          </a:p>
        </p:txBody>
      </p:sp>
      <p:sp>
        <p:nvSpPr>
          <p:cNvPr id="4" name="ZoneTexte 3">
            <a:extLst>
              <a:ext uri="{FF2B5EF4-FFF2-40B4-BE49-F238E27FC236}">
                <a16:creationId xmlns:a16="http://schemas.microsoft.com/office/drawing/2014/main" id="{64C0AC9D-6BCC-B7ED-AA80-8E2D18786A31}"/>
              </a:ext>
            </a:extLst>
          </p:cNvPr>
          <p:cNvSpPr txBox="1"/>
          <p:nvPr/>
        </p:nvSpPr>
        <p:spPr>
          <a:xfrm>
            <a:off x="728089" y="4293096"/>
            <a:ext cx="7687819" cy="1940018"/>
          </a:xfrm>
          <a:prstGeom prst="rect">
            <a:avLst/>
          </a:prstGeom>
          <a:noFill/>
          <a:ln>
            <a:solidFill>
              <a:schemeClr val="tx1"/>
            </a:solidFill>
          </a:ln>
        </p:spPr>
        <p:txBody>
          <a:bodyPr wrap="square" rtlCol="0">
            <a:spAutoFit/>
          </a:bodyPr>
          <a:lstStyle/>
          <a:p>
            <a:pPr algn="just" defTabSz="685800">
              <a:lnSpc>
                <a:spcPct val="90000"/>
              </a:lnSpc>
              <a:spcBef>
                <a:spcPts val="50"/>
              </a:spcBef>
              <a:spcAft>
                <a:spcPts val="300"/>
              </a:spcAft>
            </a:pPr>
            <a:r>
              <a:rPr lang="fr-FR" sz="1400" b="1" u="sng" dirty="0">
                <a:cs typeface="Times New Roman" panose="02020603050405020304" pitchFamily="18" charset="0"/>
              </a:rPr>
              <a:t>Remarques : </a:t>
            </a:r>
          </a:p>
          <a:p>
            <a:pPr marL="285750" indent="-285750" algn="just" defTabSz="685800">
              <a:lnSpc>
                <a:spcPct val="90000"/>
              </a:lnSpc>
              <a:spcBef>
                <a:spcPts val="50"/>
              </a:spcBef>
              <a:spcAft>
                <a:spcPts val="300"/>
              </a:spcAft>
              <a:buFont typeface="Arial" panose="020B0604020202020204" pitchFamily="34" charset="0"/>
              <a:buChar char="•"/>
            </a:pPr>
            <a:r>
              <a:rPr lang="fr-FR" sz="1400" dirty="0">
                <a:cs typeface="Times New Roman" panose="02020603050405020304" pitchFamily="18" charset="0"/>
              </a:rPr>
              <a:t>Une </a:t>
            </a:r>
            <a:r>
              <a:rPr lang="fr-FR" sz="1400" b="1" u="sng" dirty="0">
                <a:cs typeface="Times New Roman" panose="02020603050405020304" pitchFamily="18" charset="0"/>
              </a:rPr>
              <a:t>« mise à jour » </a:t>
            </a:r>
            <a:r>
              <a:rPr lang="fr-FR" sz="1400" dirty="0">
                <a:cs typeface="Times New Roman" panose="02020603050405020304" pitchFamily="18" charset="0"/>
              </a:rPr>
              <a:t>de version comprend des ajouts de nouvelles valeurs et d’éventuels contrôles associés à ces nouvelles valeurs, ainsi que des modifications de libellés d’anciennes valeurs (données à titre indicatif). </a:t>
            </a:r>
            <a:r>
              <a:rPr lang="fr-FR" sz="1400" b="1" dirty="0">
                <a:cs typeface="Times New Roman" panose="02020603050405020304" pitchFamily="18" charset="0"/>
              </a:rPr>
              <a:t>Les anciennes fiches de même numéro de version restent  compatibles.</a:t>
            </a:r>
          </a:p>
          <a:p>
            <a:pPr marL="285750" indent="-285750" algn="just" defTabSz="685800">
              <a:lnSpc>
                <a:spcPct val="90000"/>
              </a:lnSpc>
              <a:spcBef>
                <a:spcPts val="50"/>
              </a:spcBef>
              <a:spcAft>
                <a:spcPts val="300"/>
              </a:spcAft>
              <a:buFont typeface="Arial" panose="020B0604020202020204" pitchFamily="34" charset="0"/>
              <a:buChar char="•"/>
            </a:pPr>
            <a:r>
              <a:rPr lang="fr-FR" sz="1400" dirty="0">
                <a:cs typeface="Times New Roman" panose="02020603050405020304" pitchFamily="18" charset="0"/>
              </a:rPr>
              <a:t>Un </a:t>
            </a:r>
            <a:r>
              <a:rPr lang="fr-FR" sz="1400" b="1" u="sng" dirty="0">
                <a:cs typeface="Times New Roman" panose="02020603050405020304" pitchFamily="18" charset="0"/>
              </a:rPr>
              <a:t>« durcissement » </a:t>
            </a:r>
            <a:r>
              <a:rPr lang="fr-FR" sz="1400" dirty="0">
                <a:cs typeface="Times New Roman" panose="02020603050405020304" pitchFamily="18" charset="0"/>
              </a:rPr>
              <a:t>de version comprend des ajouts de contrôles associés à d’anciennes valeurs, qui doivent impérativement être pris en compte par les producteurs de fiches. </a:t>
            </a:r>
            <a:r>
              <a:rPr lang="fr-FR" sz="1400" b="1" dirty="0">
                <a:cs typeface="Times New Roman" panose="02020603050405020304" pitchFamily="18" charset="0"/>
              </a:rPr>
              <a:t>Les anciennes fiches de même numéro de version ne sont pas nécessairement compatibles.</a:t>
            </a:r>
          </a:p>
        </p:txBody>
      </p:sp>
    </p:spTree>
    <p:extLst>
      <p:ext uri="{BB962C8B-B14F-4D97-AF65-F5344CB8AC3E}">
        <p14:creationId xmlns:p14="http://schemas.microsoft.com/office/powerpoint/2010/main" val="261402223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4786A58D-9BF9-5D46-85F6-481BA861D14E}"/>
              </a:ext>
            </a:extLst>
          </p:cNvPr>
          <p:cNvSpPr>
            <a:spLocks noGrp="1"/>
          </p:cNvSpPr>
          <p:nvPr>
            <p:ph type="sldNum" sz="quarter" idx="12"/>
          </p:nvPr>
        </p:nvSpPr>
        <p:spPr/>
        <p:txBody>
          <a:bodyPr/>
          <a:lstStyle/>
          <a:p>
            <a:fld id="{6C53AC0A-47EB-D843-AAE8-9061F973F010}" type="slidenum">
              <a:rPr lang="fr-FR" smtClean="0"/>
              <a:t>5</a:t>
            </a:fld>
            <a:endParaRPr lang="fr-FR"/>
          </a:p>
        </p:txBody>
      </p:sp>
      <p:sp>
        <p:nvSpPr>
          <p:cNvPr id="7" name="Titre 1">
            <a:extLst>
              <a:ext uri="{FF2B5EF4-FFF2-40B4-BE49-F238E27FC236}">
                <a16:creationId xmlns:a16="http://schemas.microsoft.com/office/drawing/2014/main" id="{342B8CC0-FA38-5E0A-D51D-9C8BFA4C97B3}"/>
              </a:ext>
            </a:extLst>
          </p:cNvPr>
          <p:cNvSpPr>
            <a:spLocks noGrp="1"/>
          </p:cNvSpPr>
          <p:nvPr>
            <p:ph type="title"/>
          </p:nvPr>
        </p:nvSpPr>
        <p:spPr>
          <a:xfrm>
            <a:off x="932060" y="1"/>
            <a:ext cx="7601100" cy="836712"/>
          </a:xfrm>
        </p:spPr>
        <p:txBody>
          <a:bodyPr vert="horz" lIns="180000" tIns="180000" rIns="0" bIns="0" rtlCol="0" anchor="t" anchorCtr="0">
            <a:noAutofit/>
          </a:bodyPr>
          <a:lstStyle/>
          <a:p>
            <a:r>
              <a:rPr lang="fr-FR" sz="1800" dirty="0"/>
              <a:t> 1. Calendrier </a:t>
            </a:r>
            <a:r>
              <a:rPr lang="fr-FR" sz="1800" dirty="0">
                <a:latin typeface="Arial" panose="020B0604020202020204" pitchFamily="34" charset="0"/>
              </a:rPr>
              <a:t>des versions de fiches</a:t>
            </a:r>
            <a:endParaRPr lang="fr-FR" sz="1800" dirty="0"/>
          </a:p>
        </p:txBody>
      </p:sp>
      <p:pic>
        <p:nvPicPr>
          <p:cNvPr id="4" name="Image 3">
            <a:extLst>
              <a:ext uri="{FF2B5EF4-FFF2-40B4-BE49-F238E27FC236}">
                <a16:creationId xmlns:a16="http://schemas.microsoft.com/office/drawing/2014/main" id="{AB3E0009-5AD0-CD44-CBB2-991E38CB050F}"/>
              </a:ext>
            </a:extLst>
          </p:cNvPr>
          <p:cNvPicPr>
            <a:picLocks noChangeAspect="1"/>
          </p:cNvPicPr>
          <p:nvPr/>
        </p:nvPicPr>
        <p:blipFill>
          <a:blip r:embed="rId2"/>
          <a:stretch>
            <a:fillRect/>
          </a:stretch>
        </p:blipFill>
        <p:spPr>
          <a:xfrm>
            <a:off x="0" y="1165837"/>
            <a:ext cx="9144000" cy="4526326"/>
          </a:xfrm>
          <a:prstGeom prst="rect">
            <a:avLst/>
          </a:prstGeom>
        </p:spPr>
      </p:pic>
    </p:spTree>
    <p:extLst>
      <p:ext uri="{BB962C8B-B14F-4D97-AF65-F5344CB8AC3E}">
        <p14:creationId xmlns:p14="http://schemas.microsoft.com/office/powerpoint/2010/main" val="944008371"/>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78C5-36D7-6B27-D6A9-70D24EF00511}"/>
            </a:ext>
          </a:extLst>
        </p:cNvPr>
        <p:cNvGrpSpPr/>
        <p:nvPr/>
      </p:nvGrpSpPr>
      <p:grpSpPr>
        <a:xfrm>
          <a:off x="0" y="0"/>
          <a:ext cx="0" cy="0"/>
          <a:chOff x="0" y="0"/>
          <a:chExt cx="0" cy="0"/>
        </a:xfrm>
      </p:grpSpPr>
      <p:sp>
        <p:nvSpPr>
          <p:cNvPr id="13" name="Titre 12">
            <a:extLst>
              <a:ext uri="{FF2B5EF4-FFF2-40B4-BE49-F238E27FC236}">
                <a16:creationId xmlns:a16="http://schemas.microsoft.com/office/drawing/2014/main" id="{D3DED2A6-0814-B7DB-8805-CFB5625C2876}"/>
              </a:ext>
            </a:extLst>
          </p:cNvPr>
          <p:cNvSpPr>
            <a:spLocks noGrp="1"/>
          </p:cNvSpPr>
          <p:nvPr>
            <p:ph type="ctrTitle"/>
          </p:nvPr>
        </p:nvSpPr>
        <p:spPr/>
        <p:txBody>
          <a:bodyPr/>
          <a:lstStyle/>
          <a:p>
            <a:r>
              <a:rPr lang="fr-FR" b="1" dirty="0"/>
              <a:t>Mise à jour des versions 139 et 140</a:t>
            </a:r>
            <a:br>
              <a:rPr lang="fr-FR" b="1" dirty="0"/>
            </a:br>
            <a:endParaRPr lang="fr-FR" b="1" dirty="0"/>
          </a:p>
        </p:txBody>
      </p:sp>
      <p:sp>
        <p:nvSpPr>
          <p:cNvPr id="6" name="Sous-titre 5">
            <a:extLst>
              <a:ext uri="{FF2B5EF4-FFF2-40B4-BE49-F238E27FC236}">
                <a16:creationId xmlns:a16="http://schemas.microsoft.com/office/drawing/2014/main" id="{1A0D06A0-27F8-B4AC-3C78-AFACB068D852}"/>
              </a:ext>
            </a:extLst>
          </p:cNvPr>
          <p:cNvSpPr>
            <a:spLocks noGrp="1"/>
          </p:cNvSpPr>
          <p:nvPr>
            <p:ph type="subTitle" idx="1"/>
          </p:nvPr>
        </p:nvSpPr>
        <p:spPr>
          <a:xfrm>
            <a:off x="683568" y="3501008"/>
            <a:ext cx="7935645" cy="2232248"/>
          </a:xfrm>
        </p:spPr>
        <p:txBody>
          <a:bodyPr vert="horz" lIns="180000" tIns="0" rIns="0" bIns="180000" rtlCol="0">
            <a:noAutofit/>
          </a:bodyPr>
          <a:lstStyle/>
          <a:p>
            <a:pPr marL="457200" lvl="1" indent="-457200" algn="l">
              <a:spcBef>
                <a:spcPts val="50"/>
              </a:spcBef>
              <a:buClr>
                <a:schemeClr val="tx1"/>
              </a:buClr>
              <a:buFont typeface="Wingdings" panose="05000000000000000000" pitchFamily="2" charset="2"/>
              <a:buChar char="§"/>
            </a:pPr>
            <a:r>
              <a:rPr lang="fr-FR" sz="1800" dirty="0">
                <a:latin typeface="Arial" panose="020B0604020202020204" pitchFamily="34" charset="0"/>
              </a:rPr>
              <a:t>Modification du contrôle sur les libellés des références contrat</a:t>
            </a:r>
          </a:p>
          <a:p>
            <a:pPr marL="457200" lvl="1" indent="-457200" algn="l">
              <a:spcBef>
                <a:spcPts val="50"/>
              </a:spcBef>
              <a:buClr>
                <a:schemeClr val="tx1"/>
              </a:buClr>
              <a:buFont typeface="Wingdings" panose="05000000000000000000" pitchFamily="2" charset="2"/>
              <a:buChar char="§"/>
            </a:pPr>
            <a:r>
              <a:rPr lang="fr-FR" sz="1800" dirty="0">
                <a:latin typeface="Arial" panose="020B0604020202020204" pitchFamily="34" charset="0"/>
              </a:rPr>
              <a:t>Ajout de conditions tarifaires et modification de contrôles </a:t>
            </a:r>
          </a:p>
        </p:txBody>
      </p:sp>
      <p:sp>
        <p:nvSpPr>
          <p:cNvPr id="5" name="Espace réservé du numéro de diapositive 4">
            <a:extLst>
              <a:ext uri="{FF2B5EF4-FFF2-40B4-BE49-F238E27FC236}">
                <a16:creationId xmlns:a16="http://schemas.microsoft.com/office/drawing/2014/main" id="{AA70DECB-23ED-169F-5FAA-8198F5A98894}"/>
              </a:ext>
            </a:extLst>
          </p:cNvPr>
          <p:cNvSpPr>
            <a:spLocks noGrp="1"/>
          </p:cNvSpPr>
          <p:nvPr>
            <p:ph type="sldNum" sz="quarter" idx="12"/>
          </p:nvPr>
        </p:nvSpPr>
        <p:spPr/>
        <p:txBody>
          <a:bodyPr/>
          <a:lstStyle/>
          <a:p>
            <a:fld id="{6C53AC0A-47EB-D843-AAE8-9061F973F010}" type="slidenum">
              <a:rPr lang="fr-FR" smtClean="0"/>
              <a:t>6</a:t>
            </a:fld>
            <a:endParaRPr lang="fr-FR"/>
          </a:p>
        </p:txBody>
      </p:sp>
      <p:sp>
        <p:nvSpPr>
          <p:cNvPr id="24" name="Espace réservé du contenu 23">
            <a:extLst>
              <a:ext uri="{FF2B5EF4-FFF2-40B4-BE49-F238E27FC236}">
                <a16:creationId xmlns:a16="http://schemas.microsoft.com/office/drawing/2014/main" id="{CE505210-8500-B636-F961-2B9BC999DB30}"/>
              </a:ext>
            </a:extLst>
          </p:cNvPr>
          <p:cNvSpPr>
            <a:spLocks noGrp="1"/>
          </p:cNvSpPr>
          <p:nvPr>
            <p:ph sz="quarter" idx="4294967295"/>
          </p:nvPr>
        </p:nvSpPr>
        <p:spPr>
          <a:xfrm>
            <a:off x="683568" y="441223"/>
            <a:ext cx="3113928" cy="383904"/>
          </a:xfrm>
        </p:spPr>
        <p:txBody>
          <a:bodyPr vert="horz" lIns="180000" tIns="0" rIns="0" bIns="180000" rtlCol="0">
            <a:noAutofit/>
          </a:bodyPr>
          <a:lstStyle/>
          <a:p>
            <a:r>
              <a:rPr lang="fr-FR" sz="2800" b="1" dirty="0">
                <a:solidFill>
                  <a:schemeClr val="accent5">
                    <a:lumMod val="75000"/>
                  </a:schemeClr>
                </a:solidFill>
              </a:rPr>
              <a:t>PARTIE 2</a:t>
            </a:r>
          </a:p>
        </p:txBody>
      </p:sp>
      <p:sp>
        <p:nvSpPr>
          <p:cNvPr id="2" name="Titre 1">
            <a:extLst>
              <a:ext uri="{FF2B5EF4-FFF2-40B4-BE49-F238E27FC236}">
                <a16:creationId xmlns:a16="http://schemas.microsoft.com/office/drawing/2014/main" id="{751127C7-E24A-4882-74A1-186BB5439DC7}"/>
              </a:ext>
            </a:extLst>
          </p:cNvPr>
          <p:cNvSpPr txBox="1">
            <a:spLocks/>
          </p:cNvSpPr>
          <p:nvPr/>
        </p:nvSpPr>
        <p:spPr>
          <a:xfrm>
            <a:off x="1253157" y="2564904"/>
            <a:ext cx="7056784" cy="1224136"/>
          </a:xfrm>
          <a:prstGeom prst="rect">
            <a:avLst/>
          </a:prstGeom>
        </p:spPr>
        <p:txBody>
          <a:bodyPr vert="horz" lIns="0" tIns="0" rIns="0" bIns="0" rtlCol="0" anchor="t" anchorCtr="0">
            <a:noAutofit/>
          </a:bodyPr>
          <a:lstStyle>
            <a:lvl1pPr algn="l" defTabSz="914400" rtl="0" eaLnBrk="1" latinLnBrk="0" hangingPunct="1">
              <a:spcBef>
                <a:spcPct val="0"/>
              </a:spcBef>
              <a:buNone/>
              <a:defRPr sz="2600" b="0" kern="1200" cap="none" spc="-30" baseline="0">
                <a:solidFill>
                  <a:schemeClr val="bg1"/>
                </a:solidFill>
                <a:latin typeface="+mj-lt"/>
                <a:ea typeface="+mj-ea"/>
                <a:cs typeface="+mj-cs"/>
              </a:defRPr>
            </a:lvl1pPr>
          </a:lstStyle>
          <a:p>
            <a:endParaRPr lang="fr-FR" sz="1600" dirty="0"/>
          </a:p>
        </p:txBody>
      </p:sp>
      <p:sp>
        <p:nvSpPr>
          <p:cNvPr id="3" name="ZoneTexte 2">
            <a:extLst>
              <a:ext uri="{FF2B5EF4-FFF2-40B4-BE49-F238E27FC236}">
                <a16:creationId xmlns:a16="http://schemas.microsoft.com/office/drawing/2014/main" id="{562A0738-E36C-6F63-878A-DB92EAE2A2F1}"/>
              </a:ext>
            </a:extLst>
          </p:cNvPr>
          <p:cNvSpPr txBox="1"/>
          <p:nvPr/>
        </p:nvSpPr>
        <p:spPr>
          <a:xfrm>
            <a:off x="395536" y="5197957"/>
            <a:ext cx="8372510" cy="661720"/>
          </a:xfrm>
          <a:prstGeom prst="rect">
            <a:avLst/>
          </a:prstGeom>
          <a:noFill/>
          <a:ln w="38100">
            <a:solidFill>
              <a:schemeClr val="tx1"/>
            </a:solidFill>
          </a:ln>
        </p:spPr>
        <p:txBody>
          <a:bodyPr wrap="square" rtlCol="0">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mn-cs"/>
              </a:rPr>
              <a:t>En Orange : les modifications intervenant dans le schéma de la fiche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mn-cs"/>
              </a:rPr>
              <a:t>En Bleu : les modifications des contrôles des concentrateurs à réception des fiches</a:t>
            </a:r>
          </a:p>
        </p:txBody>
      </p:sp>
    </p:spTree>
    <p:extLst>
      <p:ext uri="{BB962C8B-B14F-4D97-AF65-F5344CB8AC3E}">
        <p14:creationId xmlns:p14="http://schemas.microsoft.com/office/powerpoint/2010/main" val="226352639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5FE26-6B88-55B6-5777-51B2792B3EFC}"/>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9D03A319-9A78-2D84-0D73-F15C13862146}"/>
              </a:ext>
            </a:extLst>
          </p:cNvPr>
          <p:cNvSpPr>
            <a:spLocks noGrp="1"/>
          </p:cNvSpPr>
          <p:nvPr>
            <p:ph type="sldNum" sz="quarter" idx="12"/>
          </p:nvPr>
        </p:nvSpPr>
        <p:spPr/>
        <p:txBody>
          <a:bodyPr/>
          <a:lstStyle/>
          <a:p>
            <a:fld id="{6C53AC0A-47EB-D843-AAE8-9061F973F010}" type="slidenum">
              <a:rPr lang="fr-FR" smtClean="0"/>
              <a:t>7</a:t>
            </a:fld>
            <a:endParaRPr lang="fr-FR"/>
          </a:p>
        </p:txBody>
      </p:sp>
      <p:sp>
        <p:nvSpPr>
          <p:cNvPr id="9" name="Espace réservé du contenu 2">
            <a:extLst>
              <a:ext uri="{FF2B5EF4-FFF2-40B4-BE49-F238E27FC236}">
                <a16:creationId xmlns:a16="http://schemas.microsoft.com/office/drawing/2014/main" id="{5CCBCA89-3ECD-932C-1F51-0735DC2FFB0A}"/>
              </a:ext>
            </a:extLst>
          </p:cNvPr>
          <p:cNvSpPr>
            <a:spLocks noGrp="1"/>
          </p:cNvSpPr>
          <p:nvPr>
            <p:ph idx="1"/>
          </p:nvPr>
        </p:nvSpPr>
        <p:spPr>
          <a:xfrm>
            <a:off x="611560" y="908720"/>
            <a:ext cx="8030821" cy="4752528"/>
          </a:xfrm>
        </p:spPr>
        <p:txBody>
          <a:bodyPr/>
          <a:lstStyle/>
          <a:p>
            <a:r>
              <a:rPr lang="fr-FR" sz="1600" dirty="0">
                <a:latin typeface="+mn-lt"/>
                <a:cs typeface="Times New Roman" panose="02020603050405020304" pitchFamily="18" charset="0"/>
              </a:rPr>
              <a:t>Actuellement, en version 139 et 140, un contrôle externe au schéma vise à interdire que des libellés distincts soient associés à une même référence contrat </a:t>
            </a:r>
            <a:r>
              <a:rPr lang="fr-FR" sz="1600" dirty="0">
                <a:cs typeface="Times New Roman" panose="02020603050405020304" pitchFamily="18" charset="0"/>
              </a:rPr>
              <a:t>au sein d’un même groupe de contrats</a:t>
            </a:r>
            <a:r>
              <a:rPr lang="fr-FR" sz="1600" dirty="0">
                <a:latin typeface="+mn-lt"/>
                <a:cs typeface="Times New Roman" panose="02020603050405020304" pitchFamily="18" charset="0"/>
              </a:rPr>
              <a:t>.</a:t>
            </a:r>
          </a:p>
          <a:p>
            <a:endParaRPr lang="fr-FR" sz="1600" dirty="0">
              <a:latin typeface="+mn-lt"/>
              <a:cs typeface="Times New Roman" panose="02020603050405020304" pitchFamily="18" charset="0"/>
            </a:endParaRPr>
          </a:p>
          <a:p>
            <a:r>
              <a:rPr lang="fr-FR" sz="1600" u="sng" dirty="0">
                <a:solidFill>
                  <a:schemeClr val="accent6"/>
                </a:solidFill>
                <a:latin typeface="+mn-lt"/>
                <a:cs typeface="Times New Roman" panose="02020603050405020304" pitchFamily="18" charset="0"/>
              </a:rPr>
              <a:t>Actuellement en version 139 et 140 :</a:t>
            </a:r>
            <a:r>
              <a:rPr lang="fr-FR" sz="1600" dirty="0">
                <a:solidFill>
                  <a:schemeClr val="accent6"/>
                </a:solidFill>
                <a:latin typeface="+mn-lt"/>
                <a:cs typeface="Times New Roman" panose="02020603050405020304" pitchFamily="18" charset="0"/>
              </a:rPr>
              <a:t> </a:t>
            </a:r>
          </a:p>
          <a:p>
            <a:r>
              <a:rPr lang="fr-FR" sz="1600" b="1" dirty="0">
                <a:solidFill>
                  <a:schemeClr val="accent6"/>
                </a:solidFill>
                <a:latin typeface="+mn-lt"/>
                <a:cs typeface="Times New Roman" panose="02020603050405020304" pitchFamily="18" charset="0"/>
              </a:rPr>
              <a:t>OC.35 LIB CONTRAT : Interdiction d’utiliser des « </a:t>
            </a:r>
            <a:r>
              <a:rPr lang="fr-FR" sz="1600" b="1" dirty="0" err="1">
                <a:solidFill>
                  <a:schemeClr val="accent6"/>
                </a:solidFill>
                <a:latin typeface="+mn-lt"/>
                <a:cs typeface="Times New Roman" panose="02020603050405020304" pitchFamily="18" charset="0"/>
              </a:rPr>
              <a:t>LibelleContrat</a:t>
            </a:r>
            <a:r>
              <a:rPr lang="fr-FR" sz="1600" b="1" dirty="0">
                <a:solidFill>
                  <a:schemeClr val="accent6"/>
                </a:solidFill>
                <a:latin typeface="+mn-lt"/>
                <a:cs typeface="Times New Roman" panose="02020603050405020304" pitchFamily="18" charset="0"/>
              </a:rPr>
              <a:t> » distincts pour une même « </a:t>
            </a:r>
            <a:r>
              <a:rPr lang="fr-FR" sz="1600" b="1" dirty="0" err="1">
                <a:solidFill>
                  <a:schemeClr val="accent6"/>
                </a:solidFill>
                <a:latin typeface="+mn-lt"/>
                <a:cs typeface="Times New Roman" panose="02020603050405020304" pitchFamily="18" charset="0"/>
              </a:rPr>
              <a:t>ReferenceContrat</a:t>
            </a:r>
            <a:r>
              <a:rPr lang="fr-FR" sz="1600" b="1" dirty="0">
                <a:solidFill>
                  <a:schemeClr val="accent6"/>
                </a:solidFill>
                <a:latin typeface="+mn-lt"/>
                <a:cs typeface="Times New Roman" panose="02020603050405020304" pitchFamily="18" charset="0"/>
              </a:rPr>
              <a:t> » au sein d’un même groupe de la fiche.</a:t>
            </a:r>
          </a:p>
          <a:p>
            <a:pPr>
              <a:spcBef>
                <a:spcPts val="1800"/>
              </a:spcBef>
            </a:pPr>
            <a:r>
              <a:rPr lang="fr-FR" sz="1600" dirty="0">
                <a:latin typeface="+mn-lt"/>
                <a:cs typeface="Times New Roman" panose="02020603050405020304" pitchFamily="18" charset="0"/>
              </a:rPr>
              <a:t>Actuellement ce contrôle pose un problème à plusieurs producteurs de fiches, lorsque ceux-ci utilisent des dénominations commerciales au niveau des libellés de leurs références contrat.</a:t>
            </a:r>
          </a:p>
          <a:p>
            <a:pPr>
              <a:spcBef>
                <a:spcPts val="1200"/>
              </a:spcBef>
              <a:spcAft>
                <a:spcPts val="600"/>
              </a:spcAft>
            </a:pPr>
            <a:r>
              <a:rPr lang="fr-FR" sz="1600" dirty="0">
                <a:latin typeface="+mn-lt"/>
                <a:cs typeface="Times New Roman" panose="02020603050405020304" pitchFamily="18" charset="0"/>
              </a:rPr>
              <a:t>Exemple : </a:t>
            </a:r>
          </a:p>
          <a:p>
            <a:pPr marL="285750" indent="-285750">
              <a:spcBef>
                <a:spcPts val="600"/>
              </a:spcBef>
              <a:buFontTx/>
              <a:buChar char="-"/>
            </a:pPr>
            <a:r>
              <a:rPr lang="fr-FR" sz="1600" dirty="0">
                <a:latin typeface="+mn-lt"/>
                <a:cs typeface="Times New Roman" panose="02020603050405020304" pitchFamily="18" charset="0"/>
              </a:rPr>
              <a:t>Groupe de contrats </a:t>
            </a:r>
            <a:r>
              <a:rPr lang="fr-FR" sz="1600" b="1" dirty="0">
                <a:latin typeface="+mn-lt"/>
                <a:cs typeface="Times New Roman" panose="02020603050405020304" pitchFamily="18" charset="0"/>
              </a:rPr>
              <a:t>NON CADRE </a:t>
            </a:r>
            <a:r>
              <a:rPr lang="fr-FR" sz="1600" dirty="0">
                <a:latin typeface="+mn-lt"/>
                <a:cs typeface="Times New Roman" panose="02020603050405020304" pitchFamily="18" charset="0"/>
              </a:rPr>
              <a:t>:</a:t>
            </a:r>
          </a:p>
          <a:p>
            <a:pPr marL="645750" lvl="2" indent="-285750">
              <a:spcBef>
                <a:spcPts val="600"/>
              </a:spcBef>
              <a:buFont typeface="Wingdings" panose="05000000000000000000" pitchFamily="2" charset="2"/>
              <a:buChar char="§"/>
            </a:pPr>
            <a:r>
              <a:rPr lang="fr-FR" sz="1600" b="0" dirty="0">
                <a:latin typeface="+mn-lt"/>
                <a:cs typeface="Times New Roman" panose="02020603050405020304" pitchFamily="18" charset="0"/>
              </a:rPr>
              <a:t>Période de validité : </a:t>
            </a:r>
            <a:r>
              <a:rPr lang="fr-FR" sz="1600" dirty="0">
                <a:latin typeface="+mn-lt"/>
                <a:cs typeface="Times New Roman" panose="02020603050405020304" pitchFamily="18" charset="0"/>
              </a:rPr>
              <a:t>2026  </a:t>
            </a:r>
            <a:r>
              <a:rPr lang="fr-FR" sz="1600" b="0" dirty="0">
                <a:latin typeface="+mn-lt"/>
                <a:cs typeface="Times New Roman" panose="02020603050405020304" pitchFamily="18" charset="0"/>
              </a:rPr>
              <a:t>Référence contrat</a:t>
            </a:r>
            <a:r>
              <a:rPr lang="fr-FR" sz="1600" dirty="0">
                <a:latin typeface="+mn-lt"/>
                <a:cs typeface="Times New Roman" panose="02020603050405020304" pitchFamily="18" charset="0"/>
              </a:rPr>
              <a:t> C1 </a:t>
            </a:r>
            <a:r>
              <a:rPr lang="fr-FR" sz="1600" b="0" dirty="0">
                <a:latin typeface="+mn-lt"/>
                <a:cs typeface="Times New Roman" panose="02020603050405020304" pitchFamily="18" charset="0"/>
              </a:rPr>
              <a:t>Libellé </a:t>
            </a:r>
            <a:r>
              <a:rPr lang="fr-FR" sz="1600" dirty="0">
                <a:latin typeface="+mn-lt"/>
                <a:cs typeface="Times New Roman" panose="02020603050405020304" pitchFamily="18" charset="0"/>
              </a:rPr>
              <a:t>Contrat 1 Méga</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2027  </a:t>
            </a:r>
            <a:r>
              <a:rPr lang="fr-FR" sz="1600" b="0" dirty="0">
                <a:cs typeface="Times New Roman" panose="02020603050405020304" pitchFamily="18" charset="0"/>
              </a:rPr>
              <a:t>Référence contrat</a:t>
            </a:r>
            <a:r>
              <a:rPr lang="fr-FR" sz="1600" dirty="0">
                <a:cs typeface="Times New Roman" panose="02020603050405020304" pitchFamily="18" charset="0"/>
              </a:rPr>
              <a:t> C1 </a:t>
            </a:r>
            <a:r>
              <a:rPr lang="fr-FR" sz="1600" b="0" dirty="0">
                <a:cs typeface="Times New Roman" panose="02020603050405020304" pitchFamily="18" charset="0"/>
              </a:rPr>
              <a:t>Libellé </a:t>
            </a:r>
            <a:r>
              <a:rPr lang="fr-FR" sz="1600" dirty="0">
                <a:cs typeface="Times New Roman" panose="02020603050405020304" pitchFamily="18" charset="0"/>
              </a:rPr>
              <a:t>Contrat 1 Giga</a:t>
            </a:r>
          </a:p>
          <a:p>
            <a:pPr marL="285750" indent="-285750">
              <a:spcBef>
                <a:spcPts val="1200"/>
              </a:spcBef>
              <a:buFontTx/>
              <a:buChar char="-"/>
            </a:pPr>
            <a:r>
              <a:rPr lang="fr-FR" sz="1600" dirty="0">
                <a:cs typeface="Times New Roman" panose="02020603050405020304" pitchFamily="18" charset="0"/>
              </a:rPr>
              <a:t>Groupe de contrats </a:t>
            </a:r>
            <a:r>
              <a:rPr lang="fr-FR" sz="1600" b="1" dirty="0">
                <a:cs typeface="Times New Roman" panose="02020603050405020304" pitchFamily="18" charset="0"/>
              </a:rPr>
              <a:t>CADRE</a:t>
            </a:r>
            <a:r>
              <a:rPr lang="fr-FR" sz="1600" dirty="0">
                <a:cs typeface="Times New Roman" panose="02020603050405020304" pitchFamily="18" charset="0"/>
              </a:rPr>
              <a:t> :</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2026  </a:t>
            </a:r>
            <a:r>
              <a:rPr lang="fr-FR" sz="1600" b="0" dirty="0">
                <a:cs typeface="Times New Roman" panose="02020603050405020304" pitchFamily="18" charset="0"/>
              </a:rPr>
              <a:t>Référence contrat</a:t>
            </a:r>
            <a:r>
              <a:rPr lang="fr-FR" sz="1600" dirty="0">
                <a:cs typeface="Times New Roman" panose="02020603050405020304" pitchFamily="18" charset="0"/>
              </a:rPr>
              <a:t> C2 </a:t>
            </a:r>
            <a:r>
              <a:rPr lang="fr-FR" sz="1600" b="0" dirty="0">
                <a:cs typeface="Times New Roman" panose="02020603050405020304" pitchFamily="18" charset="0"/>
              </a:rPr>
              <a:t>Libellé </a:t>
            </a:r>
            <a:r>
              <a:rPr lang="fr-FR" sz="1600" dirty="0">
                <a:cs typeface="Times New Roman" panose="02020603050405020304" pitchFamily="18" charset="0"/>
              </a:rPr>
              <a:t>Contrat 2 Méga</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2027  </a:t>
            </a:r>
            <a:r>
              <a:rPr lang="fr-FR" sz="1600" b="0" dirty="0">
                <a:cs typeface="Times New Roman" panose="02020603050405020304" pitchFamily="18" charset="0"/>
              </a:rPr>
              <a:t>Référence contrat</a:t>
            </a:r>
            <a:r>
              <a:rPr lang="fr-FR" sz="1600" dirty="0">
                <a:cs typeface="Times New Roman" panose="02020603050405020304" pitchFamily="18" charset="0"/>
              </a:rPr>
              <a:t> C2 </a:t>
            </a:r>
            <a:r>
              <a:rPr lang="fr-FR" sz="1600" b="0" dirty="0">
                <a:cs typeface="Times New Roman" panose="02020603050405020304" pitchFamily="18" charset="0"/>
              </a:rPr>
              <a:t>Libellé </a:t>
            </a:r>
            <a:r>
              <a:rPr lang="fr-FR" sz="1600" dirty="0">
                <a:cs typeface="Times New Roman" panose="02020603050405020304" pitchFamily="18" charset="0"/>
              </a:rPr>
              <a:t>Contrat 2 Giga</a:t>
            </a:r>
            <a:endParaRPr lang="fr-FR" sz="1600" b="0" dirty="0">
              <a:cs typeface="Times New Roman" panose="02020603050405020304" pitchFamily="18" charset="0"/>
            </a:endParaRPr>
          </a:p>
          <a:p>
            <a:pPr marL="0" lvl="2" indent="0">
              <a:spcBef>
                <a:spcPts val="600"/>
              </a:spcBef>
              <a:buNone/>
            </a:pPr>
            <a:endParaRPr lang="fr-FR" sz="1600" b="0" dirty="0">
              <a:cs typeface="Times New Roman" panose="02020603050405020304" pitchFamily="18" charset="0"/>
            </a:endParaRPr>
          </a:p>
        </p:txBody>
      </p:sp>
      <p:sp>
        <p:nvSpPr>
          <p:cNvPr id="3" name="Titre 1">
            <a:extLst>
              <a:ext uri="{FF2B5EF4-FFF2-40B4-BE49-F238E27FC236}">
                <a16:creationId xmlns:a16="http://schemas.microsoft.com/office/drawing/2014/main" id="{5A984201-8ED5-D78A-AB3E-519DC939233D}"/>
              </a:ext>
            </a:extLst>
          </p:cNvPr>
          <p:cNvSpPr txBox="1">
            <a:spLocks/>
          </p:cNvSpPr>
          <p:nvPr/>
        </p:nvSpPr>
        <p:spPr>
          <a:xfrm>
            <a:off x="755576" y="1"/>
            <a:ext cx="8334174"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Modification du contrôle sur les libellés des références contrat</a:t>
            </a:r>
          </a:p>
        </p:txBody>
      </p:sp>
    </p:spTree>
    <p:extLst>
      <p:ext uri="{BB962C8B-B14F-4D97-AF65-F5344CB8AC3E}">
        <p14:creationId xmlns:p14="http://schemas.microsoft.com/office/powerpoint/2010/main" val="3579422734"/>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AC56-11F9-137C-6274-BFB5DE972270}"/>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C925C479-272C-EBCF-BA7D-6AE112B3801C}"/>
              </a:ext>
            </a:extLst>
          </p:cNvPr>
          <p:cNvSpPr>
            <a:spLocks noGrp="1"/>
          </p:cNvSpPr>
          <p:nvPr>
            <p:ph type="sldNum" sz="quarter" idx="12"/>
          </p:nvPr>
        </p:nvSpPr>
        <p:spPr/>
        <p:txBody>
          <a:bodyPr/>
          <a:lstStyle/>
          <a:p>
            <a:fld id="{6C53AC0A-47EB-D843-AAE8-9061F973F010}" type="slidenum">
              <a:rPr lang="fr-FR" smtClean="0"/>
              <a:t>8</a:t>
            </a:fld>
            <a:endParaRPr lang="fr-FR"/>
          </a:p>
        </p:txBody>
      </p:sp>
      <p:sp>
        <p:nvSpPr>
          <p:cNvPr id="9" name="Espace réservé du contenu 2">
            <a:extLst>
              <a:ext uri="{FF2B5EF4-FFF2-40B4-BE49-F238E27FC236}">
                <a16:creationId xmlns:a16="http://schemas.microsoft.com/office/drawing/2014/main" id="{5565C5F7-89C1-C2B2-C8FD-C41DDE8F74E8}"/>
              </a:ext>
            </a:extLst>
          </p:cNvPr>
          <p:cNvSpPr>
            <a:spLocks noGrp="1"/>
          </p:cNvSpPr>
          <p:nvPr>
            <p:ph idx="1"/>
          </p:nvPr>
        </p:nvSpPr>
        <p:spPr>
          <a:xfrm>
            <a:off x="611560" y="908720"/>
            <a:ext cx="8030821" cy="4752528"/>
          </a:xfrm>
        </p:spPr>
        <p:txBody>
          <a:bodyPr/>
          <a:lstStyle/>
          <a:p>
            <a:r>
              <a:rPr lang="fr-FR" sz="1600" dirty="0">
                <a:latin typeface="+mn-lt"/>
                <a:cs typeface="Times New Roman" panose="02020603050405020304" pitchFamily="18" charset="0"/>
              </a:rPr>
              <a:t>Une solution de contournement, dont les conséquences au regard des dates de validité du contrat sont à étudier, pourrait éventuellement consister à créer des groupes de contrat par exercice </a:t>
            </a:r>
          </a:p>
          <a:p>
            <a:pPr>
              <a:spcBef>
                <a:spcPts val="1200"/>
              </a:spcBef>
              <a:spcAft>
                <a:spcPts val="600"/>
              </a:spcAft>
            </a:pPr>
            <a:r>
              <a:rPr lang="fr-FR" sz="1600" dirty="0">
                <a:latin typeface="+mn-lt"/>
                <a:cs typeface="Times New Roman" panose="02020603050405020304" pitchFamily="18" charset="0"/>
              </a:rPr>
              <a:t>Exemple : </a:t>
            </a:r>
          </a:p>
          <a:p>
            <a:pPr marL="285750" indent="-285750">
              <a:spcBef>
                <a:spcPts val="600"/>
              </a:spcBef>
              <a:buFontTx/>
              <a:buChar char="-"/>
            </a:pPr>
            <a:r>
              <a:rPr lang="fr-FR" sz="1600" dirty="0">
                <a:latin typeface="+mn-lt"/>
                <a:cs typeface="Times New Roman" panose="02020603050405020304" pitchFamily="18" charset="0"/>
              </a:rPr>
              <a:t>Groupe de contrats </a:t>
            </a:r>
            <a:r>
              <a:rPr lang="fr-FR" sz="1600" b="1" dirty="0">
                <a:latin typeface="+mn-lt"/>
                <a:cs typeface="Times New Roman" panose="02020603050405020304" pitchFamily="18" charset="0"/>
              </a:rPr>
              <a:t>NON CADRE </a:t>
            </a:r>
            <a:r>
              <a:rPr lang="fr-FR" sz="1600" b="1" dirty="0">
                <a:solidFill>
                  <a:srgbClr val="00B050"/>
                </a:solidFill>
                <a:latin typeface="+mn-lt"/>
                <a:cs typeface="Times New Roman" panose="02020603050405020304" pitchFamily="18" charset="0"/>
              </a:rPr>
              <a:t>2026</a:t>
            </a:r>
            <a:r>
              <a:rPr lang="fr-FR" sz="1600" b="1" dirty="0">
                <a:latin typeface="+mn-lt"/>
                <a:cs typeface="Times New Roman" panose="02020603050405020304" pitchFamily="18" charset="0"/>
              </a:rPr>
              <a:t> </a:t>
            </a:r>
            <a:r>
              <a:rPr lang="fr-FR" sz="1600" dirty="0">
                <a:latin typeface="+mn-lt"/>
                <a:cs typeface="Times New Roman" panose="02020603050405020304" pitchFamily="18" charset="0"/>
              </a:rPr>
              <a:t>:</a:t>
            </a:r>
          </a:p>
          <a:p>
            <a:pPr marL="645750" lvl="2" indent="-285750">
              <a:spcBef>
                <a:spcPts val="600"/>
              </a:spcBef>
              <a:buFont typeface="Wingdings" panose="05000000000000000000" pitchFamily="2" charset="2"/>
              <a:buChar char="§"/>
            </a:pPr>
            <a:r>
              <a:rPr lang="fr-FR" sz="1600" b="0" dirty="0">
                <a:latin typeface="+mn-lt"/>
                <a:cs typeface="Times New Roman" panose="02020603050405020304" pitchFamily="18" charset="0"/>
              </a:rPr>
              <a:t>Période de validité : </a:t>
            </a:r>
            <a:r>
              <a:rPr lang="fr-FR" sz="1600" dirty="0">
                <a:latin typeface="+mn-lt"/>
                <a:cs typeface="Times New Roman" panose="02020603050405020304" pitchFamily="18" charset="0"/>
              </a:rPr>
              <a:t>2026  </a:t>
            </a:r>
            <a:r>
              <a:rPr lang="fr-FR" sz="1600" b="0" dirty="0">
                <a:latin typeface="+mn-lt"/>
                <a:cs typeface="Times New Roman" panose="02020603050405020304" pitchFamily="18" charset="0"/>
              </a:rPr>
              <a:t>Référence contrat</a:t>
            </a:r>
            <a:r>
              <a:rPr lang="fr-FR" sz="1600" dirty="0">
                <a:latin typeface="+mn-lt"/>
                <a:cs typeface="Times New Roman" panose="02020603050405020304" pitchFamily="18" charset="0"/>
              </a:rPr>
              <a:t> C1 </a:t>
            </a:r>
            <a:r>
              <a:rPr lang="fr-FR" sz="1600" b="0" dirty="0">
                <a:latin typeface="+mn-lt"/>
                <a:cs typeface="Times New Roman" panose="02020603050405020304" pitchFamily="18" charset="0"/>
              </a:rPr>
              <a:t>Libellé </a:t>
            </a:r>
            <a:r>
              <a:rPr lang="fr-FR" sz="1600" dirty="0">
                <a:latin typeface="+mn-lt"/>
                <a:cs typeface="Times New Roman" panose="02020603050405020304" pitchFamily="18" charset="0"/>
              </a:rPr>
              <a:t>Contrat 1 Méga</a:t>
            </a:r>
          </a:p>
          <a:p>
            <a:pPr marL="285750" indent="-285750">
              <a:spcBef>
                <a:spcPts val="1200"/>
              </a:spcBef>
              <a:buFontTx/>
              <a:buChar char="-"/>
            </a:pPr>
            <a:r>
              <a:rPr lang="fr-FR" sz="1600" dirty="0">
                <a:cs typeface="Times New Roman" panose="02020603050405020304" pitchFamily="18" charset="0"/>
              </a:rPr>
              <a:t>Groupe de contrats </a:t>
            </a:r>
            <a:r>
              <a:rPr lang="fr-FR" sz="1600" b="1" dirty="0">
                <a:cs typeface="Times New Roman" panose="02020603050405020304" pitchFamily="18" charset="0"/>
              </a:rPr>
              <a:t>CADRE</a:t>
            </a:r>
            <a:r>
              <a:rPr lang="fr-FR" sz="1600" dirty="0">
                <a:cs typeface="Times New Roman" panose="02020603050405020304" pitchFamily="18" charset="0"/>
              </a:rPr>
              <a:t> </a:t>
            </a:r>
            <a:r>
              <a:rPr lang="fr-FR" sz="1600" b="1" dirty="0">
                <a:solidFill>
                  <a:srgbClr val="00B050"/>
                </a:solidFill>
                <a:cs typeface="Times New Roman" panose="02020603050405020304" pitchFamily="18" charset="0"/>
              </a:rPr>
              <a:t>2026</a:t>
            </a:r>
            <a:r>
              <a:rPr lang="fr-FR" sz="1600" dirty="0">
                <a:cs typeface="Times New Roman" panose="02020603050405020304" pitchFamily="18" charset="0"/>
              </a:rPr>
              <a:t> :</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2026  </a:t>
            </a:r>
            <a:r>
              <a:rPr lang="fr-FR" sz="1600" b="0" dirty="0">
                <a:cs typeface="Times New Roman" panose="02020603050405020304" pitchFamily="18" charset="0"/>
              </a:rPr>
              <a:t>Référence contrat</a:t>
            </a:r>
            <a:r>
              <a:rPr lang="fr-FR" sz="1600" dirty="0">
                <a:cs typeface="Times New Roman" panose="02020603050405020304" pitchFamily="18" charset="0"/>
              </a:rPr>
              <a:t> C2 </a:t>
            </a:r>
            <a:r>
              <a:rPr lang="fr-FR" sz="1600" b="0" dirty="0">
                <a:cs typeface="Times New Roman" panose="02020603050405020304" pitchFamily="18" charset="0"/>
              </a:rPr>
              <a:t>Libellé </a:t>
            </a:r>
            <a:r>
              <a:rPr lang="fr-FR" sz="1600" dirty="0">
                <a:cs typeface="Times New Roman" panose="02020603050405020304" pitchFamily="18" charset="0"/>
              </a:rPr>
              <a:t>Contrat 2 Méga</a:t>
            </a:r>
          </a:p>
          <a:p>
            <a:pPr marL="285750" indent="-285750">
              <a:spcBef>
                <a:spcPts val="1200"/>
              </a:spcBef>
              <a:buFontTx/>
              <a:buChar char="-"/>
            </a:pPr>
            <a:r>
              <a:rPr lang="fr-FR" sz="1600" dirty="0">
                <a:cs typeface="Times New Roman" panose="02020603050405020304" pitchFamily="18" charset="0"/>
              </a:rPr>
              <a:t>Groupe de contrats </a:t>
            </a:r>
            <a:r>
              <a:rPr lang="fr-FR" sz="1600" b="1" dirty="0">
                <a:cs typeface="Times New Roman" panose="02020603050405020304" pitchFamily="18" charset="0"/>
              </a:rPr>
              <a:t>NON CADRE </a:t>
            </a:r>
            <a:r>
              <a:rPr lang="fr-FR" sz="1600" b="1" dirty="0">
                <a:solidFill>
                  <a:srgbClr val="00B050"/>
                </a:solidFill>
                <a:cs typeface="Times New Roman" panose="02020603050405020304" pitchFamily="18" charset="0"/>
              </a:rPr>
              <a:t>2027</a:t>
            </a:r>
            <a:r>
              <a:rPr lang="fr-FR" sz="1600" b="1" dirty="0">
                <a:cs typeface="Times New Roman" panose="02020603050405020304" pitchFamily="18" charset="0"/>
              </a:rPr>
              <a:t> </a:t>
            </a:r>
            <a:r>
              <a:rPr lang="fr-FR" sz="1600" dirty="0">
                <a:cs typeface="Times New Roman" panose="02020603050405020304" pitchFamily="18" charset="0"/>
              </a:rPr>
              <a:t>:</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2027  </a:t>
            </a:r>
            <a:r>
              <a:rPr lang="fr-FR" sz="1600" b="0" dirty="0">
                <a:cs typeface="Times New Roman" panose="02020603050405020304" pitchFamily="18" charset="0"/>
              </a:rPr>
              <a:t>Référence contrat</a:t>
            </a:r>
            <a:r>
              <a:rPr lang="fr-FR" sz="1600" dirty="0">
                <a:cs typeface="Times New Roman" panose="02020603050405020304" pitchFamily="18" charset="0"/>
              </a:rPr>
              <a:t> C1 </a:t>
            </a:r>
            <a:r>
              <a:rPr lang="fr-FR" sz="1600" b="0" dirty="0">
                <a:cs typeface="Times New Roman" panose="02020603050405020304" pitchFamily="18" charset="0"/>
              </a:rPr>
              <a:t>Libellé </a:t>
            </a:r>
            <a:r>
              <a:rPr lang="fr-FR" sz="1600" dirty="0">
                <a:cs typeface="Times New Roman" panose="02020603050405020304" pitchFamily="18" charset="0"/>
              </a:rPr>
              <a:t>Contrat 1 Giga</a:t>
            </a:r>
          </a:p>
          <a:p>
            <a:pPr marL="285750" indent="-285750">
              <a:spcBef>
                <a:spcPts val="1200"/>
              </a:spcBef>
              <a:buFontTx/>
              <a:buChar char="-"/>
            </a:pPr>
            <a:r>
              <a:rPr lang="fr-FR" sz="1600" dirty="0">
                <a:cs typeface="Times New Roman" panose="02020603050405020304" pitchFamily="18" charset="0"/>
              </a:rPr>
              <a:t>Groupe de contrats </a:t>
            </a:r>
            <a:r>
              <a:rPr lang="fr-FR" sz="1600" b="1" dirty="0">
                <a:cs typeface="Times New Roman" panose="02020603050405020304" pitchFamily="18" charset="0"/>
              </a:rPr>
              <a:t>CADRE</a:t>
            </a:r>
            <a:r>
              <a:rPr lang="fr-FR" sz="1600" dirty="0">
                <a:cs typeface="Times New Roman" panose="02020603050405020304" pitchFamily="18" charset="0"/>
              </a:rPr>
              <a:t> </a:t>
            </a:r>
            <a:r>
              <a:rPr lang="fr-FR" sz="1600" b="1" dirty="0">
                <a:solidFill>
                  <a:srgbClr val="00B050"/>
                </a:solidFill>
                <a:cs typeface="Times New Roman" panose="02020603050405020304" pitchFamily="18" charset="0"/>
              </a:rPr>
              <a:t>2027</a:t>
            </a:r>
            <a:r>
              <a:rPr lang="fr-FR" sz="1600" dirty="0">
                <a:cs typeface="Times New Roman" panose="02020603050405020304" pitchFamily="18" charset="0"/>
              </a:rPr>
              <a:t> :</a:t>
            </a:r>
          </a:p>
          <a:p>
            <a:pPr marL="645750" lvl="2" indent="-285750">
              <a:spcBef>
                <a:spcPts val="600"/>
              </a:spcBef>
              <a:buFont typeface="Wingdings" panose="05000000000000000000" pitchFamily="2" charset="2"/>
              <a:buChar char="§"/>
            </a:pPr>
            <a:r>
              <a:rPr lang="fr-FR" sz="1600" b="0" dirty="0">
                <a:cs typeface="Times New Roman" panose="02020603050405020304" pitchFamily="18" charset="0"/>
              </a:rPr>
              <a:t>Période de validité : </a:t>
            </a:r>
            <a:r>
              <a:rPr lang="fr-FR" sz="1600" dirty="0">
                <a:cs typeface="Times New Roman" panose="02020603050405020304" pitchFamily="18" charset="0"/>
              </a:rPr>
              <a:t>2027  </a:t>
            </a:r>
            <a:r>
              <a:rPr lang="fr-FR" sz="1600" b="0" dirty="0">
                <a:cs typeface="Times New Roman" panose="02020603050405020304" pitchFamily="18" charset="0"/>
              </a:rPr>
              <a:t>Référence contrat</a:t>
            </a:r>
            <a:r>
              <a:rPr lang="fr-FR" sz="1600" dirty="0">
                <a:cs typeface="Times New Roman" panose="02020603050405020304" pitchFamily="18" charset="0"/>
              </a:rPr>
              <a:t> C2 </a:t>
            </a:r>
            <a:r>
              <a:rPr lang="fr-FR" sz="1600" b="0" dirty="0">
                <a:cs typeface="Times New Roman" panose="02020603050405020304" pitchFamily="18" charset="0"/>
              </a:rPr>
              <a:t>Libellé </a:t>
            </a:r>
            <a:r>
              <a:rPr lang="fr-FR" sz="1600" dirty="0">
                <a:cs typeface="Times New Roman" panose="02020603050405020304" pitchFamily="18" charset="0"/>
              </a:rPr>
              <a:t>Contrat 2 Giga</a:t>
            </a:r>
            <a:endParaRPr lang="fr-FR" sz="1600" b="0" dirty="0">
              <a:cs typeface="Times New Roman" panose="02020603050405020304" pitchFamily="18" charset="0"/>
            </a:endParaRPr>
          </a:p>
          <a:p>
            <a:pPr marL="0" lvl="2" indent="0">
              <a:spcBef>
                <a:spcPts val="600"/>
              </a:spcBef>
              <a:buNone/>
            </a:pPr>
            <a:endParaRPr lang="fr-FR" sz="1600" b="0" dirty="0">
              <a:cs typeface="Times New Roman" panose="02020603050405020304" pitchFamily="18" charset="0"/>
            </a:endParaRPr>
          </a:p>
        </p:txBody>
      </p:sp>
      <p:sp>
        <p:nvSpPr>
          <p:cNvPr id="3" name="Titre 1">
            <a:extLst>
              <a:ext uri="{FF2B5EF4-FFF2-40B4-BE49-F238E27FC236}">
                <a16:creationId xmlns:a16="http://schemas.microsoft.com/office/drawing/2014/main" id="{F26C2774-5C96-C198-C8CC-C4E3A637F381}"/>
              </a:ext>
            </a:extLst>
          </p:cNvPr>
          <p:cNvSpPr txBox="1">
            <a:spLocks/>
          </p:cNvSpPr>
          <p:nvPr/>
        </p:nvSpPr>
        <p:spPr>
          <a:xfrm>
            <a:off x="755576" y="1"/>
            <a:ext cx="8334174"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Modification du contrôle sur les libellés des références contrat</a:t>
            </a:r>
          </a:p>
        </p:txBody>
      </p:sp>
    </p:spTree>
    <p:extLst>
      <p:ext uri="{BB962C8B-B14F-4D97-AF65-F5344CB8AC3E}">
        <p14:creationId xmlns:p14="http://schemas.microsoft.com/office/powerpoint/2010/main" val="139760185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D8236-8C96-B109-0FCA-AC529B496CDD}"/>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E63C86E-2E3A-48AE-2E36-A928454AF75D}"/>
              </a:ext>
            </a:extLst>
          </p:cNvPr>
          <p:cNvSpPr>
            <a:spLocks noGrp="1"/>
          </p:cNvSpPr>
          <p:nvPr>
            <p:ph type="sldNum" sz="quarter" idx="12"/>
          </p:nvPr>
        </p:nvSpPr>
        <p:spPr/>
        <p:txBody>
          <a:bodyPr/>
          <a:lstStyle/>
          <a:p>
            <a:fld id="{6C53AC0A-47EB-D843-AAE8-9061F973F010}" type="slidenum">
              <a:rPr lang="fr-FR" smtClean="0"/>
              <a:t>9</a:t>
            </a:fld>
            <a:endParaRPr lang="fr-FR"/>
          </a:p>
        </p:txBody>
      </p:sp>
      <p:sp>
        <p:nvSpPr>
          <p:cNvPr id="9" name="Espace réservé du contenu 2">
            <a:extLst>
              <a:ext uri="{FF2B5EF4-FFF2-40B4-BE49-F238E27FC236}">
                <a16:creationId xmlns:a16="http://schemas.microsoft.com/office/drawing/2014/main" id="{88A490E8-4C61-98B9-6FBD-9B490140E297}"/>
              </a:ext>
            </a:extLst>
          </p:cNvPr>
          <p:cNvSpPr>
            <a:spLocks noGrp="1"/>
          </p:cNvSpPr>
          <p:nvPr>
            <p:ph idx="1"/>
          </p:nvPr>
        </p:nvSpPr>
        <p:spPr>
          <a:xfrm>
            <a:off x="611560" y="908720"/>
            <a:ext cx="8030821" cy="4752528"/>
          </a:xfrm>
        </p:spPr>
        <p:txBody>
          <a:bodyPr/>
          <a:lstStyle/>
          <a:p>
            <a:pPr marL="0" lvl="2" indent="0">
              <a:spcBef>
                <a:spcPts val="600"/>
              </a:spcBef>
              <a:buNone/>
            </a:pPr>
            <a:r>
              <a:rPr lang="fr-FR" sz="1600" b="0" dirty="0">
                <a:cs typeface="Times New Roman" panose="02020603050405020304" pitchFamily="18" charset="0"/>
              </a:rPr>
              <a:t>Dans l’immédiat, afin de ne pas bloquer certains producteurs de fiches n’ayant pas constitué leurs groupes de contrats par exercice, il est envisagé soit d’inactiver le contrôle soit de le rendre non bloquant.</a:t>
            </a:r>
          </a:p>
          <a:p>
            <a:pPr marL="0" lvl="2" indent="0">
              <a:spcBef>
                <a:spcPts val="600"/>
              </a:spcBef>
              <a:buNone/>
            </a:pPr>
            <a:r>
              <a:rPr lang="fr-FR" sz="1600" b="0" u="sng" dirty="0">
                <a:solidFill>
                  <a:schemeClr val="accent6"/>
                </a:solidFill>
                <a:cs typeface="Times New Roman" panose="02020603050405020304" pitchFamily="18" charset="0"/>
              </a:rPr>
              <a:t>Mise à jour du contrôle externe au schéma en version 139 et 140 :</a:t>
            </a:r>
            <a:r>
              <a:rPr lang="fr-FR" sz="1600" b="0" dirty="0">
                <a:solidFill>
                  <a:schemeClr val="accent6"/>
                </a:solidFill>
                <a:cs typeface="Times New Roman" panose="02020603050405020304" pitchFamily="18" charset="0"/>
              </a:rPr>
              <a:t> </a:t>
            </a:r>
          </a:p>
          <a:p>
            <a:pPr marL="0" lvl="2" indent="0">
              <a:spcBef>
                <a:spcPts val="600"/>
              </a:spcBef>
              <a:buNone/>
            </a:pPr>
            <a:r>
              <a:rPr lang="fr-FR" sz="1600" strike="dblStrike" dirty="0">
                <a:solidFill>
                  <a:schemeClr val="accent6"/>
                </a:solidFill>
                <a:cs typeface="Times New Roman" panose="02020603050405020304" pitchFamily="18" charset="0"/>
              </a:rPr>
              <a:t>OC.35 LIB CONTRAT :</a:t>
            </a:r>
            <a:r>
              <a:rPr lang="fr-FR" sz="1600" dirty="0">
                <a:solidFill>
                  <a:schemeClr val="accent6"/>
                </a:solidFill>
                <a:cs typeface="Times New Roman" panose="02020603050405020304" pitchFamily="18" charset="0"/>
              </a:rPr>
              <a:t>   AV.2 CONTROLE NON BLOQUANT OU INACTIF de type avertissement : Interdiction d’utiliser des « </a:t>
            </a:r>
            <a:r>
              <a:rPr lang="fr-FR" sz="1600" dirty="0" err="1">
                <a:solidFill>
                  <a:schemeClr val="accent6"/>
                </a:solidFill>
                <a:cs typeface="Times New Roman" panose="02020603050405020304" pitchFamily="18" charset="0"/>
              </a:rPr>
              <a:t>LibelleContrat</a:t>
            </a:r>
            <a:r>
              <a:rPr lang="fr-FR" sz="1600" dirty="0">
                <a:solidFill>
                  <a:schemeClr val="accent6"/>
                </a:solidFill>
                <a:cs typeface="Times New Roman" panose="02020603050405020304" pitchFamily="18" charset="0"/>
              </a:rPr>
              <a:t> » distincts pour une même « </a:t>
            </a:r>
            <a:r>
              <a:rPr lang="fr-FR" sz="1600" dirty="0" err="1">
                <a:solidFill>
                  <a:schemeClr val="accent6"/>
                </a:solidFill>
                <a:cs typeface="Times New Roman" panose="02020603050405020304" pitchFamily="18" charset="0"/>
              </a:rPr>
              <a:t>ReferenceContrat</a:t>
            </a:r>
            <a:r>
              <a:rPr lang="fr-FR" sz="1600" dirty="0">
                <a:solidFill>
                  <a:schemeClr val="accent6"/>
                </a:solidFill>
                <a:cs typeface="Times New Roman" panose="02020603050405020304" pitchFamily="18" charset="0"/>
              </a:rPr>
              <a:t> » au sein d’un même groupe de la fiche.</a:t>
            </a:r>
          </a:p>
          <a:p>
            <a:pPr marL="0" lvl="2" indent="0">
              <a:spcBef>
                <a:spcPts val="600"/>
              </a:spcBef>
              <a:buNone/>
            </a:pPr>
            <a:endParaRPr lang="fr-FR" sz="1600" dirty="0">
              <a:solidFill>
                <a:schemeClr val="accent6"/>
              </a:solidFill>
              <a:cs typeface="Times New Roman" panose="02020603050405020304" pitchFamily="18" charset="0"/>
            </a:endParaRPr>
          </a:p>
        </p:txBody>
      </p:sp>
      <p:sp>
        <p:nvSpPr>
          <p:cNvPr id="3" name="Titre 1">
            <a:extLst>
              <a:ext uri="{FF2B5EF4-FFF2-40B4-BE49-F238E27FC236}">
                <a16:creationId xmlns:a16="http://schemas.microsoft.com/office/drawing/2014/main" id="{7E88D8FF-D58F-3E85-4A84-08663A7EDFAE}"/>
              </a:ext>
            </a:extLst>
          </p:cNvPr>
          <p:cNvSpPr txBox="1">
            <a:spLocks/>
          </p:cNvSpPr>
          <p:nvPr/>
        </p:nvSpPr>
        <p:spPr>
          <a:xfrm>
            <a:off x="755576" y="1"/>
            <a:ext cx="8334174"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Modification du contrôle sur les libellés des références contrat</a:t>
            </a:r>
          </a:p>
        </p:txBody>
      </p:sp>
    </p:spTree>
    <p:extLst>
      <p:ext uri="{BB962C8B-B14F-4D97-AF65-F5344CB8AC3E}">
        <p14:creationId xmlns:p14="http://schemas.microsoft.com/office/powerpoint/2010/main" val="153036861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E77D-8493-07C7-ECF7-5D1B26564453}"/>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E46C8D3C-6B6D-3AB9-BF77-4DA630C78116}"/>
              </a:ext>
            </a:extLst>
          </p:cNvPr>
          <p:cNvSpPr>
            <a:spLocks noGrp="1"/>
          </p:cNvSpPr>
          <p:nvPr>
            <p:ph type="sldNum" sz="quarter" idx="12"/>
          </p:nvPr>
        </p:nvSpPr>
        <p:spPr/>
        <p:txBody>
          <a:bodyPr/>
          <a:lstStyle/>
          <a:p>
            <a:fld id="{6C53AC0A-47EB-D843-AAE8-9061F973F010}" type="slidenum">
              <a:rPr lang="fr-FR" smtClean="0"/>
              <a:t>10</a:t>
            </a:fld>
            <a:endParaRPr lang="fr-FR"/>
          </a:p>
        </p:txBody>
      </p:sp>
      <p:sp>
        <p:nvSpPr>
          <p:cNvPr id="5" name="Titre 1">
            <a:extLst>
              <a:ext uri="{FF2B5EF4-FFF2-40B4-BE49-F238E27FC236}">
                <a16:creationId xmlns:a16="http://schemas.microsoft.com/office/drawing/2014/main" id="{AF67E553-5EB0-1684-FE53-305FCFA71CBF}"/>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Ajout de conditions tarifaires et modification de contrôles associés</a:t>
            </a:r>
          </a:p>
        </p:txBody>
      </p:sp>
      <p:sp>
        <p:nvSpPr>
          <p:cNvPr id="2" name="ZoneTexte 1">
            <a:extLst>
              <a:ext uri="{FF2B5EF4-FFF2-40B4-BE49-F238E27FC236}">
                <a16:creationId xmlns:a16="http://schemas.microsoft.com/office/drawing/2014/main" id="{AAE8F85C-44CF-9882-C56E-86E024E63102}"/>
              </a:ext>
            </a:extLst>
          </p:cNvPr>
          <p:cNvSpPr txBox="1"/>
          <p:nvPr/>
        </p:nvSpPr>
        <p:spPr>
          <a:xfrm>
            <a:off x="539552" y="821077"/>
            <a:ext cx="8271902" cy="245041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dirty="0">
                <a:solidFill>
                  <a:srgbClr val="242F62"/>
                </a:solidFill>
                <a:latin typeface="Arial" panose="020B0604020202020204"/>
              </a:rPr>
              <a:t>Les conditions tarifaires sont destinées à donner des précisions sur l’utilisation des bases et montants spécifiques dans le calcul des cotisations Santé.</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fr-FR" sz="1600" b="1" dirty="0">
                <a:solidFill>
                  <a:srgbClr val="242F62"/>
                </a:solidFill>
                <a:latin typeface="Arial" panose="020B0604020202020204"/>
              </a:rPr>
              <a:t>Les conditions tarifaires « 0x » </a:t>
            </a:r>
            <a:r>
              <a:rPr lang="fr-FR" sz="1600" dirty="0">
                <a:solidFill>
                  <a:srgbClr val="242F62"/>
                </a:solidFill>
                <a:latin typeface="Arial" panose="020B0604020202020204"/>
              </a:rPr>
              <a:t>indiquent un tarif unique pour une composition d’ayants droit prédéfinie : assuré seul, famille, avec un conjoint, avec un enfant …</a:t>
            </a:r>
          </a:p>
          <a:p>
            <a:pPr marL="285750" indent="-285750" defTabSz="457200">
              <a:spcBef>
                <a:spcPts val="600"/>
              </a:spcBef>
              <a:buFont typeface="Arial" panose="020B0604020202020204" pitchFamily="34" charset="0"/>
              <a:buChar char="•"/>
              <a:defRPr/>
            </a:pPr>
            <a:r>
              <a:rPr lang="fr-FR" sz="1600" b="1" dirty="0">
                <a:solidFill>
                  <a:srgbClr val="242F62"/>
                </a:solidFill>
                <a:latin typeface="Arial" panose="020B0604020202020204"/>
              </a:rPr>
              <a:t>Les conditions tarifaires « 9x » </a:t>
            </a:r>
            <a:r>
              <a:rPr lang="fr-FR" sz="1600" dirty="0">
                <a:solidFill>
                  <a:srgbClr val="242F62"/>
                </a:solidFill>
              </a:rPr>
              <a:t>indiquent plusieurs tarifs à combiner selon la composition d’ayants droit : tarif par ayant droit, tarif pour le conjoint, tarif par enfant …</a:t>
            </a:r>
            <a:endParaRPr lang="fr-FR" sz="1600" dirty="0">
              <a:solidFill>
                <a:srgbClr val="242F62"/>
              </a:solidFill>
              <a:latin typeface="Arial" panose="020B0604020202020204"/>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FR" sz="1600" dirty="0">
              <a:solidFill>
                <a:srgbClr val="242F62"/>
              </a:solidFill>
              <a:latin typeface="Arial" panose="020B0604020202020204"/>
            </a:endParaRPr>
          </a:p>
          <a:p>
            <a:pPr marL="0" marR="0" lvl="0" indent="0" algn="l" defTabSz="685800" rtl="0" eaLnBrk="1" fontAlgn="auto" latinLnBrk="0" hangingPunct="1">
              <a:lnSpc>
                <a:spcPct val="90000"/>
              </a:lnSpc>
              <a:spcBef>
                <a:spcPts val="50"/>
              </a:spcBef>
              <a:spcAft>
                <a:spcPts val="0"/>
              </a:spcAft>
              <a:buClrTx/>
              <a:buSzTx/>
              <a:buFontTx/>
              <a:buNone/>
              <a:tabLst/>
              <a:defRPr/>
            </a:pPr>
            <a:r>
              <a:rPr kumimoji="0" lang="fr-FR" sz="1600" b="0" i="0" u="sng" strike="noStrike" kern="1200" cap="none" spc="0" normalizeH="0" baseline="0" noProof="0" dirty="0">
                <a:ln>
                  <a:noFill/>
                </a:ln>
                <a:solidFill>
                  <a:srgbClr val="FF6600"/>
                </a:solidFill>
                <a:effectLst/>
                <a:uLnTx/>
                <a:uFillTx/>
                <a:latin typeface="Arial" panose="020B0604020202020204"/>
                <a:ea typeface="+mn-ea"/>
                <a:cs typeface="Times New Roman" panose="02020603050405020304" pitchFamily="18" charset="0"/>
              </a:rPr>
              <a:t>Actuellement dans les schémas en version 139 et 140 :</a:t>
            </a:r>
            <a:r>
              <a:rPr kumimoji="0" lang="fr-FR" sz="1600" b="0" i="0" u="none" strike="noStrike" kern="1200" cap="none" spc="0" normalizeH="0" baseline="0" noProof="0" dirty="0">
                <a:ln>
                  <a:noFill/>
                </a:ln>
                <a:solidFill>
                  <a:srgbClr val="FF6600"/>
                </a:solidFill>
                <a:effectLst/>
                <a:uLnTx/>
                <a:uFillTx/>
                <a:latin typeface="Arial" panose="020B0604020202020204"/>
                <a:ea typeface="+mn-ea"/>
                <a:cs typeface="Times New Roman" panose="02020603050405020304" pitchFamily="18" charset="0"/>
              </a:rPr>
              <a:t> </a:t>
            </a:r>
          </a:p>
          <a:p>
            <a:pPr defTabSz="457200">
              <a:defRPr/>
            </a:pPr>
            <a:endParaRPr kumimoji="0" lang="fr-FR" sz="1600" b="0" i="0" u="none" strike="noStrike" kern="1200" cap="none" spc="0" normalizeH="0" baseline="0" noProof="0" dirty="0">
              <a:ln>
                <a:noFill/>
              </a:ln>
              <a:solidFill>
                <a:srgbClr val="242F62"/>
              </a:solidFill>
              <a:effectLst/>
              <a:uLnTx/>
              <a:uFillTx/>
              <a:latin typeface="Arial" panose="020B0604020202020204"/>
              <a:ea typeface="+mn-ea"/>
              <a:cs typeface="+mn-cs"/>
            </a:endParaRPr>
          </a:p>
        </p:txBody>
      </p:sp>
      <p:sp>
        <p:nvSpPr>
          <p:cNvPr id="3" name="Espace réservé du contenu 2">
            <a:extLst>
              <a:ext uri="{FF2B5EF4-FFF2-40B4-BE49-F238E27FC236}">
                <a16:creationId xmlns:a16="http://schemas.microsoft.com/office/drawing/2014/main" id="{08C85EA5-4FDA-DF64-F97E-0A66189BF7F1}"/>
              </a:ext>
            </a:extLst>
          </p:cNvPr>
          <p:cNvSpPr>
            <a:spLocks noGrp="1"/>
          </p:cNvSpPr>
          <p:nvPr>
            <p:ph idx="1"/>
          </p:nvPr>
        </p:nvSpPr>
        <p:spPr>
          <a:xfrm>
            <a:off x="529797" y="3042591"/>
            <a:ext cx="5266339" cy="1970585"/>
          </a:xfrm>
        </p:spPr>
        <p:txBody>
          <a:bodyPr/>
          <a:lstStyle/>
          <a:p>
            <a:r>
              <a:rPr lang="fr-FR" sz="1400" b="1" dirty="0">
                <a:solidFill>
                  <a:srgbClr val="FF6600"/>
                </a:solidFill>
              </a:rPr>
              <a:t>Tarifs uniques valable pour une affiliation :</a:t>
            </a:r>
          </a:p>
          <a:p>
            <a:r>
              <a:rPr lang="fr-FR" sz="1400" dirty="0">
                <a:solidFill>
                  <a:srgbClr val="FF6600"/>
                </a:solidFill>
              </a:rPr>
              <a:t>01 = tarif  Assuré et tous ses Ayants droit (Famille)</a:t>
            </a:r>
          </a:p>
          <a:p>
            <a:r>
              <a:rPr lang="fr-FR" sz="1400" dirty="0">
                <a:solidFill>
                  <a:srgbClr val="FF6600"/>
                </a:solidFill>
              </a:rPr>
              <a:t>02 = tarif  Assuré seul </a:t>
            </a:r>
          </a:p>
          <a:p>
            <a:r>
              <a:rPr lang="fr-FR" sz="1400" dirty="0">
                <a:solidFill>
                  <a:srgbClr val="FF6600"/>
                </a:solidFill>
              </a:rPr>
              <a:t>03 = tarif  Assuré et 1 Ayant droit Adulte </a:t>
            </a:r>
          </a:p>
          <a:p>
            <a:r>
              <a:rPr lang="fr-FR" sz="1400" dirty="0">
                <a:solidFill>
                  <a:srgbClr val="FF6600"/>
                </a:solidFill>
              </a:rPr>
              <a:t>04 = tarif  Assuré et 1 Ayant droit Enfant</a:t>
            </a:r>
          </a:p>
          <a:p>
            <a:r>
              <a:rPr lang="fr-FR" sz="1400" dirty="0">
                <a:solidFill>
                  <a:srgbClr val="FF6600"/>
                </a:solidFill>
              </a:rPr>
              <a:t>05 = tarif  Assuré et 1 Ayant droit</a:t>
            </a:r>
          </a:p>
          <a:p>
            <a:r>
              <a:rPr lang="fr-FR" sz="1400" dirty="0">
                <a:solidFill>
                  <a:srgbClr val="FF6600"/>
                </a:solidFill>
              </a:rPr>
              <a:t>06 = tarif  Assuré et 2 Ayants droit</a:t>
            </a:r>
          </a:p>
          <a:p>
            <a:r>
              <a:rPr lang="fr-FR" sz="1400" dirty="0">
                <a:solidFill>
                  <a:srgbClr val="FF6600"/>
                </a:solidFill>
              </a:rPr>
              <a:t>07 = tarif  Assuré et 2 Ayants droit ou plus</a:t>
            </a:r>
          </a:p>
          <a:p>
            <a:r>
              <a:rPr lang="fr-FR" sz="1400" dirty="0">
                <a:solidFill>
                  <a:srgbClr val="FF6600"/>
                </a:solidFill>
              </a:rPr>
              <a:t>09 = tarif  Assuré et 3 Ayants droit ou plus</a:t>
            </a:r>
          </a:p>
        </p:txBody>
      </p:sp>
      <p:sp>
        <p:nvSpPr>
          <p:cNvPr id="4" name="Espace réservé du contenu 2">
            <a:extLst>
              <a:ext uri="{FF2B5EF4-FFF2-40B4-BE49-F238E27FC236}">
                <a16:creationId xmlns:a16="http://schemas.microsoft.com/office/drawing/2014/main" id="{CFA9CD9D-4F45-2709-7F18-D72993507CAA}"/>
              </a:ext>
            </a:extLst>
          </p:cNvPr>
          <p:cNvSpPr txBox="1">
            <a:spLocks/>
          </p:cNvSpPr>
          <p:nvPr/>
        </p:nvSpPr>
        <p:spPr>
          <a:xfrm>
            <a:off x="529797" y="4941169"/>
            <a:ext cx="5266339" cy="1488304"/>
          </a:xfrm>
          <a:prstGeom prst="rect">
            <a:avLst/>
          </a:prstGeom>
        </p:spPr>
        <p:txBody>
          <a:bodyPr vert="horz" lIns="180000" tIns="0" rIns="0" bIns="180000" rtlCol="0">
            <a:noAutofit/>
          </a:bodyPr>
          <a:lstStyle>
            <a:lvl1pPr marL="0" indent="0" algn="l" defTabSz="685800" rtl="0" eaLnBrk="1" latinLnBrk="0" hangingPunct="1">
              <a:lnSpc>
                <a:spcPct val="90000"/>
              </a:lnSpc>
              <a:spcBef>
                <a:spcPts val="50"/>
              </a:spcBef>
              <a:buFontTx/>
              <a:buNone/>
              <a:defRPr sz="2000" b="0" i="0" kern="1200" baseline="0">
                <a:solidFill>
                  <a:schemeClr val="tx1"/>
                </a:solidFill>
                <a:latin typeface="Arial" panose="020B0604020202020204" pitchFamily="34" charset="0"/>
                <a:ea typeface="+mn-ea"/>
                <a:cs typeface="+mn-cs"/>
              </a:defRPr>
            </a:lvl1pPr>
            <a:lvl2pPr marL="180000" indent="0" algn="l" defTabSz="685800" rtl="0" eaLnBrk="1" latinLnBrk="0" hangingPunct="1">
              <a:lnSpc>
                <a:spcPct val="90000"/>
              </a:lnSpc>
              <a:spcBef>
                <a:spcPts val="350"/>
              </a:spcBef>
              <a:buClr>
                <a:schemeClr val="accent3"/>
              </a:buClr>
              <a:buFont typeface="Police système"/>
              <a:buNone/>
              <a:defRPr sz="1500" b="0" i="0" kern="1200" baseline="0">
                <a:solidFill>
                  <a:schemeClr val="tx1"/>
                </a:solidFill>
                <a:latin typeface="+mj-lt"/>
                <a:ea typeface="+mn-ea"/>
                <a:cs typeface="+mn-cs"/>
              </a:defRPr>
            </a:lvl2pPr>
            <a:lvl3pPr marL="360000" indent="-171450" algn="l" defTabSz="685800" rtl="0" eaLnBrk="1" latinLnBrk="0" hangingPunct="1">
              <a:lnSpc>
                <a:spcPct val="90000"/>
              </a:lnSpc>
              <a:spcBef>
                <a:spcPts val="375"/>
              </a:spcBef>
              <a:buClr>
                <a:schemeClr val="accent3"/>
              </a:buClr>
              <a:buSzPct val="150000"/>
              <a:buFont typeface="Police système"/>
              <a:buChar char="-"/>
              <a:defRPr sz="1500" b="1" i="0" kern="1200" baseline="0">
                <a:solidFill>
                  <a:schemeClr val="tx1"/>
                </a:solidFill>
                <a:latin typeface="Arial" panose="020B0604020202020204" pitchFamily="34" charset="0"/>
                <a:ea typeface="+mn-ea"/>
                <a:cs typeface="+mn-cs"/>
              </a:defRPr>
            </a:lvl3pPr>
            <a:lvl4pPr marL="540000" indent="-171450" algn="l" defTabSz="685800" rtl="0" eaLnBrk="1" latinLnBrk="0" hangingPunct="1">
              <a:lnSpc>
                <a:spcPct val="90000"/>
              </a:lnSpc>
              <a:spcBef>
                <a:spcPts val="375"/>
              </a:spcBef>
              <a:buSzPct val="150000"/>
              <a:buFont typeface="Police système"/>
              <a:buChar char="‣"/>
              <a:defRPr sz="1350" b="1" i="0" kern="1200" baseline="0">
                <a:solidFill>
                  <a:schemeClr val="tx1"/>
                </a:solidFill>
                <a:latin typeface="Arial" panose="020B0604020202020204" pitchFamily="34" charset="0"/>
                <a:ea typeface="+mn-ea"/>
                <a:cs typeface="+mn-cs"/>
              </a:defRPr>
            </a:lvl4pPr>
            <a:lvl5pPr marL="720000" indent="-171450" algn="l" defTabSz="685800" rtl="0" eaLnBrk="1" latinLnBrk="0" hangingPunct="1">
              <a:lnSpc>
                <a:spcPct val="90000"/>
              </a:lnSpc>
              <a:spcBef>
                <a:spcPts val="375"/>
              </a:spcBef>
              <a:buClr>
                <a:schemeClr val="accent1"/>
              </a:buClr>
              <a:buSzPct val="150000"/>
              <a:buFont typeface="Arial" panose="020B0604020202020204" pitchFamily="34" charset="0"/>
              <a:buChar char="•"/>
              <a:defRPr sz="1350" b="0" i="0" kern="1200" baseline="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400" b="1" dirty="0">
                <a:solidFill>
                  <a:srgbClr val="FF6600"/>
                </a:solidFill>
              </a:rPr>
              <a:t>Composants du tarif en fonction des ayants droit :</a:t>
            </a:r>
          </a:p>
          <a:p>
            <a:pPr marL="0" lvl="1"/>
            <a:r>
              <a:rPr lang="fr-FR" sz="1400" dirty="0">
                <a:solidFill>
                  <a:srgbClr val="FF6600"/>
                </a:solidFill>
              </a:rPr>
              <a:t>90 = tarif pour l'Assuré ouvrant droit</a:t>
            </a:r>
          </a:p>
          <a:p>
            <a:pPr marL="0" lvl="1"/>
            <a:r>
              <a:rPr lang="fr-FR" sz="1400" dirty="0">
                <a:solidFill>
                  <a:srgbClr val="FF6600"/>
                </a:solidFill>
              </a:rPr>
              <a:t>91 = tarif pour le Conjoint </a:t>
            </a:r>
          </a:p>
          <a:p>
            <a:pPr marL="0" lvl="1"/>
            <a:r>
              <a:rPr lang="fr-FR" sz="1400" dirty="0">
                <a:solidFill>
                  <a:srgbClr val="FF6600"/>
                </a:solidFill>
              </a:rPr>
              <a:t>92 = tarif pour chaque Ayant droit </a:t>
            </a:r>
          </a:p>
          <a:p>
            <a:pPr marL="0" lvl="1"/>
            <a:r>
              <a:rPr lang="fr-FR" sz="1400" dirty="0">
                <a:solidFill>
                  <a:srgbClr val="FF6600"/>
                </a:solidFill>
              </a:rPr>
              <a:t>94 = tarif pour chaque Ayant droit Enfant</a:t>
            </a:r>
          </a:p>
          <a:p>
            <a:pPr marL="0" lvl="1"/>
            <a:r>
              <a:rPr lang="fr-FR" sz="1400" dirty="0">
                <a:solidFill>
                  <a:srgbClr val="FF6600"/>
                </a:solidFill>
              </a:rPr>
              <a:t>95 = tarif pour chaque Ayant droit Autre</a:t>
            </a:r>
          </a:p>
          <a:p>
            <a:pPr>
              <a:spcBef>
                <a:spcPts val="600"/>
              </a:spcBef>
            </a:pPr>
            <a:endParaRPr lang="fr-FR" sz="1400" b="1" dirty="0">
              <a:solidFill>
                <a:srgbClr val="FF6600"/>
              </a:solidFill>
            </a:endParaRPr>
          </a:p>
        </p:txBody>
      </p:sp>
    </p:spTree>
    <p:extLst>
      <p:ext uri="{BB962C8B-B14F-4D97-AF65-F5344CB8AC3E}">
        <p14:creationId xmlns:p14="http://schemas.microsoft.com/office/powerpoint/2010/main" val="2371491163"/>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0AD4-0000-A3FA-42F5-B388C70671FF}"/>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97C0F5A6-B384-5CFF-08A5-D78DE86832EE}"/>
              </a:ext>
            </a:extLst>
          </p:cNvPr>
          <p:cNvSpPr>
            <a:spLocks noGrp="1"/>
          </p:cNvSpPr>
          <p:nvPr>
            <p:ph type="sldNum" sz="quarter" idx="12"/>
          </p:nvPr>
        </p:nvSpPr>
        <p:spPr/>
        <p:txBody>
          <a:bodyPr/>
          <a:lstStyle/>
          <a:p>
            <a:fld id="{6C53AC0A-47EB-D843-AAE8-9061F973F010}" type="slidenum">
              <a:rPr lang="fr-FR" smtClean="0"/>
              <a:t>11</a:t>
            </a:fld>
            <a:endParaRPr lang="fr-FR"/>
          </a:p>
        </p:txBody>
      </p:sp>
      <p:sp>
        <p:nvSpPr>
          <p:cNvPr id="5" name="Titre 1">
            <a:extLst>
              <a:ext uri="{FF2B5EF4-FFF2-40B4-BE49-F238E27FC236}">
                <a16:creationId xmlns:a16="http://schemas.microsoft.com/office/drawing/2014/main" id="{0B8A19CC-E51E-2221-FBC8-9DFCB55B275E}"/>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Ajout de conditions tarifaires et modification de contrôles associés</a:t>
            </a:r>
          </a:p>
        </p:txBody>
      </p:sp>
      <p:sp>
        <p:nvSpPr>
          <p:cNvPr id="2" name="ZoneTexte 1">
            <a:extLst>
              <a:ext uri="{FF2B5EF4-FFF2-40B4-BE49-F238E27FC236}">
                <a16:creationId xmlns:a16="http://schemas.microsoft.com/office/drawing/2014/main" id="{3E631EEC-FD7E-5804-716F-687ABE0E6444}"/>
              </a:ext>
            </a:extLst>
          </p:cNvPr>
          <p:cNvSpPr txBox="1"/>
          <p:nvPr/>
        </p:nvSpPr>
        <p:spPr>
          <a:xfrm>
            <a:off x="539552" y="701786"/>
            <a:ext cx="8424936"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dirty="0">
                <a:solidFill>
                  <a:srgbClr val="242F62"/>
                </a:solidFill>
                <a:latin typeface="Arial" panose="020B0604020202020204"/>
              </a:rPr>
              <a:t>La FNMF demande l’ajout de conditions supplémentaires pour des cas où le tarif est applicable à des combinaisons de 3 ayants droit distincts afin de répondre à la demande de </a:t>
            </a:r>
            <a:r>
              <a:rPr lang="fr-FR" sz="1600" dirty="0">
                <a:latin typeface="Arial" panose="020B0604020202020204"/>
              </a:rPr>
              <a:t>plusieurs mutuelles.</a:t>
            </a:r>
          </a:p>
          <a:p>
            <a:pPr defTabSz="457200">
              <a:defRPr/>
            </a:pPr>
            <a:endParaRPr kumimoji="0" lang="fr-FR" sz="800" b="0" i="0" u="none" strike="noStrike" kern="1200" cap="none" spc="0" normalizeH="0" baseline="0" noProof="0" dirty="0">
              <a:ln>
                <a:noFill/>
              </a:ln>
              <a:solidFill>
                <a:srgbClr val="242F62"/>
              </a:solidFill>
              <a:effectLst/>
              <a:uLnTx/>
              <a:uFillTx/>
              <a:latin typeface="Arial" panose="020B0604020202020204"/>
              <a:ea typeface="+mn-ea"/>
              <a:cs typeface="+mn-cs"/>
            </a:endParaRPr>
          </a:p>
          <a:p>
            <a:pPr defTabSz="457200">
              <a:defRPr/>
            </a:pPr>
            <a:r>
              <a:rPr lang="fr-FR" sz="1600" u="sng" dirty="0">
                <a:solidFill>
                  <a:srgbClr val="FF6600"/>
                </a:solidFill>
                <a:cs typeface="Times New Roman" panose="02020603050405020304" pitchFamily="18" charset="0"/>
              </a:rPr>
              <a:t>Ajout des valeurs suivantes </a:t>
            </a:r>
            <a:r>
              <a:rPr lang="fr-FR" sz="1600" u="sng" dirty="0">
                <a:solidFill>
                  <a:srgbClr val="FF6600"/>
                </a:solidFill>
                <a:highlight>
                  <a:srgbClr val="FFFF00"/>
                </a:highlight>
                <a:cs typeface="Times New Roman" panose="02020603050405020304" pitchFamily="18" charset="0"/>
              </a:rPr>
              <a:t>surlignées en jaune </a:t>
            </a:r>
            <a:r>
              <a:rPr lang="fr-FR" sz="1600" u="sng" dirty="0">
                <a:solidFill>
                  <a:srgbClr val="FF6600"/>
                </a:solidFill>
                <a:cs typeface="Times New Roman" panose="02020603050405020304" pitchFamily="18" charset="0"/>
              </a:rPr>
              <a:t>dans les schémas en version 139 et 140 :</a:t>
            </a:r>
            <a:r>
              <a:rPr lang="fr-FR" sz="1600" dirty="0">
                <a:solidFill>
                  <a:srgbClr val="FF6600"/>
                </a:solidFill>
                <a:cs typeface="Times New Roman" panose="02020603050405020304" pitchFamily="18" charset="0"/>
              </a:rPr>
              <a:t> </a:t>
            </a:r>
          </a:p>
        </p:txBody>
      </p:sp>
      <p:sp>
        <p:nvSpPr>
          <p:cNvPr id="9" name="Espace réservé du contenu 2">
            <a:extLst>
              <a:ext uri="{FF2B5EF4-FFF2-40B4-BE49-F238E27FC236}">
                <a16:creationId xmlns:a16="http://schemas.microsoft.com/office/drawing/2014/main" id="{22D5C7D6-46B8-01B1-C5DD-2A927E81ABCC}"/>
              </a:ext>
            </a:extLst>
          </p:cNvPr>
          <p:cNvSpPr>
            <a:spLocks noGrp="1"/>
          </p:cNvSpPr>
          <p:nvPr>
            <p:ph idx="1"/>
          </p:nvPr>
        </p:nvSpPr>
        <p:spPr>
          <a:xfrm>
            <a:off x="539552" y="1902115"/>
            <a:ext cx="7413681" cy="2390981"/>
          </a:xfrm>
        </p:spPr>
        <p:txBody>
          <a:bodyPr/>
          <a:lstStyle/>
          <a:p>
            <a:r>
              <a:rPr lang="fr-FR" sz="1400" b="1" dirty="0">
                <a:solidFill>
                  <a:srgbClr val="FF6600"/>
                </a:solidFill>
              </a:rPr>
              <a:t>Tarifs uniques valable pour une affiliation :</a:t>
            </a:r>
          </a:p>
          <a:p>
            <a:r>
              <a:rPr lang="fr-FR" sz="1400" dirty="0">
                <a:solidFill>
                  <a:srgbClr val="FF6600"/>
                </a:solidFill>
              </a:rPr>
              <a:t>01 = tarif unique pour l'assuré et tous ses ayants droit</a:t>
            </a:r>
          </a:p>
          <a:p>
            <a:r>
              <a:rPr lang="fr-FR" sz="1400" dirty="0">
                <a:solidFill>
                  <a:srgbClr val="FF6600"/>
                </a:solidFill>
              </a:rPr>
              <a:t>02 = tarif unique pour l'assuré seul</a:t>
            </a:r>
          </a:p>
          <a:p>
            <a:r>
              <a:rPr lang="fr-FR" sz="1400" dirty="0">
                <a:solidFill>
                  <a:srgbClr val="FF6600"/>
                </a:solidFill>
              </a:rPr>
              <a:t>03 = tarif unique pour l'assuré et 1 ayant droit Conjoint</a:t>
            </a:r>
          </a:p>
          <a:p>
            <a:r>
              <a:rPr lang="fr-FR" sz="1400" dirty="0">
                <a:solidFill>
                  <a:srgbClr val="FF6600"/>
                </a:solidFill>
              </a:rPr>
              <a:t>04 = tarif unique pour l'assuré et 1 ayant droit Enfant </a:t>
            </a:r>
          </a:p>
          <a:p>
            <a:r>
              <a:rPr lang="fr-FR" sz="1400" dirty="0">
                <a:solidFill>
                  <a:srgbClr val="FF6600"/>
                </a:solidFill>
              </a:rPr>
              <a:t>05 = tarif unique pour l'assuré et 1 ayant droit</a:t>
            </a:r>
          </a:p>
          <a:p>
            <a:r>
              <a:rPr lang="fr-FR" sz="1400" dirty="0">
                <a:solidFill>
                  <a:srgbClr val="FF6600"/>
                </a:solidFill>
              </a:rPr>
              <a:t>06 = tarif unique pour l'assuré et 2 ayants droit</a:t>
            </a:r>
          </a:p>
          <a:p>
            <a:r>
              <a:rPr lang="fr-FR" sz="1400" dirty="0">
                <a:solidFill>
                  <a:srgbClr val="FF6600"/>
                </a:solidFill>
              </a:rPr>
              <a:t>07 = tarif unique pour l'assuré et 2 ayants droit ou plus</a:t>
            </a:r>
          </a:p>
          <a:p>
            <a:r>
              <a:rPr lang="fr-FR" sz="1400" dirty="0">
                <a:solidFill>
                  <a:srgbClr val="FF6600"/>
                </a:solidFill>
              </a:rPr>
              <a:t>09 = tarif unique pour l'assuré et 3 ayants droit ou plus</a:t>
            </a:r>
          </a:p>
          <a:p>
            <a:r>
              <a:rPr lang="fr-FR" sz="1400" dirty="0">
                <a:solidFill>
                  <a:srgbClr val="FF6600"/>
                </a:solidFill>
                <a:highlight>
                  <a:srgbClr val="FFFF00"/>
                </a:highlight>
              </a:rPr>
              <a:t>11 = tarif unique pour l'assuré et 2 ayants droit Enfant</a:t>
            </a:r>
          </a:p>
          <a:p>
            <a:r>
              <a:rPr lang="fr-FR" sz="1400" dirty="0">
                <a:solidFill>
                  <a:srgbClr val="FF6600"/>
                </a:solidFill>
                <a:highlight>
                  <a:srgbClr val="FFFF00"/>
                </a:highlight>
              </a:rPr>
              <a:t>12 = tarif unique pour l'assuré et 3 ayants droit Enfant ou plus</a:t>
            </a:r>
          </a:p>
          <a:p>
            <a:endParaRPr lang="fr-FR" sz="1400" dirty="0">
              <a:solidFill>
                <a:srgbClr val="FF6600"/>
              </a:solidFill>
              <a:highlight>
                <a:srgbClr val="FFFF00"/>
              </a:highlight>
            </a:endParaRPr>
          </a:p>
        </p:txBody>
      </p:sp>
      <p:sp>
        <p:nvSpPr>
          <p:cNvPr id="10" name="Espace réservé du contenu 2">
            <a:extLst>
              <a:ext uri="{FF2B5EF4-FFF2-40B4-BE49-F238E27FC236}">
                <a16:creationId xmlns:a16="http://schemas.microsoft.com/office/drawing/2014/main" id="{797E40F6-1649-B25E-8DA3-4D2DFEA0DB4F}"/>
              </a:ext>
            </a:extLst>
          </p:cNvPr>
          <p:cNvSpPr txBox="1">
            <a:spLocks/>
          </p:cNvSpPr>
          <p:nvPr/>
        </p:nvSpPr>
        <p:spPr>
          <a:xfrm>
            <a:off x="539552" y="4509120"/>
            <a:ext cx="5266339" cy="1488304"/>
          </a:xfrm>
          <a:prstGeom prst="rect">
            <a:avLst/>
          </a:prstGeom>
        </p:spPr>
        <p:txBody>
          <a:bodyPr vert="horz" lIns="180000" tIns="0" rIns="0" bIns="180000" rtlCol="0">
            <a:noAutofit/>
          </a:bodyPr>
          <a:lstStyle>
            <a:lvl1pPr marL="0" indent="0" algn="l" defTabSz="685800" rtl="0" eaLnBrk="1" latinLnBrk="0" hangingPunct="1">
              <a:lnSpc>
                <a:spcPct val="90000"/>
              </a:lnSpc>
              <a:spcBef>
                <a:spcPts val="50"/>
              </a:spcBef>
              <a:buFontTx/>
              <a:buNone/>
              <a:defRPr sz="2000" b="0" i="0" kern="1200" baseline="0">
                <a:solidFill>
                  <a:schemeClr val="tx1"/>
                </a:solidFill>
                <a:latin typeface="Arial" panose="020B0604020202020204" pitchFamily="34" charset="0"/>
                <a:ea typeface="+mn-ea"/>
                <a:cs typeface="+mn-cs"/>
              </a:defRPr>
            </a:lvl1pPr>
            <a:lvl2pPr marL="180000" indent="0" algn="l" defTabSz="685800" rtl="0" eaLnBrk="1" latinLnBrk="0" hangingPunct="1">
              <a:lnSpc>
                <a:spcPct val="90000"/>
              </a:lnSpc>
              <a:spcBef>
                <a:spcPts val="350"/>
              </a:spcBef>
              <a:buClr>
                <a:schemeClr val="accent3"/>
              </a:buClr>
              <a:buFont typeface="Police système"/>
              <a:buNone/>
              <a:defRPr sz="1500" b="0" i="0" kern="1200" baseline="0">
                <a:solidFill>
                  <a:schemeClr val="tx1"/>
                </a:solidFill>
                <a:latin typeface="+mj-lt"/>
                <a:ea typeface="+mn-ea"/>
                <a:cs typeface="+mn-cs"/>
              </a:defRPr>
            </a:lvl2pPr>
            <a:lvl3pPr marL="360000" indent="-171450" algn="l" defTabSz="685800" rtl="0" eaLnBrk="1" latinLnBrk="0" hangingPunct="1">
              <a:lnSpc>
                <a:spcPct val="90000"/>
              </a:lnSpc>
              <a:spcBef>
                <a:spcPts val="375"/>
              </a:spcBef>
              <a:buClr>
                <a:schemeClr val="accent3"/>
              </a:buClr>
              <a:buSzPct val="150000"/>
              <a:buFont typeface="Police système"/>
              <a:buChar char="-"/>
              <a:defRPr sz="1500" b="1" i="0" kern="1200" baseline="0">
                <a:solidFill>
                  <a:schemeClr val="tx1"/>
                </a:solidFill>
                <a:latin typeface="Arial" panose="020B0604020202020204" pitchFamily="34" charset="0"/>
                <a:ea typeface="+mn-ea"/>
                <a:cs typeface="+mn-cs"/>
              </a:defRPr>
            </a:lvl3pPr>
            <a:lvl4pPr marL="540000" indent="-171450" algn="l" defTabSz="685800" rtl="0" eaLnBrk="1" latinLnBrk="0" hangingPunct="1">
              <a:lnSpc>
                <a:spcPct val="90000"/>
              </a:lnSpc>
              <a:spcBef>
                <a:spcPts val="375"/>
              </a:spcBef>
              <a:buSzPct val="150000"/>
              <a:buFont typeface="Police système"/>
              <a:buChar char="‣"/>
              <a:defRPr sz="1350" b="1" i="0" kern="1200" baseline="0">
                <a:solidFill>
                  <a:schemeClr val="tx1"/>
                </a:solidFill>
                <a:latin typeface="Arial" panose="020B0604020202020204" pitchFamily="34" charset="0"/>
                <a:ea typeface="+mn-ea"/>
                <a:cs typeface="+mn-cs"/>
              </a:defRPr>
            </a:lvl4pPr>
            <a:lvl5pPr marL="720000" indent="-171450" algn="l" defTabSz="685800" rtl="0" eaLnBrk="1" latinLnBrk="0" hangingPunct="1">
              <a:lnSpc>
                <a:spcPct val="90000"/>
              </a:lnSpc>
              <a:spcBef>
                <a:spcPts val="375"/>
              </a:spcBef>
              <a:buClr>
                <a:schemeClr val="accent1"/>
              </a:buClr>
              <a:buSzPct val="150000"/>
              <a:buFont typeface="Arial" panose="020B0604020202020204" pitchFamily="34" charset="0"/>
              <a:buChar char="•"/>
              <a:defRPr sz="1350" b="0" i="0" kern="1200" baseline="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400" b="1" dirty="0">
                <a:solidFill>
                  <a:srgbClr val="FF6600"/>
                </a:solidFill>
              </a:rPr>
              <a:t>Composants du tarif en fonction des ayants droit :</a:t>
            </a:r>
          </a:p>
          <a:p>
            <a:pPr marL="0" lvl="1"/>
            <a:r>
              <a:rPr lang="fr-FR" sz="1400" dirty="0">
                <a:solidFill>
                  <a:srgbClr val="FF6600"/>
                </a:solidFill>
              </a:rPr>
              <a:t>90 = tarif pour l'Assuré ouvrant droit</a:t>
            </a:r>
          </a:p>
          <a:p>
            <a:pPr marL="0" lvl="1"/>
            <a:r>
              <a:rPr lang="fr-FR" sz="1400" dirty="0">
                <a:solidFill>
                  <a:srgbClr val="FF6600"/>
                </a:solidFill>
              </a:rPr>
              <a:t>91 = tarif pour le Conjoint </a:t>
            </a:r>
          </a:p>
          <a:p>
            <a:pPr marL="0" lvl="1"/>
            <a:r>
              <a:rPr lang="fr-FR" sz="1400" dirty="0">
                <a:solidFill>
                  <a:srgbClr val="FF6600"/>
                </a:solidFill>
              </a:rPr>
              <a:t>92 = tarif pour chaque Ayant droit </a:t>
            </a:r>
          </a:p>
          <a:p>
            <a:pPr marL="0" lvl="1"/>
            <a:r>
              <a:rPr lang="fr-FR" sz="1400" dirty="0">
                <a:solidFill>
                  <a:srgbClr val="FF6600"/>
                </a:solidFill>
              </a:rPr>
              <a:t>94 = tarif pour chaque Ayant droit Enfant</a:t>
            </a:r>
          </a:p>
          <a:p>
            <a:pPr marL="0" lvl="1"/>
            <a:r>
              <a:rPr lang="fr-FR" sz="1400" dirty="0">
                <a:solidFill>
                  <a:srgbClr val="FF6600"/>
                </a:solidFill>
              </a:rPr>
              <a:t>95 = tarif pour chaque Ayant droit Autre</a:t>
            </a:r>
          </a:p>
          <a:p>
            <a:pPr>
              <a:spcBef>
                <a:spcPts val="600"/>
              </a:spcBef>
            </a:pPr>
            <a:endParaRPr lang="fr-FR" sz="1400" b="1" dirty="0">
              <a:solidFill>
                <a:srgbClr val="FF6600"/>
              </a:solidFill>
            </a:endParaRPr>
          </a:p>
        </p:txBody>
      </p:sp>
    </p:spTree>
    <p:extLst>
      <p:ext uri="{BB962C8B-B14F-4D97-AF65-F5344CB8AC3E}">
        <p14:creationId xmlns:p14="http://schemas.microsoft.com/office/powerpoint/2010/main" val="3179657149"/>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5391-098D-EC0D-9477-01C20C92BC98}"/>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6482D101-D930-42C0-2F92-AE2CA4D6F2DE}"/>
              </a:ext>
            </a:extLst>
          </p:cNvPr>
          <p:cNvSpPr>
            <a:spLocks noGrp="1"/>
          </p:cNvSpPr>
          <p:nvPr>
            <p:ph type="sldNum" sz="quarter" idx="12"/>
          </p:nvPr>
        </p:nvSpPr>
        <p:spPr/>
        <p:txBody>
          <a:bodyPr/>
          <a:lstStyle/>
          <a:p>
            <a:fld id="{6C53AC0A-47EB-D843-AAE8-9061F973F010}" type="slidenum">
              <a:rPr lang="fr-FR" smtClean="0"/>
              <a:t>12</a:t>
            </a:fld>
            <a:endParaRPr lang="fr-FR"/>
          </a:p>
        </p:txBody>
      </p:sp>
      <p:sp>
        <p:nvSpPr>
          <p:cNvPr id="5" name="Titre 1">
            <a:extLst>
              <a:ext uri="{FF2B5EF4-FFF2-40B4-BE49-F238E27FC236}">
                <a16:creationId xmlns:a16="http://schemas.microsoft.com/office/drawing/2014/main" id="{649F707D-DB59-EE3C-09EC-DF7976D047DD}"/>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Ajout de conditions tarifaires et modification de contrôles associés</a:t>
            </a:r>
          </a:p>
        </p:txBody>
      </p:sp>
      <p:sp>
        <p:nvSpPr>
          <p:cNvPr id="2" name="ZoneTexte 1">
            <a:extLst>
              <a:ext uri="{FF2B5EF4-FFF2-40B4-BE49-F238E27FC236}">
                <a16:creationId xmlns:a16="http://schemas.microsoft.com/office/drawing/2014/main" id="{29C25F26-F411-418B-A0E0-1E87C9C7295F}"/>
              </a:ext>
            </a:extLst>
          </p:cNvPr>
          <p:cNvSpPr txBox="1"/>
          <p:nvPr/>
        </p:nvSpPr>
        <p:spPr>
          <a:xfrm>
            <a:off x="539552" y="692696"/>
            <a:ext cx="8352928" cy="518962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600" dirty="0">
                <a:solidFill>
                  <a:srgbClr val="242F62"/>
                </a:solidFill>
                <a:latin typeface="Arial" panose="020B0604020202020204"/>
              </a:rPr>
              <a:t>Actuellement, des contrôles encadrent les combinaisons de conditions tarifaires associées à un même paramètre contrat.</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600" dirty="0">
                <a:solidFill>
                  <a:srgbClr val="242F62"/>
                </a:solidFill>
                <a:latin typeface="Arial" panose="020B0604020202020204"/>
              </a:rPr>
              <a:t>Pour un même paramètre contrat : </a:t>
            </a:r>
          </a:p>
          <a:p>
            <a:pPr marL="285750" marR="0" lvl="0" indent="-285750" algn="l" defTabSz="457200" rtl="0" eaLnBrk="1" fontAlgn="auto" latinLnBrk="0" hangingPunct="1">
              <a:lnSpc>
                <a:spcPct val="100000"/>
              </a:lnSpc>
              <a:spcAft>
                <a:spcPts val="0"/>
              </a:spcAft>
              <a:buClrTx/>
              <a:buSzTx/>
              <a:buFont typeface="Arial" panose="020B0604020202020204" pitchFamily="34" charset="0"/>
              <a:buChar char="•"/>
              <a:tabLst/>
              <a:defRPr/>
            </a:pPr>
            <a:r>
              <a:rPr lang="fr-FR" sz="1600" dirty="0">
                <a:solidFill>
                  <a:srgbClr val="242F62"/>
                </a:solidFill>
                <a:latin typeface="Arial" panose="020B0604020202020204"/>
              </a:rPr>
              <a:t>Il est interdit de renseigner une seule condition tarifaire. </a:t>
            </a:r>
          </a:p>
          <a:p>
            <a:pPr marL="285750" indent="-285750" defTabSz="457200">
              <a:buFont typeface="Arial" panose="020B0604020202020204" pitchFamily="34" charset="0"/>
              <a:buChar char="•"/>
              <a:defRPr/>
            </a:pPr>
            <a:r>
              <a:rPr lang="fr-FR" sz="1600" dirty="0">
                <a:solidFill>
                  <a:srgbClr val="242F62"/>
                </a:solidFill>
                <a:latin typeface="Arial" panose="020B0604020202020204"/>
              </a:rPr>
              <a:t>Les combinaisons de plusieurs conditions tarifaires autorisées sont prédéfinies.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fr-FR" sz="800" dirty="0">
              <a:solidFill>
                <a:srgbClr val="242F62"/>
              </a:solidFill>
              <a:latin typeface="Arial" panose="020B0604020202020204"/>
            </a:endParaRPr>
          </a:p>
          <a:p>
            <a:pPr lvl="0" defTabSz="685800">
              <a:lnSpc>
                <a:spcPct val="90000"/>
              </a:lnSpc>
              <a:spcBef>
                <a:spcPts val="50"/>
              </a:spcBef>
              <a:defRPr/>
            </a:pPr>
            <a:r>
              <a:rPr lang="fr-FR" sz="1600" b="1" u="sng" dirty="0">
                <a:solidFill>
                  <a:schemeClr val="accent6"/>
                </a:solidFill>
                <a:latin typeface="Arial" panose="020B0604020202020204" pitchFamily="34" charset="0"/>
                <a:cs typeface="Times New Roman" panose="02020603050405020304" pitchFamily="18" charset="0"/>
              </a:rPr>
              <a:t>Contrôles actuels OC.34 et OC.39 en version 140 </a:t>
            </a:r>
            <a:r>
              <a:rPr lang="fr-FR" sz="1600" b="1" u="sng" dirty="0">
                <a:solidFill>
                  <a:schemeClr val="tx1">
                    <a:lumMod val="60000"/>
                    <a:lumOff val="40000"/>
                  </a:schemeClr>
                </a:solidFill>
                <a:latin typeface="Arial" panose="020B0604020202020204" pitchFamily="34" charset="0"/>
                <a:cs typeface="Times New Roman" panose="02020603050405020304" pitchFamily="18" charset="0"/>
              </a:rPr>
              <a:t>(OC.D2 et OC.D5 en version 139) : </a:t>
            </a:r>
          </a:p>
          <a:p>
            <a:pPr defTabSz="457200">
              <a:spcBef>
                <a:spcPts val="1200"/>
              </a:spcBef>
              <a:defRPr/>
            </a:pPr>
            <a:r>
              <a:rPr lang="fr-FR" sz="1600" b="1" dirty="0">
                <a:solidFill>
                  <a:schemeClr val="accent6"/>
                </a:solidFill>
              </a:rPr>
              <a:t>OC.34 </a:t>
            </a:r>
            <a:r>
              <a:rPr lang="fr-FR" sz="1600" b="1" dirty="0">
                <a:solidFill>
                  <a:schemeClr val="tx1">
                    <a:lumMod val="60000"/>
                    <a:lumOff val="40000"/>
                  </a:schemeClr>
                </a:solidFill>
              </a:rPr>
              <a:t>/ OC.D2 </a:t>
            </a:r>
            <a:r>
              <a:rPr lang="fr-FR" sz="1600" b="1" dirty="0">
                <a:solidFill>
                  <a:schemeClr val="accent6"/>
                </a:solidFill>
              </a:rPr>
              <a:t>: CONDITIONS : </a:t>
            </a:r>
            <a:r>
              <a:rPr lang="fr-FR" sz="1600" dirty="0">
                <a:solidFill>
                  <a:schemeClr val="accent6"/>
                </a:solidFill>
              </a:rPr>
              <a:t>Si un élément « </a:t>
            </a:r>
            <a:r>
              <a:rPr lang="fr-FR" sz="1600" dirty="0" err="1">
                <a:solidFill>
                  <a:schemeClr val="accent6"/>
                </a:solidFill>
              </a:rPr>
              <a:t>BaseMontantSpecifique</a:t>
            </a:r>
            <a:r>
              <a:rPr lang="fr-FR" sz="1600" dirty="0">
                <a:solidFill>
                  <a:schemeClr val="accent6"/>
                </a:solidFill>
              </a:rPr>
              <a:t> » comporte un attribut « Condition », alors il existe au moins un autre élément « </a:t>
            </a:r>
            <a:r>
              <a:rPr lang="fr-FR" sz="1600" dirty="0" err="1">
                <a:solidFill>
                  <a:schemeClr val="accent6"/>
                </a:solidFill>
              </a:rPr>
              <a:t>BaseMontantSpecifique</a:t>
            </a:r>
            <a:r>
              <a:rPr lang="fr-FR" sz="1600" dirty="0">
                <a:solidFill>
                  <a:schemeClr val="accent6"/>
                </a:solidFill>
              </a:rPr>
              <a:t> » comportant aussi un attribut « Condition » dans le même « </a:t>
            </a:r>
            <a:r>
              <a:rPr lang="fr-FR" sz="1600" dirty="0" err="1">
                <a:solidFill>
                  <a:schemeClr val="accent6"/>
                </a:solidFill>
              </a:rPr>
              <a:t>ElementsDeCalculAttendus</a:t>
            </a:r>
            <a:r>
              <a:rPr lang="fr-FR" sz="1600" dirty="0">
                <a:solidFill>
                  <a:schemeClr val="accent6"/>
                </a:solidFill>
              </a:rPr>
              <a:t> ».</a:t>
            </a:r>
          </a:p>
          <a:p>
            <a:pPr defTabSz="457200">
              <a:spcBef>
                <a:spcPts val="1200"/>
              </a:spcBef>
              <a:defRPr/>
            </a:pPr>
            <a:r>
              <a:rPr kumimoji="0" lang="fr-FR" sz="1600" b="1" i="0" u="none" strike="noStrike" kern="1200" cap="none" spc="0" normalizeH="0" baseline="0" noProof="0" dirty="0">
                <a:ln>
                  <a:noFill/>
                </a:ln>
                <a:solidFill>
                  <a:schemeClr val="accent6"/>
                </a:solidFill>
                <a:effectLst/>
                <a:uLnTx/>
                <a:uFillTx/>
                <a:latin typeface="Arial" panose="020B0604020202020204"/>
                <a:ea typeface="+mn-ea"/>
                <a:cs typeface="+mn-cs"/>
              </a:rPr>
              <a:t>OC.39 </a:t>
            </a:r>
            <a:r>
              <a:rPr kumimoji="0" lang="fr-FR" sz="1600" b="1" i="0" u="none" strike="noStrike" kern="1200" cap="none" spc="0" normalizeH="0" baseline="0" noProof="0" dirty="0">
                <a:ln>
                  <a:noFill/>
                </a:ln>
                <a:solidFill>
                  <a:schemeClr val="tx1">
                    <a:lumMod val="60000"/>
                    <a:lumOff val="40000"/>
                  </a:schemeClr>
                </a:solidFill>
                <a:effectLst/>
                <a:uLnTx/>
                <a:uFillTx/>
                <a:latin typeface="Arial" panose="020B0604020202020204"/>
                <a:ea typeface="+mn-ea"/>
                <a:cs typeface="+mn-cs"/>
              </a:rPr>
              <a:t>/ OC.D5 </a:t>
            </a:r>
            <a:r>
              <a:rPr kumimoji="0" lang="fr-FR" sz="1600" b="1" i="0" u="none" strike="noStrike" kern="1200" cap="none" spc="0" normalizeH="0" baseline="0" noProof="0" dirty="0">
                <a:ln>
                  <a:noFill/>
                </a:ln>
                <a:solidFill>
                  <a:schemeClr val="accent6"/>
                </a:solidFill>
                <a:effectLst/>
                <a:uLnTx/>
                <a:uFillTx/>
                <a:latin typeface="Arial" panose="020B0604020202020204"/>
                <a:ea typeface="+mn-ea"/>
                <a:cs typeface="+mn-cs"/>
              </a:rPr>
              <a:t>:  </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Si dans un même «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ElementsDeCalculAttendus</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il y a plusieurs éléments «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avec des attributs « Condition », alors les seuls éléments  «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autorisés sont les suivants : </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2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02/01, </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3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02/05/07, </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4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02/03/04/07 ou 02/05/06/09, </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5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02/03/04/06/09</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2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90/92, </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3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 90/91/94 ou 90/91/95 ou 90/94/95</a:t>
            </a:r>
          </a:p>
          <a:p>
            <a:pPr defTabSz="457200">
              <a:defRPr/>
            </a:pP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4  «</a:t>
            </a:r>
            <a:r>
              <a:rPr kumimoji="0" lang="fr-FR" sz="1600" i="0" u="none" strike="noStrike" kern="1200" cap="none" spc="0" normalizeH="0" baseline="0" noProof="0" dirty="0" err="1">
                <a:ln>
                  <a:noFill/>
                </a:ln>
                <a:solidFill>
                  <a:schemeClr val="accent6"/>
                </a:solidFill>
                <a:effectLst/>
                <a:uLnTx/>
                <a:uFillTx/>
                <a:latin typeface="Arial" panose="020B0604020202020204"/>
                <a:ea typeface="+mn-ea"/>
                <a:cs typeface="+mn-cs"/>
              </a:rPr>
              <a:t>BaseMontantSpecifique</a:t>
            </a:r>
            <a:r>
              <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rPr>
              <a:t> » de conditions: 90/91/94/95</a:t>
            </a:r>
          </a:p>
        </p:txBody>
      </p:sp>
    </p:spTree>
    <p:extLst>
      <p:ext uri="{BB962C8B-B14F-4D97-AF65-F5344CB8AC3E}">
        <p14:creationId xmlns:p14="http://schemas.microsoft.com/office/powerpoint/2010/main" val="2831665897"/>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C9D4-6DDE-6335-0059-4A080DEA8390}"/>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171211A-EB76-D05E-3E21-2C14B848285F}"/>
              </a:ext>
            </a:extLst>
          </p:cNvPr>
          <p:cNvSpPr>
            <a:spLocks noGrp="1"/>
          </p:cNvSpPr>
          <p:nvPr>
            <p:ph type="sldNum" sz="quarter" idx="12"/>
          </p:nvPr>
        </p:nvSpPr>
        <p:spPr/>
        <p:txBody>
          <a:bodyPr/>
          <a:lstStyle/>
          <a:p>
            <a:fld id="{6C53AC0A-47EB-D843-AAE8-9061F973F010}" type="slidenum">
              <a:rPr lang="fr-FR" smtClean="0"/>
              <a:t>13</a:t>
            </a:fld>
            <a:endParaRPr lang="fr-FR"/>
          </a:p>
        </p:txBody>
      </p:sp>
      <p:sp>
        <p:nvSpPr>
          <p:cNvPr id="5" name="Titre 1">
            <a:extLst>
              <a:ext uri="{FF2B5EF4-FFF2-40B4-BE49-F238E27FC236}">
                <a16:creationId xmlns:a16="http://schemas.microsoft.com/office/drawing/2014/main" id="{6C765065-B8DC-804A-B985-051A200CC5F2}"/>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Ajout de conditions tarifaires et modification de contrôles associés</a:t>
            </a:r>
          </a:p>
        </p:txBody>
      </p:sp>
      <p:sp>
        <p:nvSpPr>
          <p:cNvPr id="2" name="ZoneTexte 1">
            <a:extLst>
              <a:ext uri="{FF2B5EF4-FFF2-40B4-BE49-F238E27FC236}">
                <a16:creationId xmlns:a16="http://schemas.microsoft.com/office/drawing/2014/main" id="{99105074-64F3-9A9D-7981-4259C8BE7F20}"/>
              </a:ext>
            </a:extLst>
          </p:cNvPr>
          <p:cNvSpPr txBox="1"/>
          <p:nvPr/>
        </p:nvSpPr>
        <p:spPr>
          <a:xfrm>
            <a:off x="522249" y="692696"/>
            <a:ext cx="8226215" cy="5016758"/>
          </a:xfrm>
          <a:prstGeom prst="rect">
            <a:avLst/>
          </a:prstGeom>
          <a:noFill/>
        </p:spPr>
        <p:txBody>
          <a:bodyPr wrap="square">
            <a:spAutoFit/>
          </a:bodyPr>
          <a:lstStyle/>
          <a:p>
            <a:pPr defTabSz="457200">
              <a:defRPr/>
            </a:pPr>
            <a:r>
              <a:rPr lang="fr-FR" sz="1600" b="1" dirty="0">
                <a:solidFill>
                  <a:srgbClr val="242F62"/>
                </a:solidFill>
                <a:latin typeface="Arial" panose="020B0604020202020204"/>
              </a:rPr>
              <a:t>Etant donné que des conditions tarifaires sont ajoutées</a:t>
            </a:r>
            <a:r>
              <a:rPr lang="fr-FR" sz="1600" dirty="0">
                <a:solidFill>
                  <a:srgbClr val="242F62"/>
                </a:solidFill>
                <a:latin typeface="Arial" panose="020B0604020202020204"/>
              </a:rPr>
              <a:t>, il est nécessaire d’autoriser de nouvelles combinaisons faisant appel à ces nouvelles conditions tarifaires.   </a:t>
            </a:r>
          </a:p>
          <a:p>
            <a:pPr defTabSz="457200">
              <a:defRPr/>
            </a:pPr>
            <a:endParaRPr lang="fr-FR" sz="1600" b="1" dirty="0">
              <a:latin typeface="Arial" panose="020B0604020202020204"/>
            </a:endParaRPr>
          </a:p>
          <a:p>
            <a:pPr defTabSz="457200">
              <a:defRPr/>
            </a:pPr>
            <a:r>
              <a:rPr lang="fr-FR" sz="1600" b="1" dirty="0">
                <a:solidFill>
                  <a:srgbClr val="242F62"/>
                </a:solidFill>
                <a:latin typeface="Arial" panose="020B0604020202020204"/>
              </a:rPr>
              <a:t>De plus, l’utilisation d’une seule condition tarifaire pour un même paramètre contrat peut avoir du sens lorsqu’il </a:t>
            </a:r>
            <a:r>
              <a:rPr lang="fr-FR" sz="1600" b="1" dirty="0">
                <a:solidFill>
                  <a:srgbClr val="242F62"/>
                </a:solidFill>
              </a:rPr>
              <a:t>s’agit de certaines conditions de type « 0x » </a:t>
            </a:r>
            <a:r>
              <a:rPr lang="fr-FR" sz="1600" dirty="0">
                <a:solidFill>
                  <a:srgbClr val="242F62"/>
                </a:solidFill>
              </a:rPr>
              <a:t>(tarif unique pour une composition d’ayants droit prédéfinie) </a:t>
            </a:r>
          </a:p>
          <a:p>
            <a:pPr defTabSz="457200">
              <a:defRPr/>
            </a:pPr>
            <a:endParaRPr kumimoji="0" lang="fr-FR" sz="1600" b="0" i="0" u="sng" strike="noStrike" kern="1200" cap="none" spc="0" normalizeH="0" baseline="0" noProof="0" dirty="0">
              <a:ln>
                <a:noFill/>
              </a:ln>
              <a:solidFill>
                <a:srgbClr val="242F62"/>
              </a:solidFill>
              <a:effectLst/>
              <a:uLnTx/>
              <a:uFillTx/>
              <a:latin typeface="Arial" panose="020B0604020202020204"/>
              <a:ea typeface="+mn-ea"/>
              <a:cs typeface="+mn-cs"/>
            </a:endParaRPr>
          </a:p>
          <a:p>
            <a:pPr defTabSz="457200">
              <a:defRPr/>
            </a:pPr>
            <a:r>
              <a:rPr kumimoji="0" lang="fr-FR" sz="1600" b="0" i="0" u="sng" strike="noStrike" kern="1200" cap="none" spc="0" normalizeH="0" baseline="0" noProof="0" dirty="0">
                <a:ln>
                  <a:noFill/>
                </a:ln>
                <a:solidFill>
                  <a:srgbClr val="242F62"/>
                </a:solidFill>
                <a:effectLst/>
                <a:uLnTx/>
                <a:uFillTx/>
                <a:latin typeface="Arial" panose="020B0604020202020204"/>
                <a:ea typeface="+mn-ea"/>
                <a:cs typeface="+mn-cs"/>
              </a:rPr>
              <a:t>Exemples d’utilisation d’une seule condition tarifaire :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242F62"/>
                </a:solidFill>
                <a:effectLst/>
                <a:uLnTx/>
                <a:uFillTx/>
                <a:latin typeface="Arial" panose="020B0604020202020204"/>
                <a:ea typeface="+mn-ea"/>
                <a:cs typeface="+mn-cs"/>
              </a:rPr>
              <a:t>Contrat Santé / Option Famille / Population Cadre</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srgbClr val="242F62"/>
                </a:solidFill>
                <a:effectLst/>
                <a:uLnTx/>
                <a:uFillTx/>
                <a:latin typeface="Arial" panose="020B0604020202020204"/>
                <a:ea typeface="+mn-ea"/>
                <a:cs typeface="+mn-cs"/>
              </a:rPr>
              <a:t>« 20 – Forfait » de « 100 euros »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avec une condition tarifaire « 01 - tarif unique pour l'assuré et tous ses ayants droit »</a:t>
            </a:r>
          </a:p>
          <a:p>
            <a:pPr marL="2857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242F62"/>
                </a:solidFill>
                <a:effectLst/>
                <a:uLnTx/>
                <a:uFillTx/>
                <a:latin typeface="Arial" panose="020B0604020202020204"/>
                <a:ea typeface="+mn-ea"/>
                <a:cs typeface="+mn-cs"/>
              </a:rPr>
              <a:t>Contrat Santé / Option Isolé / Population Cadre</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srgbClr val="242F62"/>
                </a:solidFill>
                <a:effectLst/>
                <a:uLnTx/>
                <a:uFillTx/>
                <a:latin typeface="Arial" panose="020B0604020202020204"/>
                <a:ea typeface="+mn-ea"/>
                <a:cs typeface="+mn-cs"/>
              </a:rPr>
              <a:t>« 18 – Base forfaitaire » de « 1% du PMSS »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avec une condition tarifaire « 02 - tarif unique pour l'assuré seul»</a:t>
            </a:r>
          </a:p>
          <a:p>
            <a:pPr marL="2857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242F62"/>
                </a:solidFill>
                <a:effectLst/>
                <a:uLnTx/>
                <a:uFillTx/>
                <a:latin typeface="Arial" panose="020B0604020202020204"/>
                <a:ea typeface="+mn-ea"/>
                <a:cs typeface="+mn-cs"/>
              </a:rPr>
              <a:t>Contrat Santé / Option Couple / Population Cadre</a:t>
            </a: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600" b="0" i="0" u="none" strike="noStrike" kern="1200" cap="none" spc="0" normalizeH="0" baseline="0" noProof="0" dirty="0">
                <a:ln>
                  <a:noFill/>
                </a:ln>
                <a:solidFill>
                  <a:srgbClr val="242F62"/>
                </a:solidFill>
                <a:effectLst/>
                <a:uLnTx/>
                <a:uFillTx/>
                <a:latin typeface="Arial" panose="020B0604020202020204"/>
                <a:ea typeface="+mn-ea"/>
                <a:cs typeface="+mn-cs"/>
              </a:rPr>
              <a:t>« 11 – Tranche A » à hauteur de « 2% »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avec une condition tarifaire « 03 - tarif unique pour l'assuré et 1 ayant droit Conjoint »</a:t>
            </a:r>
          </a:p>
          <a:p>
            <a:pPr marL="285750" lvl="1" indent="-285750" defTabSz="457200">
              <a:buFont typeface="Arial" panose="020B0604020202020204" pitchFamily="34" charset="0"/>
              <a:buChar char="•"/>
              <a:defRPr/>
            </a:pPr>
            <a:r>
              <a:rPr lang="fr-FR" sz="1600" b="1" dirty="0">
                <a:solidFill>
                  <a:srgbClr val="242F62"/>
                </a:solidFill>
              </a:rPr>
              <a:t>Contrat Santé / Option Avec 1 Enfant / Population Cadre</a:t>
            </a:r>
          </a:p>
          <a:p>
            <a:pPr marL="742950" lvl="1" indent="-285750" defTabSz="457200">
              <a:buFont typeface="Wingdings" panose="05000000000000000000" pitchFamily="2" charset="2"/>
              <a:buChar char="ü"/>
              <a:defRPr/>
            </a:pPr>
            <a:r>
              <a:rPr lang="fr-FR" sz="1600" dirty="0">
                <a:solidFill>
                  <a:srgbClr val="242F62"/>
                </a:solidFill>
              </a:rPr>
              <a:t>« 20 – Forfait » de « 150 euros » </a:t>
            </a:r>
            <a:r>
              <a:rPr lang="fr-FR" sz="1600" dirty="0">
                <a:solidFill>
                  <a:srgbClr val="00A3B6"/>
                </a:solidFill>
              </a:rPr>
              <a:t>avec une condition tarifaire « 04 - tarif unique pour l'assuré et 1 ayant droit Enfant »</a:t>
            </a:r>
          </a:p>
        </p:txBody>
      </p:sp>
    </p:spTree>
    <p:extLst>
      <p:ext uri="{BB962C8B-B14F-4D97-AF65-F5344CB8AC3E}">
        <p14:creationId xmlns:p14="http://schemas.microsoft.com/office/powerpoint/2010/main" val="3803444325"/>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98E94-4DDC-0581-AAC0-116B9C51A33E}"/>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246AFB1F-A28D-BF82-2549-A76F6E5E8548}"/>
              </a:ext>
            </a:extLst>
          </p:cNvPr>
          <p:cNvSpPr>
            <a:spLocks noGrp="1"/>
          </p:cNvSpPr>
          <p:nvPr>
            <p:ph type="sldNum" sz="quarter" idx="12"/>
          </p:nvPr>
        </p:nvSpPr>
        <p:spPr/>
        <p:txBody>
          <a:bodyPr/>
          <a:lstStyle/>
          <a:p>
            <a:fld id="{6C53AC0A-47EB-D843-AAE8-9061F973F010}" type="slidenum">
              <a:rPr lang="fr-FR" smtClean="0"/>
              <a:t>14</a:t>
            </a:fld>
            <a:endParaRPr lang="fr-FR"/>
          </a:p>
        </p:txBody>
      </p:sp>
      <p:sp>
        <p:nvSpPr>
          <p:cNvPr id="5" name="Titre 1">
            <a:extLst>
              <a:ext uri="{FF2B5EF4-FFF2-40B4-BE49-F238E27FC236}">
                <a16:creationId xmlns:a16="http://schemas.microsoft.com/office/drawing/2014/main" id="{9F325DD0-F785-B2FB-E1A9-81C710D3C182}"/>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Ajout de conditions tarifaires et modification de contrôles associés</a:t>
            </a:r>
          </a:p>
        </p:txBody>
      </p:sp>
      <p:sp>
        <p:nvSpPr>
          <p:cNvPr id="2" name="ZoneTexte 1">
            <a:extLst>
              <a:ext uri="{FF2B5EF4-FFF2-40B4-BE49-F238E27FC236}">
                <a16:creationId xmlns:a16="http://schemas.microsoft.com/office/drawing/2014/main" id="{C0090D47-D9AB-978A-E358-C79A4475A382}"/>
              </a:ext>
            </a:extLst>
          </p:cNvPr>
          <p:cNvSpPr txBox="1"/>
          <p:nvPr/>
        </p:nvSpPr>
        <p:spPr>
          <a:xfrm>
            <a:off x="522248" y="764704"/>
            <a:ext cx="8442239" cy="5816977"/>
          </a:xfrm>
          <a:prstGeom prst="rect">
            <a:avLst/>
          </a:prstGeom>
          <a:noFill/>
        </p:spPr>
        <p:txBody>
          <a:bodyPr wrap="square">
            <a:spAutoFit/>
          </a:bodyPr>
          <a:lstStyle/>
          <a:p>
            <a:pPr defTabSz="457200">
              <a:spcBef>
                <a:spcPts val="600"/>
              </a:spcBef>
              <a:defRPr/>
            </a:pPr>
            <a:r>
              <a:rPr lang="fr-FR" sz="1600" u="sng" dirty="0">
                <a:solidFill>
                  <a:schemeClr val="accent6"/>
                </a:solidFill>
                <a:latin typeface="Arial" panose="020B0604020202020204" pitchFamily="34" charset="0"/>
                <a:cs typeface="Times New Roman" panose="02020603050405020304" pitchFamily="18" charset="0"/>
              </a:rPr>
              <a:t>Suppression du contrôle OC.34 en version 140 (OC.D2 en version 139) : </a:t>
            </a:r>
          </a:p>
          <a:p>
            <a:pPr defTabSz="457200">
              <a:spcBef>
                <a:spcPts val="600"/>
              </a:spcBef>
              <a:defRPr/>
            </a:pPr>
            <a:r>
              <a:rPr lang="fr-FR" sz="1600" b="1" strike="dblStrike" dirty="0">
                <a:solidFill>
                  <a:schemeClr val="accent6"/>
                </a:solidFill>
              </a:rPr>
              <a:t>OC.34 / OC.D2 : CONDITIONS : Si un élément « </a:t>
            </a:r>
            <a:r>
              <a:rPr lang="fr-FR" sz="1600" b="1" strike="dblStrike" dirty="0" err="1">
                <a:solidFill>
                  <a:schemeClr val="accent6"/>
                </a:solidFill>
              </a:rPr>
              <a:t>BaseMontantSpecifique</a:t>
            </a:r>
            <a:r>
              <a:rPr lang="fr-FR" sz="1600" b="1" strike="dblStrike" dirty="0">
                <a:solidFill>
                  <a:schemeClr val="accent6"/>
                </a:solidFill>
              </a:rPr>
              <a:t> » comporte un attribut « Condition », alors il existe au moins un autre élément « </a:t>
            </a:r>
            <a:r>
              <a:rPr lang="fr-FR" sz="1600" b="1" strike="dblStrike" dirty="0" err="1">
                <a:solidFill>
                  <a:schemeClr val="accent6"/>
                </a:solidFill>
              </a:rPr>
              <a:t>BaseMontantSpecifique</a:t>
            </a:r>
            <a:r>
              <a:rPr lang="fr-FR" sz="1600" b="1" strike="dblStrike" dirty="0">
                <a:solidFill>
                  <a:schemeClr val="accent6"/>
                </a:solidFill>
              </a:rPr>
              <a:t> » comportant aussi un attribut « Condition » dans le même « </a:t>
            </a:r>
            <a:r>
              <a:rPr lang="fr-FR" sz="1600" b="1" strike="dblStrike" dirty="0" err="1">
                <a:solidFill>
                  <a:schemeClr val="accent6"/>
                </a:solidFill>
              </a:rPr>
              <a:t>ElementsDeCalculAttendus</a:t>
            </a:r>
            <a:r>
              <a:rPr lang="fr-FR" sz="1600" b="1" strike="dblStrike" dirty="0">
                <a:solidFill>
                  <a:schemeClr val="accent6"/>
                </a:solidFill>
              </a:rPr>
              <a:t> ».</a:t>
            </a:r>
          </a:p>
          <a:p>
            <a:pPr defTabSz="457200">
              <a:spcBef>
                <a:spcPts val="600"/>
              </a:spcBef>
              <a:defRPr/>
            </a:pPr>
            <a:endParaRPr lang="fr-FR" sz="1600" u="sng" dirty="0">
              <a:solidFill>
                <a:schemeClr val="accent6"/>
              </a:solidFill>
              <a:latin typeface="Arial" panose="020B0604020202020204" pitchFamily="34" charset="0"/>
              <a:cs typeface="Times New Roman" panose="02020603050405020304" pitchFamily="18" charset="0"/>
            </a:endParaRPr>
          </a:p>
          <a:p>
            <a:pPr defTabSz="457200">
              <a:spcBef>
                <a:spcPts val="600"/>
              </a:spcBef>
              <a:defRPr/>
            </a:pPr>
            <a:r>
              <a:rPr lang="fr-FR" sz="1600" u="sng" dirty="0">
                <a:solidFill>
                  <a:schemeClr val="accent6"/>
                </a:solidFill>
                <a:latin typeface="Arial" panose="020B0604020202020204" pitchFamily="34" charset="0"/>
                <a:cs typeface="Times New Roman" panose="02020603050405020304" pitchFamily="18" charset="0"/>
              </a:rPr>
              <a:t>Modification du contrôle OC.39 en version 140 (OC.D5 en version 139) avec ajout de combinaisons </a:t>
            </a:r>
            <a:r>
              <a:rPr lang="fr-FR" sz="1600" u="sng" dirty="0">
                <a:solidFill>
                  <a:schemeClr val="accent6"/>
                </a:solidFill>
                <a:highlight>
                  <a:srgbClr val="00FFFF"/>
                </a:highlight>
                <a:latin typeface="Arial" panose="020B0604020202020204" pitchFamily="34" charset="0"/>
                <a:cs typeface="Times New Roman" panose="02020603050405020304" pitchFamily="18" charset="0"/>
              </a:rPr>
              <a:t>surlignées en bleu </a:t>
            </a:r>
            <a:r>
              <a:rPr lang="fr-FR" sz="1600" u="sng" dirty="0">
                <a:solidFill>
                  <a:schemeClr val="accent6"/>
                </a:solidFill>
                <a:latin typeface="Arial" panose="020B0604020202020204" pitchFamily="34" charset="0"/>
                <a:cs typeface="Times New Roman" panose="02020603050405020304" pitchFamily="18" charset="0"/>
              </a:rPr>
              <a:t> :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mn-cs"/>
              </a:rPr>
              <a:t>OC.39 / OC.D5 :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Dans un même «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ElementsDeCalculAttendus</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le ou les «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renseignés avec une condition doivent obligatoirement correspondre à l'une des combinatoires suivantes :</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highlight>
                  <a:srgbClr val="00FFFF"/>
                </a:highlight>
                <a:uLnTx/>
                <a:uFillTx/>
                <a:latin typeface="Arial" panose="020B0604020202020204"/>
                <a:ea typeface="+mn-ea"/>
                <a:cs typeface="+mn-cs"/>
              </a:rPr>
              <a:t>1  «</a:t>
            </a:r>
            <a:r>
              <a:rPr kumimoji="0" lang="fr-FR" sz="1600" b="0" i="0" u="none" strike="noStrike" kern="1200" cap="none" spc="0" normalizeH="0" baseline="0" noProof="0" dirty="0" err="1">
                <a:ln>
                  <a:noFill/>
                </a:ln>
                <a:solidFill>
                  <a:srgbClr val="00A3B6"/>
                </a:solidFill>
                <a:effectLst/>
                <a:highlight>
                  <a:srgbClr val="00FFFF"/>
                </a:highligh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highlight>
                  <a:srgbClr val="00FFFF"/>
                </a:highlight>
                <a:uLnTx/>
                <a:uFillTx/>
                <a:latin typeface="Arial" panose="020B0604020202020204"/>
                <a:ea typeface="+mn-ea"/>
                <a:cs typeface="+mn-cs"/>
              </a:rPr>
              <a:t> » de condition 01 à 04</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2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02/01, </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3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02/05/07   </a:t>
            </a:r>
          </a:p>
          <a:p>
            <a:pPr marL="742950" lvl="1" indent="-285750" defTabSz="457200">
              <a:buFont typeface="Arial" panose="020B0604020202020204" pitchFamily="34" charset="0"/>
              <a:buChar char="•"/>
              <a:defRPr/>
            </a:pPr>
            <a:r>
              <a:rPr lang="fr-FR" sz="1600" dirty="0">
                <a:solidFill>
                  <a:srgbClr val="00A3B6"/>
                </a:solidFill>
                <a:latin typeface="Arial" panose="020B0604020202020204"/>
              </a:rPr>
              <a:t>4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02/03/04/07 ou 02/05/06/09, </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5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02/03/04/06/09</a:t>
            </a:r>
            <a:endParaRPr kumimoji="0" lang="fr-FR" sz="1600" b="0" i="0" u="none" strike="noStrike" kern="1200" cap="none" spc="0" normalizeH="0" baseline="0" noProof="0" dirty="0">
              <a:ln>
                <a:noFill/>
              </a:ln>
              <a:solidFill>
                <a:srgbClr val="242F62"/>
              </a:solidFill>
              <a:effectLst/>
              <a:highlight>
                <a:srgbClr val="00FFFF"/>
              </a:highlight>
              <a:uLnTx/>
              <a:uFillTx/>
              <a:latin typeface="Arial" panose="020B0604020202020204"/>
              <a:ea typeface="+mn-ea"/>
              <a:cs typeface="+mn-cs"/>
            </a:endParaRP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highlight>
                  <a:srgbClr val="00FFFF"/>
                </a:highlight>
                <a:uLnTx/>
                <a:uFillTx/>
                <a:latin typeface="Arial" panose="020B0604020202020204"/>
                <a:ea typeface="+mn-ea"/>
                <a:cs typeface="+mn-cs"/>
              </a:rPr>
              <a:t>6  «</a:t>
            </a:r>
            <a:r>
              <a:rPr kumimoji="0" lang="fr-FR" sz="1600" b="0" i="0" u="none" strike="noStrike" kern="1200" cap="none" spc="0" normalizeH="0" baseline="0" noProof="0" dirty="0" err="1">
                <a:ln>
                  <a:noFill/>
                </a:ln>
                <a:solidFill>
                  <a:srgbClr val="00A3B6"/>
                </a:solidFill>
                <a:effectLst/>
                <a:highlight>
                  <a:srgbClr val="00FFFF"/>
                </a:highligh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highlight>
                  <a:srgbClr val="00FFFF"/>
                </a:highlight>
                <a:uLnTx/>
                <a:uFillTx/>
                <a:latin typeface="Arial" panose="020B0604020202020204"/>
                <a:ea typeface="+mn-ea"/>
                <a:cs typeface="+mn-cs"/>
              </a:rPr>
              <a:t> » de conditions : 02/03/04/11/06/09</a:t>
            </a:r>
          </a:p>
          <a:p>
            <a:pPr marL="742950" lvl="1" indent="-285750" defTabSz="457200">
              <a:buFont typeface="Arial" panose="020B0604020202020204" pitchFamily="34" charset="0"/>
              <a:buChar char="•"/>
              <a:defRPr/>
            </a:pPr>
            <a:r>
              <a:rPr lang="fr-FR" sz="1600" dirty="0">
                <a:solidFill>
                  <a:srgbClr val="00A3B6"/>
                </a:solidFill>
                <a:highlight>
                  <a:srgbClr val="00FFFF"/>
                </a:highlight>
                <a:latin typeface="Arial" panose="020B0604020202020204"/>
              </a:rPr>
              <a:t>7</a:t>
            </a:r>
            <a:r>
              <a:rPr lang="fr-FR" sz="1600" dirty="0">
                <a:solidFill>
                  <a:srgbClr val="00A3B6"/>
                </a:solidFill>
                <a:highlight>
                  <a:srgbClr val="00FFFF"/>
                </a:highlight>
              </a:rPr>
              <a:t>  «</a:t>
            </a:r>
            <a:r>
              <a:rPr lang="fr-FR" sz="1600" dirty="0" err="1">
                <a:solidFill>
                  <a:srgbClr val="00A3B6"/>
                </a:solidFill>
                <a:highlight>
                  <a:srgbClr val="00FFFF"/>
                </a:highlight>
              </a:rPr>
              <a:t>BaseMontantSpecifique</a:t>
            </a:r>
            <a:r>
              <a:rPr lang="fr-FR" sz="1600" dirty="0">
                <a:solidFill>
                  <a:srgbClr val="00A3B6"/>
                </a:solidFill>
                <a:highlight>
                  <a:srgbClr val="00FFFF"/>
                </a:highlight>
              </a:rPr>
              <a:t> » de conditions : 02/03/04/11/12/06/09</a:t>
            </a:r>
            <a:endParaRPr kumimoji="0" lang="fr-FR" sz="1600" b="0" i="0" u="none" strike="noStrike" kern="1200" cap="none" spc="0" normalizeH="0" baseline="0" noProof="0" dirty="0">
              <a:ln>
                <a:noFill/>
              </a:ln>
              <a:solidFill>
                <a:srgbClr val="00A3B6"/>
              </a:solidFill>
              <a:effectLst/>
              <a:highlight>
                <a:srgbClr val="00FFFF"/>
              </a:highlight>
              <a:uLnTx/>
              <a:uFillTx/>
              <a:latin typeface="Arial" panose="020B0604020202020204"/>
              <a:ea typeface="+mn-ea"/>
              <a:cs typeface="+mn-cs"/>
            </a:endParaRP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2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90/92, </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3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 90/91/94 ou 90/91/95 ou 90/94/95</a:t>
            </a:r>
          </a:p>
          <a:p>
            <a:pPr marL="742950" lvl="1" indent="-285750" defTabSz="457200">
              <a:buFont typeface="Arial" panose="020B0604020202020204" pitchFamily="34" charset="0"/>
              <a:buChar char="•"/>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4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 de conditions: 90/91/94/95</a:t>
            </a:r>
          </a:p>
          <a:p>
            <a:pPr defTabSz="457200">
              <a:defRPr/>
            </a:pPr>
            <a:endParaRPr kumimoji="0" lang="fr-FR" sz="1600" i="0" u="none" strike="noStrike" kern="1200" cap="none" spc="0" normalizeH="0" baseline="0" noProof="0" dirty="0">
              <a:ln>
                <a:noFill/>
              </a:ln>
              <a:solidFill>
                <a:schemeClr val="accent6"/>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91854966"/>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5B21-EF8A-608A-8DFC-C2D0777C5FFA}"/>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91AD4006-0B5A-E5E8-F211-6F653D1E7CC6}"/>
              </a:ext>
            </a:extLst>
          </p:cNvPr>
          <p:cNvSpPr>
            <a:spLocks noGrp="1"/>
          </p:cNvSpPr>
          <p:nvPr>
            <p:ph type="sldNum" sz="quarter" idx="12"/>
          </p:nvPr>
        </p:nvSpPr>
        <p:spPr/>
        <p:txBody>
          <a:bodyPr/>
          <a:lstStyle/>
          <a:p>
            <a:fld id="{6C53AC0A-47EB-D843-AAE8-9061F973F010}" type="slidenum">
              <a:rPr lang="fr-FR" smtClean="0"/>
              <a:t>15</a:t>
            </a:fld>
            <a:endParaRPr lang="fr-FR"/>
          </a:p>
        </p:txBody>
      </p:sp>
      <p:sp>
        <p:nvSpPr>
          <p:cNvPr id="5" name="Titre 1">
            <a:extLst>
              <a:ext uri="{FF2B5EF4-FFF2-40B4-BE49-F238E27FC236}">
                <a16:creationId xmlns:a16="http://schemas.microsoft.com/office/drawing/2014/main" id="{AA50C6BA-3F76-95F2-79D4-9985E4DFE71C}"/>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Récapitulatif des éléments de calcul</a:t>
            </a:r>
          </a:p>
        </p:txBody>
      </p:sp>
      <p:graphicFrame>
        <p:nvGraphicFramePr>
          <p:cNvPr id="3" name="Tableau 2">
            <a:extLst>
              <a:ext uri="{FF2B5EF4-FFF2-40B4-BE49-F238E27FC236}">
                <a16:creationId xmlns:a16="http://schemas.microsoft.com/office/drawing/2014/main" id="{2E1F2886-6D5E-142D-7331-25B77924B3FA}"/>
              </a:ext>
            </a:extLst>
          </p:cNvPr>
          <p:cNvGraphicFramePr>
            <a:graphicFrameLocks noGrp="1"/>
          </p:cNvGraphicFramePr>
          <p:nvPr>
            <p:extLst>
              <p:ext uri="{D42A27DB-BD31-4B8C-83A1-F6EECF244321}">
                <p14:modId xmlns:p14="http://schemas.microsoft.com/office/powerpoint/2010/main" val="1063923303"/>
              </p:ext>
            </p:extLst>
          </p:nvPr>
        </p:nvGraphicFramePr>
        <p:xfrm>
          <a:off x="270274" y="692697"/>
          <a:ext cx="8550196" cy="5712176"/>
        </p:xfrm>
        <a:graphic>
          <a:graphicData uri="http://schemas.openxmlformats.org/drawingml/2006/table">
            <a:tbl>
              <a:tblPr/>
              <a:tblGrid>
                <a:gridCol w="1481038">
                  <a:extLst>
                    <a:ext uri="{9D8B030D-6E8A-4147-A177-3AD203B41FA5}">
                      <a16:colId xmlns:a16="http://schemas.microsoft.com/office/drawing/2014/main" val="1651255870"/>
                    </a:ext>
                  </a:extLst>
                </a:gridCol>
                <a:gridCol w="1481038">
                  <a:extLst>
                    <a:ext uri="{9D8B030D-6E8A-4147-A177-3AD203B41FA5}">
                      <a16:colId xmlns:a16="http://schemas.microsoft.com/office/drawing/2014/main" val="1408060810"/>
                    </a:ext>
                  </a:extLst>
                </a:gridCol>
                <a:gridCol w="1306799">
                  <a:extLst>
                    <a:ext uri="{9D8B030D-6E8A-4147-A177-3AD203B41FA5}">
                      <a16:colId xmlns:a16="http://schemas.microsoft.com/office/drawing/2014/main" val="191552923"/>
                    </a:ext>
                  </a:extLst>
                </a:gridCol>
                <a:gridCol w="1306799">
                  <a:extLst>
                    <a:ext uri="{9D8B030D-6E8A-4147-A177-3AD203B41FA5}">
                      <a16:colId xmlns:a16="http://schemas.microsoft.com/office/drawing/2014/main" val="4099346426"/>
                    </a:ext>
                  </a:extLst>
                </a:gridCol>
                <a:gridCol w="1202859">
                  <a:extLst>
                    <a:ext uri="{9D8B030D-6E8A-4147-A177-3AD203B41FA5}">
                      <a16:colId xmlns:a16="http://schemas.microsoft.com/office/drawing/2014/main" val="2497400138"/>
                    </a:ext>
                  </a:extLst>
                </a:gridCol>
                <a:gridCol w="907569">
                  <a:extLst>
                    <a:ext uri="{9D8B030D-6E8A-4147-A177-3AD203B41FA5}">
                      <a16:colId xmlns:a16="http://schemas.microsoft.com/office/drawing/2014/main" val="2840880153"/>
                    </a:ext>
                  </a:extLst>
                </a:gridCol>
                <a:gridCol w="864094">
                  <a:extLst>
                    <a:ext uri="{9D8B030D-6E8A-4147-A177-3AD203B41FA5}">
                      <a16:colId xmlns:a16="http://schemas.microsoft.com/office/drawing/2014/main" val="1978312170"/>
                    </a:ext>
                  </a:extLst>
                </a:gridCol>
              </a:tblGrid>
              <a:tr h="333810">
                <a:tc>
                  <a:txBody>
                    <a:bodyPr/>
                    <a:lstStyle/>
                    <a:p>
                      <a:pPr algn="ctr" rtl="0" fontAlgn="ctr">
                        <a:buNone/>
                      </a:pPr>
                      <a:r>
                        <a:rPr lang="fr-FR" sz="1200" b="1" i="0" u="none" strike="noStrike">
                          <a:solidFill>
                            <a:srgbClr val="242F62"/>
                          </a:solidFill>
                          <a:effectLst/>
                          <a:latin typeface="Calibri" panose="020F0502020204030204" pitchFamily="34" charset="0"/>
                        </a:rPr>
                        <a:t>Eléments de calcul </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1" i="0" u="none" strike="noStrike">
                          <a:solidFill>
                            <a:srgbClr val="242F62"/>
                          </a:solidFill>
                          <a:effectLst/>
                          <a:latin typeface="Calibri" panose="020F0502020204030204" pitchFamily="34" charset="0"/>
                        </a:rPr>
                        <a:t>Code Nature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1" i="0" u="none" strike="noStrike">
                          <a:solidFill>
                            <a:srgbClr val="242F62"/>
                          </a:solidFill>
                          <a:effectLst/>
                          <a:latin typeface="Calibri" panose="020F0502020204030204" pitchFamily="34" charset="0"/>
                        </a:rPr>
                        <a:t>Taux</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1" i="0" u="none" strike="noStrike">
                          <a:solidFill>
                            <a:srgbClr val="242F62"/>
                          </a:solidFill>
                          <a:effectLst/>
                          <a:latin typeface="Calibri" panose="020F0502020204030204" pitchFamily="34" charset="0"/>
                        </a:rPr>
                        <a:t>Montant / Coef+Assiette</a:t>
                      </a:r>
                    </a:p>
                  </a:txBody>
                  <a:tcPr marL="5424" marR="5424" marT="5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1" i="0" u="none" strike="noStrike">
                          <a:solidFill>
                            <a:srgbClr val="242F62"/>
                          </a:solidFill>
                          <a:effectLst/>
                          <a:latin typeface="Calibri" panose="020F0502020204030204" pitchFamily="34" charset="0"/>
                        </a:rPr>
                        <a:t>Condition tarifaire</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fr-FR" sz="1200" b="0" i="0" u="none" strike="noStrike" dirty="0">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1304724866"/>
                  </a:ext>
                </a:extLst>
              </a:tr>
              <a:tr h="236104">
                <a:tc rowSpan="8">
                  <a:txBody>
                    <a:bodyPr/>
                    <a:lstStyle/>
                    <a:p>
                      <a:pPr algn="ctr" fontAlgn="ctr">
                        <a:buNone/>
                      </a:pPr>
                      <a:r>
                        <a:rPr lang="fr-FR" sz="1200" b="1" i="0" u="none" strike="noStrike">
                          <a:solidFill>
                            <a:srgbClr val="000000"/>
                          </a:solidFill>
                          <a:effectLst/>
                          <a:latin typeface="Calibri" panose="020F0502020204030204" pitchFamily="34" charset="0"/>
                        </a:rPr>
                        <a:t>Brut et Tranches </a:t>
                      </a:r>
                      <a:r>
                        <a:rPr lang="fr-FR" sz="1200" b="0" i="0" u="none" strike="noStrike">
                          <a:solidFill>
                            <a:srgbClr val="000000"/>
                          </a:solidFill>
                          <a:effectLst/>
                          <a:latin typeface="Calibri" panose="020F0502020204030204" pitchFamily="34" charset="0"/>
                        </a:rPr>
                        <a:t>(éléments uniques)</a:t>
                      </a:r>
                      <a:endParaRPr lang="fr-FR" sz="1200" b="1"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242F62"/>
                          </a:solidFill>
                          <a:effectLst/>
                          <a:latin typeface="Calibri" panose="020F0502020204030204" pitchFamily="34" charset="0"/>
                        </a:rPr>
                        <a:t>10 </a:t>
                      </a:r>
                      <a:r>
                        <a:rPr lang="fr-FR" sz="1200" b="0" i="0" u="none" strike="noStrike" dirty="0">
                          <a:solidFill>
                            <a:srgbClr val="242F62"/>
                          </a:solidFill>
                          <a:effectLst/>
                          <a:latin typeface="Calibri" panose="020F0502020204030204" pitchFamily="34" charset="0"/>
                        </a:rPr>
                        <a:t>= Brut prévoyance</a:t>
                      </a:r>
                      <a:endParaRPr lang="fr-FR" sz="1200" b="1" i="0" u="none" strike="noStrike" dirty="0">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8">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rowSpan="8">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rowSpan="8">
                  <a:txBody>
                    <a:bodyPr/>
                    <a:lstStyle/>
                    <a:p>
                      <a:pPr algn="ctr" fontAlgn="ctr">
                        <a:buNone/>
                      </a:pPr>
                      <a:r>
                        <a:rPr lang="fr-FR" sz="1200" b="1" i="0" u="none" strike="noStrike" dirty="0">
                          <a:solidFill>
                            <a:srgbClr val="000000"/>
                          </a:solidFill>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r>
                        <a:rPr lang="fr-FR" sz="1050" b="1" i="0" u="none" strike="noStrike" dirty="0">
                          <a:solidFill>
                            <a:srgbClr val="000000"/>
                          </a:solidFill>
                          <a:effectLst/>
                          <a:latin typeface="Calibri" panose="020F0502020204030204" pitchFamily="34" charset="0"/>
                        </a:rPr>
                        <a:t>Modifié en 139</a:t>
                      </a:r>
                    </a:p>
                  </a:txBody>
                  <a:tcPr marL="5424" marR="5424" marT="5424" marB="0" anchor="ctr">
                    <a:lnL>
                      <a:noFill/>
                    </a:lnL>
                    <a:lnR>
                      <a:noFill/>
                    </a:lnR>
                    <a:lnT>
                      <a:noFill/>
                    </a:lnT>
                    <a:lnB>
                      <a:noFill/>
                    </a:lnB>
                    <a:solidFill>
                      <a:srgbClr val="FFFFCC"/>
                    </a:solidFill>
                  </a:tcPr>
                </a:tc>
                <a:extLst>
                  <a:ext uri="{0D108BD9-81ED-4DB2-BD59-A6C34878D82A}">
                    <a16:rowId xmlns:a16="http://schemas.microsoft.com/office/drawing/2014/main" val="1826065586"/>
                  </a:ext>
                </a:extLst>
              </a:tr>
              <a:tr h="236104">
                <a:tc vMerge="1">
                  <a:txBody>
                    <a:bodyPr/>
                    <a:lstStyle/>
                    <a:p>
                      <a:endParaRPr lang="fr-FR"/>
                    </a:p>
                  </a:txBody>
                  <a:tcPr/>
                </a:tc>
                <a:tc>
                  <a:txBody>
                    <a:bodyPr/>
                    <a:lstStyle/>
                    <a:p>
                      <a:pPr algn="l" rtl="0" fontAlgn="ctr">
                        <a:buNone/>
                      </a:pPr>
                      <a:r>
                        <a:rPr lang="fr-FR" sz="1200" b="1" i="0" u="none" strike="noStrike" dirty="0">
                          <a:solidFill>
                            <a:srgbClr val="242F62"/>
                          </a:solidFill>
                          <a:effectLst/>
                          <a:latin typeface="Calibri" panose="020F0502020204030204" pitchFamily="34" charset="0"/>
                        </a:rPr>
                        <a:t>11 </a:t>
                      </a:r>
                      <a:r>
                        <a:rPr lang="fr-FR" sz="1200" b="0" i="0" u="none" strike="noStrike" dirty="0">
                          <a:solidFill>
                            <a:srgbClr val="242F62"/>
                          </a:solidFill>
                          <a:effectLst/>
                          <a:latin typeface="Calibri" panose="020F0502020204030204" pitchFamily="34" charset="0"/>
                        </a:rPr>
                        <a:t>= TA prévoyance</a:t>
                      </a:r>
                      <a:endParaRPr lang="fr-FR" sz="1200" b="1" i="0" u="none" strike="noStrike" dirty="0">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dirty="0">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r>
                        <a:rPr lang="fr-FR" sz="1050" b="1" i="0" u="none" strike="noStrike" dirty="0">
                          <a:solidFill>
                            <a:srgbClr val="000000"/>
                          </a:solidFill>
                          <a:effectLst/>
                          <a:latin typeface="Calibri" panose="020F0502020204030204" pitchFamily="34" charset="0"/>
                        </a:rPr>
                        <a:t>Ajouté en 140</a:t>
                      </a:r>
                    </a:p>
                  </a:txBody>
                  <a:tcPr marL="5424" marR="5424" marT="5424" marB="0" anchor="ctr">
                    <a:lnL>
                      <a:noFill/>
                    </a:lnL>
                    <a:lnR>
                      <a:noFill/>
                    </a:lnR>
                    <a:lnT>
                      <a:noFill/>
                    </a:lnT>
                    <a:lnB>
                      <a:noFill/>
                    </a:lnB>
                    <a:solidFill>
                      <a:srgbClr val="F2DCDB"/>
                    </a:solidFill>
                  </a:tcPr>
                </a:tc>
                <a:extLst>
                  <a:ext uri="{0D108BD9-81ED-4DB2-BD59-A6C34878D82A}">
                    <a16:rowId xmlns:a16="http://schemas.microsoft.com/office/drawing/2014/main" val="1408655091"/>
                  </a:ext>
                </a:extLst>
              </a:tr>
              <a:tr h="169344">
                <a:tc vMerge="1">
                  <a:txBody>
                    <a:bodyPr/>
                    <a:lstStyle/>
                    <a:p>
                      <a:endParaRPr lang="fr-FR"/>
                    </a:p>
                  </a:txBody>
                  <a:tcPr>
                    <a:lnT w="19050" cap="flat" cmpd="sng" algn="ctr">
                      <a:solidFill>
                        <a:srgbClr val="000000"/>
                      </a:solidFill>
                      <a:prstDash val="solid"/>
                      <a:round/>
                      <a:headEnd type="none" w="med" len="med"/>
                      <a:tailEnd type="none" w="med" len="med"/>
                    </a:lnT>
                  </a:tcPr>
                </a:tc>
                <a:tc>
                  <a:txBody>
                    <a:bodyPr/>
                    <a:lstStyle/>
                    <a:p>
                      <a:pPr algn="l" rtl="0" fontAlgn="ctr">
                        <a:buNone/>
                      </a:pPr>
                      <a:r>
                        <a:rPr lang="fr-FR" sz="1200" b="1" i="0" u="none" strike="noStrike" dirty="0">
                          <a:solidFill>
                            <a:srgbClr val="242F62"/>
                          </a:solidFill>
                          <a:effectLst/>
                          <a:latin typeface="Calibri" panose="020F0502020204030204" pitchFamily="34" charset="0"/>
                        </a:rPr>
                        <a:t>12</a:t>
                      </a:r>
                      <a:r>
                        <a:rPr lang="fr-FR" sz="1200" b="0" i="0" u="none" strike="noStrike" dirty="0">
                          <a:solidFill>
                            <a:srgbClr val="242F62"/>
                          </a:solidFill>
                          <a:effectLst/>
                          <a:latin typeface="Calibri" panose="020F0502020204030204" pitchFamily="34" charset="0"/>
                        </a:rPr>
                        <a:t> = T2 prévoyance</a:t>
                      </a:r>
                    </a:p>
                  </a:txBody>
                  <a:tcPr marL="5424" marR="5424" marT="5424" marB="0" anchor="ctr">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lnL w="19050" cap="flat" cmpd="sng" algn="ctr">
                      <a:solidFill>
                        <a:srgbClr val="000000"/>
                      </a:solidFill>
                      <a:prstDash val="solid"/>
                      <a:round/>
                      <a:headEnd type="none" w="med" len="med"/>
                      <a:tailEnd type="none" w="med" len="med"/>
                    </a:lnL>
                    <a:lnT w="19050" cap="flat" cmpd="sng" algn="ctr">
                      <a:solidFill>
                        <a:srgbClr val="000000"/>
                      </a:solidFill>
                      <a:prstDash val="solid"/>
                      <a:round/>
                      <a:headEnd type="none" w="med" len="med"/>
                      <a:tailEnd type="none" w="med" len="med"/>
                    </a:lnT>
                  </a:tcPr>
                </a:tc>
                <a:tc vMerge="1">
                  <a:txBody>
                    <a:bodyPr/>
                    <a:lstStyle/>
                    <a:p>
                      <a:endParaRPr lang="fr-FR"/>
                    </a:p>
                  </a:txBody>
                  <a:tcPr>
                    <a:lnT w="19050" cap="flat" cmpd="sng" algn="ctr">
                      <a:solidFill>
                        <a:srgbClr val="000000"/>
                      </a:solidFill>
                      <a:prstDash val="solid"/>
                      <a:round/>
                      <a:headEnd type="none" w="med" len="med"/>
                      <a:tailEnd type="none" w="med" len="med"/>
                    </a:lnT>
                  </a:tcPr>
                </a:tc>
                <a:tc vMerge="1">
                  <a:txBody>
                    <a:bodyPr/>
                    <a:lstStyle/>
                    <a:p>
                      <a:endParaRPr lang="fr-FR"/>
                    </a:p>
                  </a:txBody>
                  <a:tcPr>
                    <a:lnT w="19050" cap="flat" cmpd="sng" algn="ctr">
                      <a:solidFill>
                        <a:srgbClr val="000000"/>
                      </a:solidFill>
                      <a:prstDash val="solid"/>
                      <a:round/>
                      <a:headEnd type="none" w="med" len="med"/>
                      <a:tailEnd type="none" w="med" len="med"/>
                    </a:lnT>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R>
                      <a:noFill/>
                    </a:lnR>
                    <a:lnT>
                      <a:noFill/>
                    </a:lnT>
                    <a:lnB>
                      <a:noFill/>
                    </a:lnB>
                    <a:noFill/>
                  </a:tcPr>
                </a:tc>
                <a:tc>
                  <a:txBody>
                    <a:bodyPr/>
                    <a:lstStyle/>
                    <a:p>
                      <a:pPr algn="l" fontAlgn="ctr">
                        <a:buNone/>
                      </a:pPr>
                      <a:r>
                        <a:rPr lang="fr-FR" sz="1050" b="1" i="0" u="none" strike="noStrike" dirty="0">
                          <a:solidFill>
                            <a:srgbClr val="000000"/>
                          </a:solidFill>
                          <a:effectLst/>
                          <a:latin typeface="Calibri" panose="020F0502020204030204" pitchFamily="34" charset="0"/>
                        </a:rPr>
                        <a:t>Interdit</a:t>
                      </a:r>
                    </a:p>
                  </a:txBody>
                  <a:tcPr marL="5424" marR="5424" marT="5424" marB="0" anchor="ctr">
                    <a:lnL>
                      <a:noFill/>
                    </a:lnL>
                    <a:lnR>
                      <a:noFill/>
                    </a:lnR>
                    <a:lnT>
                      <a:noFill/>
                    </a:lnT>
                    <a:lnB>
                      <a:noFill/>
                    </a:lnB>
                    <a:solidFill>
                      <a:srgbClr val="CCCED8"/>
                    </a:solidFill>
                  </a:tcPr>
                </a:tc>
                <a:extLst>
                  <a:ext uri="{0D108BD9-81ED-4DB2-BD59-A6C34878D82A}">
                    <a16:rowId xmlns:a16="http://schemas.microsoft.com/office/drawing/2014/main" val="2736325933"/>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13</a:t>
                      </a:r>
                      <a:r>
                        <a:rPr lang="fr-FR" sz="1200" b="0" i="0" u="none" strike="noStrike">
                          <a:solidFill>
                            <a:srgbClr val="242F62"/>
                          </a:solidFill>
                          <a:effectLst/>
                          <a:latin typeface="Calibri" panose="020F0502020204030204" pitchFamily="34" charset="0"/>
                        </a:rPr>
                        <a:t> = TB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fr-FR" sz="1200" b="0" i="0" u="none" strike="noStrike" dirty="0">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4203191871"/>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14</a:t>
                      </a:r>
                      <a:r>
                        <a:rPr lang="fr-FR" sz="1200" b="0" i="0" u="none" strike="noStrike">
                          <a:solidFill>
                            <a:srgbClr val="242F62"/>
                          </a:solidFill>
                          <a:effectLst/>
                          <a:latin typeface="Calibri" panose="020F0502020204030204" pitchFamily="34" charset="0"/>
                        </a:rPr>
                        <a:t> = TC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4268696297"/>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15</a:t>
                      </a:r>
                      <a:r>
                        <a:rPr lang="fr-FR" sz="1200" b="0" i="0" u="none" strike="noStrike">
                          <a:solidFill>
                            <a:srgbClr val="242F62"/>
                          </a:solidFill>
                          <a:effectLst/>
                          <a:latin typeface="Calibri" panose="020F0502020204030204" pitchFamily="34" charset="0"/>
                        </a:rPr>
                        <a:t> = TD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1667371216"/>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16</a:t>
                      </a:r>
                      <a:r>
                        <a:rPr lang="fr-FR" sz="1200" b="0" i="0" u="none" strike="noStrike">
                          <a:solidFill>
                            <a:srgbClr val="242F62"/>
                          </a:solidFill>
                          <a:effectLst/>
                          <a:latin typeface="Calibri" panose="020F0502020204030204" pitchFamily="34" charset="0"/>
                        </a:rPr>
                        <a:t> = TD1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3288653209"/>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24</a:t>
                      </a:r>
                      <a:r>
                        <a:rPr lang="fr-FR" sz="1200" b="0" i="0" u="none" strike="noStrike">
                          <a:solidFill>
                            <a:srgbClr val="242F62"/>
                          </a:solidFill>
                          <a:effectLst/>
                          <a:latin typeface="Calibri" panose="020F0502020204030204" pitchFamily="34" charset="0"/>
                        </a:rPr>
                        <a:t> = T2U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76383343"/>
                  </a:ext>
                </a:extLst>
              </a:tr>
              <a:tr h="169344">
                <a:tc rowSpan="13">
                  <a:txBody>
                    <a:bodyPr/>
                    <a:lstStyle/>
                    <a:p>
                      <a:pPr algn="ctr" fontAlgn="ctr">
                        <a:buNone/>
                      </a:pPr>
                      <a:r>
                        <a:rPr lang="fr-FR" sz="1200" b="1" i="0" u="none" strike="noStrike">
                          <a:solidFill>
                            <a:srgbClr val="000000"/>
                          </a:solidFill>
                          <a:effectLst/>
                          <a:latin typeface="Calibri" panose="020F0502020204030204" pitchFamily="34" charset="0"/>
                        </a:rPr>
                        <a:t>BMS </a:t>
                      </a:r>
                      <a:br>
                        <a:rPr lang="fr-FR" sz="1200" b="1"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(Bases et montants spécifiques) </a:t>
                      </a:r>
                      <a:endParaRPr lang="fr-FR" sz="1200" b="1"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a:solidFill>
                            <a:srgbClr val="242F62"/>
                          </a:solidFill>
                          <a:effectLst/>
                          <a:latin typeface="Calibri" panose="020F0502020204030204" pitchFamily="34" charset="0"/>
                        </a:rPr>
                        <a:t>10 </a:t>
                      </a:r>
                      <a:r>
                        <a:rPr lang="fr-FR" sz="1200" b="0" i="0" u="none" strike="noStrike">
                          <a:solidFill>
                            <a:srgbClr val="242F62"/>
                          </a:solidFill>
                          <a:effectLst/>
                          <a:latin typeface="Calibri" panose="020F0502020204030204" pitchFamily="34" charset="0"/>
                        </a:rPr>
                        <a:t>= Brut prévoyance</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rowSpan="8">
                  <a:txBody>
                    <a:bodyPr/>
                    <a:lstStyle/>
                    <a:p>
                      <a:pPr algn="ctr" rtl="0" fontAlgn="ctr">
                        <a:buNone/>
                      </a:pPr>
                      <a:r>
                        <a:rPr lang="fr-FR" sz="1200" b="1" i="0" u="none" strike="noStrike">
                          <a:solidFill>
                            <a:srgbClr val="242F62"/>
                          </a:solidFill>
                          <a:effectLst/>
                          <a:latin typeface="Calibri" panose="020F0502020204030204" pitchFamily="34" charset="0"/>
                        </a:rPr>
                        <a:t>Taux Obligatoire</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rowSpan="8">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rowSpan="8">
                  <a:txBody>
                    <a:bodyPr/>
                    <a:lstStyle/>
                    <a:p>
                      <a:pPr algn="ctr" rtl="0" fontAlgn="ctr">
                        <a:buNone/>
                      </a:pPr>
                      <a:r>
                        <a:rPr lang="fr-FR" sz="1200" b="1" i="0" u="none" strike="noStrike">
                          <a:solidFill>
                            <a:srgbClr val="242F62"/>
                          </a:solidFill>
                          <a:effectLst/>
                          <a:latin typeface="Calibri" panose="020F0502020204030204" pitchFamily="34" charset="0"/>
                        </a:rPr>
                        <a:t>Condition Tarifaire Obligatoire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rowSpan="8">
                  <a:txBody>
                    <a:bodyPr/>
                    <a:lstStyle/>
                    <a:p>
                      <a:pPr algn="ctr" rtl="0" fontAlgn="ctr">
                        <a:buNone/>
                      </a:pPr>
                      <a:r>
                        <a:rPr lang="fr-FR" sz="1200" b="0" i="0" u="none" strike="noStrike">
                          <a:solidFill>
                            <a:srgbClr val="242F62"/>
                          </a:solidFill>
                          <a:effectLst/>
                          <a:latin typeface="Calibri" panose="020F0502020204030204" pitchFamily="34" charset="0"/>
                        </a:rPr>
                        <a:t>Plancher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tc rowSpan="8">
                  <a:txBody>
                    <a:bodyPr/>
                    <a:lstStyle/>
                    <a:p>
                      <a:pPr algn="ctr" rtl="0" fontAlgn="ctr">
                        <a:buNone/>
                      </a:pPr>
                      <a:r>
                        <a:rPr lang="fr-FR" sz="1200" b="0" i="0" u="none" strike="noStrike">
                          <a:solidFill>
                            <a:srgbClr val="242F62"/>
                          </a:solidFill>
                          <a:effectLst/>
                          <a:latin typeface="Calibri" panose="020F0502020204030204" pitchFamily="34" charset="0"/>
                        </a:rPr>
                        <a:t>Plafond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extLst>
                  <a:ext uri="{0D108BD9-81ED-4DB2-BD59-A6C34878D82A}">
                    <a16:rowId xmlns:a16="http://schemas.microsoft.com/office/drawing/2014/main" val="618485515"/>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11 </a:t>
                      </a:r>
                      <a:r>
                        <a:rPr lang="fr-FR" sz="1200" b="0" i="0" u="none" strike="noStrike">
                          <a:solidFill>
                            <a:srgbClr val="242F62"/>
                          </a:solidFill>
                          <a:effectLst/>
                          <a:latin typeface="Calibri" panose="020F0502020204030204" pitchFamily="34" charset="0"/>
                        </a:rPr>
                        <a:t>= TA prévoyance</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153515685"/>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12</a:t>
                      </a:r>
                      <a:r>
                        <a:rPr lang="fr-FR" sz="1200" b="0" i="0" u="none" strike="noStrike">
                          <a:solidFill>
                            <a:srgbClr val="242F62"/>
                          </a:solidFill>
                          <a:effectLst/>
                          <a:latin typeface="Calibri" panose="020F0502020204030204" pitchFamily="34" charset="0"/>
                        </a:rPr>
                        <a:t> = T2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889721649"/>
                  </a:ext>
                </a:extLst>
              </a:tr>
              <a:tr h="169344">
                <a:tc vMerge="1">
                  <a:txBody>
                    <a:bodyPr/>
                    <a:lstStyle/>
                    <a:p>
                      <a:endParaRPr lang="fr-FR"/>
                    </a:p>
                  </a:txBody>
                  <a:tcPr/>
                </a:tc>
                <a:tc>
                  <a:txBody>
                    <a:bodyPr/>
                    <a:lstStyle/>
                    <a:p>
                      <a:pPr algn="l" rtl="0" fontAlgn="ctr">
                        <a:buNone/>
                      </a:pPr>
                      <a:r>
                        <a:rPr lang="fr-FR" sz="1200" b="1" i="0" u="none" strike="noStrike" dirty="0">
                          <a:solidFill>
                            <a:srgbClr val="242F62"/>
                          </a:solidFill>
                          <a:effectLst/>
                          <a:latin typeface="Calibri" panose="020F0502020204030204" pitchFamily="34" charset="0"/>
                        </a:rPr>
                        <a:t>13</a:t>
                      </a:r>
                      <a:r>
                        <a:rPr lang="fr-FR" sz="1200" b="0" i="0" u="none" strike="noStrike" dirty="0">
                          <a:solidFill>
                            <a:srgbClr val="242F62"/>
                          </a:solidFill>
                          <a:effectLst/>
                          <a:latin typeface="Calibri" panose="020F0502020204030204" pitchFamily="34" charset="0"/>
                        </a:rPr>
                        <a:t> = TB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62958018"/>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14</a:t>
                      </a:r>
                      <a:r>
                        <a:rPr lang="fr-FR" sz="1200" b="0" i="0" u="none" strike="noStrike">
                          <a:solidFill>
                            <a:srgbClr val="242F62"/>
                          </a:solidFill>
                          <a:effectLst/>
                          <a:latin typeface="Calibri" panose="020F0502020204030204" pitchFamily="34" charset="0"/>
                        </a:rPr>
                        <a:t> = TC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5469235"/>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15</a:t>
                      </a:r>
                      <a:r>
                        <a:rPr lang="fr-FR" sz="1200" b="0" i="0" u="none" strike="noStrike">
                          <a:solidFill>
                            <a:srgbClr val="242F62"/>
                          </a:solidFill>
                          <a:effectLst/>
                          <a:latin typeface="Calibri" panose="020F0502020204030204" pitchFamily="34" charset="0"/>
                        </a:rPr>
                        <a:t> = TD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83363581"/>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16</a:t>
                      </a:r>
                      <a:r>
                        <a:rPr lang="fr-FR" sz="1200" b="0" i="0" u="none" strike="noStrike">
                          <a:solidFill>
                            <a:srgbClr val="242F62"/>
                          </a:solidFill>
                          <a:effectLst/>
                          <a:latin typeface="Calibri" panose="020F0502020204030204" pitchFamily="34" charset="0"/>
                        </a:rPr>
                        <a:t> = TD1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90110263"/>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24</a:t>
                      </a:r>
                      <a:r>
                        <a:rPr lang="fr-FR" sz="1200" b="0" i="0" u="none" strike="noStrike">
                          <a:solidFill>
                            <a:srgbClr val="242F62"/>
                          </a:solidFill>
                          <a:effectLst/>
                          <a:latin typeface="Calibri" panose="020F0502020204030204" pitchFamily="34" charset="0"/>
                        </a:rPr>
                        <a:t> = T2U prévoyance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477019157"/>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17 </a:t>
                      </a:r>
                      <a:r>
                        <a:rPr lang="fr-FR" sz="1200" b="0" i="0" u="none" strike="noStrike">
                          <a:solidFill>
                            <a:srgbClr val="242F62"/>
                          </a:solidFill>
                          <a:effectLst/>
                          <a:latin typeface="Calibri" panose="020F0502020204030204" pitchFamily="34" charset="0"/>
                        </a:rPr>
                        <a:t>= Base spécifique</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Taux Obligatoire</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extLst>
                  <a:ext uri="{0D108BD9-81ED-4DB2-BD59-A6C34878D82A}">
                    <a16:rowId xmlns:a16="http://schemas.microsoft.com/office/drawing/2014/main" val="4130369071"/>
                  </a:ext>
                </a:extLst>
              </a:tr>
              <a:tr h="498276">
                <a:tc vMerge="1">
                  <a:txBody>
                    <a:bodyPr/>
                    <a:lstStyle/>
                    <a:p>
                      <a:endParaRPr lang="fr-FR"/>
                    </a:p>
                  </a:txBody>
                  <a:tcPr/>
                </a:tc>
                <a:tc>
                  <a:txBody>
                    <a:bodyPr/>
                    <a:lstStyle/>
                    <a:p>
                      <a:pPr algn="l" rtl="0" fontAlgn="ctr">
                        <a:buNone/>
                      </a:pPr>
                      <a:r>
                        <a:rPr lang="fr-FR" sz="1200" b="1" i="0" u="none" strike="noStrike" dirty="0">
                          <a:solidFill>
                            <a:srgbClr val="242F62"/>
                          </a:solidFill>
                          <a:effectLst/>
                          <a:latin typeface="Calibri" panose="020F0502020204030204" pitchFamily="34" charset="0"/>
                        </a:rPr>
                        <a:t>18 </a:t>
                      </a:r>
                      <a:r>
                        <a:rPr lang="fr-FR" sz="1200" b="0" i="0" u="none" strike="noStrike" dirty="0">
                          <a:solidFill>
                            <a:srgbClr val="242F62"/>
                          </a:solidFill>
                          <a:effectLst/>
                          <a:latin typeface="Calibri" panose="020F0502020204030204" pitchFamily="34" charset="0"/>
                        </a:rPr>
                        <a:t>= Base forfaitaire</a:t>
                      </a:r>
                      <a:endParaRPr lang="fr-FR" sz="1200" b="1" i="0" u="none" strike="noStrike" dirty="0">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Taux Obligatoire</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1" i="0" u="none" strike="noStrike">
                          <a:solidFill>
                            <a:srgbClr val="242F62"/>
                          </a:solidFill>
                          <a:effectLst/>
                          <a:latin typeface="Calibri" panose="020F0502020204030204" pitchFamily="34" charset="0"/>
                        </a:rPr>
                        <a:t>Montant ou Coef+Assiette Obligatoire</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Condition Tarifaire</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 Facultative</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Plancher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Plafond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extLst>
                  <a:ext uri="{0D108BD9-81ED-4DB2-BD59-A6C34878D82A}">
                    <a16:rowId xmlns:a16="http://schemas.microsoft.com/office/drawing/2014/main" val="1422643817"/>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19 </a:t>
                      </a:r>
                      <a:r>
                        <a:rPr lang="fr-FR" sz="1200" b="0" i="0" u="none" strike="noStrike">
                          <a:solidFill>
                            <a:srgbClr val="242F62"/>
                          </a:solidFill>
                          <a:effectLst/>
                          <a:latin typeface="Calibri" panose="020F0502020204030204" pitchFamily="34" charset="0"/>
                        </a:rPr>
                        <a:t>= Base fictive</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Taux Obligatoire</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Montant Facultatif</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extLst>
                  <a:ext uri="{0D108BD9-81ED-4DB2-BD59-A6C34878D82A}">
                    <a16:rowId xmlns:a16="http://schemas.microsoft.com/office/drawing/2014/main" val="2069322371"/>
                  </a:ext>
                </a:extLst>
              </a:tr>
              <a:tr h="333810">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20 </a:t>
                      </a:r>
                      <a:r>
                        <a:rPr lang="fr-FR" sz="1200" b="0" i="0" u="none" strike="noStrike">
                          <a:solidFill>
                            <a:srgbClr val="242F62"/>
                          </a:solidFill>
                          <a:effectLst/>
                          <a:latin typeface="Calibri" panose="020F0502020204030204" pitchFamily="34" charset="0"/>
                        </a:rPr>
                        <a:t>= Forfait</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Montant Obligatoire</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Condition Tarifaire Facultative</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CC"/>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Plancher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tc>
                  <a:txBody>
                    <a:bodyPr/>
                    <a:lstStyle/>
                    <a:p>
                      <a:pPr algn="ctr" rtl="0" fontAlgn="ctr">
                        <a:buNone/>
                      </a:pPr>
                      <a:r>
                        <a:rPr lang="fr-FR" sz="1200" b="0" i="0" u="none" strike="noStrike">
                          <a:solidFill>
                            <a:srgbClr val="242F62"/>
                          </a:solidFill>
                          <a:effectLst/>
                          <a:latin typeface="Calibri" panose="020F0502020204030204" pitchFamily="34" charset="0"/>
                        </a:rPr>
                        <a:t>Plafond BMS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DCDB"/>
                    </a:solidFill>
                  </a:tcPr>
                </a:tc>
                <a:extLst>
                  <a:ext uri="{0D108BD9-81ED-4DB2-BD59-A6C34878D82A}">
                    <a16:rowId xmlns:a16="http://schemas.microsoft.com/office/drawing/2014/main" val="2495816057"/>
                  </a:ext>
                </a:extLst>
              </a:tr>
              <a:tr h="169344">
                <a:tc vMerge="1">
                  <a:txBody>
                    <a:bodyPr/>
                    <a:lstStyle/>
                    <a:p>
                      <a:endParaRPr lang="fr-FR"/>
                    </a:p>
                  </a:txBody>
                  <a:tcPr/>
                </a:tc>
                <a:tc>
                  <a:txBody>
                    <a:bodyPr/>
                    <a:lstStyle/>
                    <a:p>
                      <a:pPr algn="l" rtl="0" fontAlgn="ctr">
                        <a:buNone/>
                      </a:pPr>
                      <a:r>
                        <a:rPr lang="fr-FR" sz="1200" b="1" i="0" u="none" strike="noStrike">
                          <a:solidFill>
                            <a:srgbClr val="242F62"/>
                          </a:solidFill>
                          <a:effectLst/>
                          <a:latin typeface="Calibri" panose="020F0502020204030204" pitchFamily="34" charset="0"/>
                        </a:rPr>
                        <a:t>21 </a:t>
                      </a:r>
                      <a:r>
                        <a:rPr lang="fr-FR" sz="1200" b="0" i="0" u="none" strike="noStrike">
                          <a:solidFill>
                            <a:srgbClr val="242F62"/>
                          </a:solidFill>
                          <a:effectLst/>
                          <a:latin typeface="Calibri" panose="020F0502020204030204" pitchFamily="34" charset="0"/>
                        </a:rPr>
                        <a:t>= Montant libre</a:t>
                      </a:r>
                      <a:endParaRPr lang="fr-FR" sz="1200" b="1" i="0" u="none" strike="noStrike">
                        <a:solidFill>
                          <a:srgbClr val="242F62"/>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tc>
                  <a:txBody>
                    <a:bodyPr/>
                    <a:lstStyle/>
                    <a:p>
                      <a:pPr algn="ctr" fontAlgn="ctr">
                        <a:buNone/>
                      </a:pPr>
                      <a:r>
                        <a:rPr lang="fr-FR" sz="1200" b="0" i="0" u="none" strike="noStrike">
                          <a:effectLst/>
                          <a:latin typeface="Calibri" panose="020F0502020204030204" pitchFamily="34" charset="0"/>
                        </a:rPr>
                        <a:t> </a:t>
                      </a:r>
                    </a:p>
                  </a:txBody>
                  <a:tcPr marL="5424" marR="5424" marT="5424"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CCED8"/>
                    </a:solidFill>
                  </a:tcPr>
                </a:tc>
                <a:extLst>
                  <a:ext uri="{0D108BD9-81ED-4DB2-BD59-A6C34878D82A}">
                    <a16:rowId xmlns:a16="http://schemas.microsoft.com/office/drawing/2014/main" val="321454190"/>
                  </a:ext>
                </a:extLst>
              </a:tr>
              <a:tr h="333810">
                <a:tc rowSpan="2">
                  <a:txBody>
                    <a:bodyPr/>
                    <a:lstStyle/>
                    <a:p>
                      <a:pPr algn="ctr" fontAlgn="ctr">
                        <a:buNone/>
                      </a:pPr>
                      <a:r>
                        <a:rPr lang="fr-FR" sz="1200" b="1" i="0" u="none" strike="noStrike">
                          <a:solidFill>
                            <a:srgbClr val="000000"/>
                          </a:solidFill>
                          <a:effectLst/>
                          <a:latin typeface="Calibri" panose="020F0502020204030204" pitchFamily="34" charset="0"/>
                        </a:rPr>
                        <a:t>Cotisation </a:t>
                      </a:r>
                      <a:r>
                        <a:rPr lang="fr-FR" sz="1200" b="0" i="0" u="none" strike="noStrike">
                          <a:solidFill>
                            <a:srgbClr val="000000"/>
                          </a:solidFill>
                          <a:effectLst/>
                          <a:latin typeface="Calibri" panose="020F0502020204030204" pitchFamily="34" charset="0"/>
                        </a:rPr>
                        <a:t>(éléments uniques)</a:t>
                      </a:r>
                      <a:endParaRPr lang="fr-FR" sz="1200" b="1"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1200" b="0" i="0" u="none" strike="noStrike">
                          <a:solidFill>
                            <a:srgbClr val="242F62"/>
                          </a:solidFill>
                          <a:effectLst/>
                          <a:latin typeface="Calibri" panose="020F0502020204030204" pitchFamily="34" charset="0"/>
                        </a:rPr>
                        <a:t>Plancher de cotisation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tc>
                  <a:txBody>
                    <a:bodyPr/>
                    <a:lstStyle/>
                    <a:p>
                      <a:pPr algn="ctr"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87900635"/>
                  </a:ext>
                </a:extLst>
              </a:tr>
              <a:tr h="333810">
                <a:tc vMerge="1">
                  <a:txBody>
                    <a:bodyPr/>
                    <a:lstStyle/>
                    <a:p>
                      <a:endParaRPr lang="fr-FR"/>
                    </a:p>
                  </a:txBody>
                  <a:tcPr/>
                </a:tc>
                <a:tc>
                  <a:txBody>
                    <a:bodyPr/>
                    <a:lstStyle/>
                    <a:p>
                      <a:pPr algn="ctr" rtl="0" fontAlgn="ctr">
                        <a:buNone/>
                      </a:pPr>
                      <a:r>
                        <a:rPr lang="fr-FR" sz="1200" b="0" i="0" u="none" strike="noStrike">
                          <a:solidFill>
                            <a:srgbClr val="242F62"/>
                          </a:solidFill>
                          <a:effectLst/>
                          <a:latin typeface="Calibri" panose="020F0502020204030204" pitchFamily="34" charset="0"/>
                        </a:rPr>
                        <a:t>Plafond de cotisation </a:t>
                      </a:r>
                      <a:br>
                        <a:rPr lang="fr-FR" sz="1200" b="0" i="0" u="none" strike="noStrike">
                          <a:solidFill>
                            <a:srgbClr val="242F62"/>
                          </a:solidFill>
                          <a:effectLst/>
                          <a:latin typeface="Calibri" panose="020F0502020204030204" pitchFamily="34" charset="0"/>
                        </a:rPr>
                      </a:br>
                      <a:r>
                        <a:rPr lang="fr-FR" sz="1200" b="0" i="0" u="none" strike="noStrike">
                          <a:solidFill>
                            <a:srgbClr val="242F62"/>
                          </a:solidFill>
                          <a:effectLst/>
                          <a:latin typeface="Calibri" panose="020F0502020204030204" pitchFamily="34" charset="0"/>
                        </a:rPr>
                        <a:t>Facultatif</a:t>
                      </a:r>
                    </a:p>
                  </a:txBody>
                  <a:tcPr marL="5424" marR="5424" marT="542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w="190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tc>
                  <a:txBody>
                    <a:bodyPr/>
                    <a:lstStyle/>
                    <a:p>
                      <a:pPr algn="l" fontAlgn="ctr">
                        <a:buNone/>
                      </a:pPr>
                      <a:endParaRPr lang="fr-FR" sz="1200" b="0" i="0" u="none" strike="noStrike">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tc>
                  <a:txBody>
                    <a:bodyPr/>
                    <a:lstStyle/>
                    <a:p>
                      <a:pPr algn="l" fontAlgn="ctr">
                        <a:buNone/>
                      </a:pPr>
                      <a:endParaRPr lang="fr-FR" sz="1200" b="0" i="0" u="none" strike="noStrike" dirty="0">
                        <a:solidFill>
                          <a:srgbClr val="000000"/>
                        </a:solidFill>
                        <a:effectLst/>
                        <a:latin typeface="Calibri" panose="020F0502020204030204" pitchFamily="34" charset="0"/>
                      </a:endParaRPr>
                    </a:p>
                  </a:txBody>
                  <a:tcPr marL="5424" marR="5424" marT="5424" marB="0" anchor="ctr">
                    <a:lnL>
                      <a:noFill/>
                    </a:lnL>
                    <a:lnR>
                      <a:noFill/>
                    </a:lnR>
                    <a:lnT>
                      <a:noFill/>
                    </a:lnT>
                    <a:lnB>
                      <a:noFill/>
                    </a:lnB>
                    <a:noFill/>
                  </a:tcPr>
                </a:tc>
                <a:extLst>
                  <a:ext uri="{0D108BD9-81ED-4DB2-BD59-A6C34878D82A}">
                    <a16:rowId xmlns:a16="http://schemas.microsoft.com/office/drawing/2014/main" val="1203727921"/>
                  </a:ext>
                </a:extLst>
              </a:tr>
            </a:tbl>
          </a:graphicData>
        </a:graphic>
      </p:graphicFrame>
    </p:spTree>
    <p:extLst>
      <p:ext uri="{BB962C8B-B14F-4D97-AF65-F5344CB8AC3E}">
        <p14:creationId xmlns:p14="http://schemas.microsoft.com/office/powerpoint/2010/main" val="1058637769"/>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D97D-CB82-0B42-9D35-B64D308DDFD4}"/>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3F1A22E-BB02-CF09-4660-09A4579A806F}"/>
              </a:ext>
            </a:extLst>
          </p:cNvPr>
          <p:cNvSpPr>
            <a:spLocks noGrp="1"/>
          </p:cNvSpPr>
          <p:nvPr>
            <p:ph type="sldNum" sz="quarter" idx="12"/>
          </p:nvPr>
        </p:nvSpPr>
        <p:spPr/>
        <p:txBody>
          <a:bodyPr/>
          <a:lstStyle/>
          <a:p>
            <a:fld id="{6C53AC0A-47EB-D843-AAE8-9061F973F010}" type="slidenum">
              <a:rPr lang="fr-FR" smtClean="0"/>
              <a:t>16</a:t>
            </a:fld>
            <a:endParaRPr lang="fr-FR"/>
          </a:p>
        </p:txBody>
      </p:sp>
      <p:sp>
        <p:nvSpPr>
          <p:cNvPr id="5" name="Titre 1">
            <a:extLst>
              <a:ext uri="{FF2B5EF4-FFF2-40B4-BE49-F238E27FC236}">
                <a16:creationId xmlns:a16="http://schemas.microsoft.com/office/drawing/2014/main" id="{8FBD211B-729C-E226-021F-D1BEA82807C9}"/>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Récapitulatif des conditions tarifaires (1/3)</a:t>
            </a:r>
          </a:p>
        </p:txBody>
      </p:sp>
      <p:graphicFrame>
        <p:nvGraphicFramePr>
          <p:cNvPr id="2" name="Tableau 1">
            <a:extLst>
              <a:ext uri="{FF2B5EF4-FFF2-40B4-BE49-F238E27FC236}">
                <a16:creationId xmlns:a16="http://schemas.microsoft.com/office/drawing/2014/main" id="{71E0C512-1E09-8B14-0D8F-9A54163CBE53}"/>
              </a:ext>
            </a:extLst>
          </p:cNvPr>
          <p:cNvGraphicFramePr>
            <a:graphicFrameLocks noGrp="1"/>
          </p:cNvGraphicFramePr>
          <p:nvPr>
            <p:extLst>
              <p:ext uri="{D42A27DB-BD31-4B8C-83A1-F6EECF244321}">
                <p14:modId xmlns:p14="http://schemas.microsoft.com/office/powerpoint/2010/main" val="1171791498"/>
              </p:ext>
            </p:extLst>
          </p:nvPr>
        </p:nvGraphicFramePr>
        <p:xfrm>
          <a:off x="292671" y="620688"/>
          <a:ext cx="8553983" cy="1960245"/>
        </p:xfrm>
        <a:graphic>
          <a:graphicData uri="http://schemas.openxmlformats.org/drawingml/2006/table">
            <a:tbl>
              <a:tblPr/>
              <a:tblGrid>
                <a:gridCol w="544721">
                  <a:extLst>
                    <a:ext uri="{9D8B030D-6E8A-4147-A177-3AD203B41FA5}">
                      <a16:colId xmlns:a16="http://schemas.microsoft.com/office/drawing/2014/main" val="1398288635"/>
                    </a:ext>
                  </a:extLst>
                </a:gridCol>
                <a:gridCol w="923026">
                  <a:extLst>
                    <a:ext uri="{9D8B030D-6E8A-4147-A177-3AD203B41FA5}">
                      <a16:colId xmlns:a16="http://schemas.microsoft.com/office/drawing/2014/main" val="3044396500"/>
                    </a:ext>
                  </a:extLst>
                </a:gridCol>
                <a:gridCol w="4684564">
                  <a:extLst>
                    <a:ext uri="{9D8B030D-6E8A-4147-A177-3AD203B41FA5}">
                      <a16:colId xmlns:a16="http://schemas.microsoft.com/office/drawing/2014/main" val="3436558679"/>
                    </a:ext>
                  </a:extLst>
                </a:gridCol>
                <a:gridCol w="648000">
                  <a:extLst>
                    <a:ext uri="{9D8B030D-6E8A-4147-A177-3AD203B41FA5}">
                      <a16:colId xmlns:a16="http://schemas.microsoft.com/office/drawing/2014/main" val="227433069"/>
                    </a:ext>
                  </a:extLst>
                </a:gridCol>
                <a:gridCol w="684000">
                  <a:extLst>
                    <a:ext uri="{9D8B030D-6E8A-4147-A177-3AD203B41FA5}">
                      <a16:colId xmlns:a16="http://schemas.microsoft.com/office/drawing/2014/main" val="1408807329"/>
                    </a:ext>
                  </a:extLst>
                </a:gridCol>
                <a:gridCol w="548710">
                  <a:extLst>
                    <a:ext uri="{9D8B030D-6E8A-4147-A177-3AD203B41FA5}">
                      <a16:colId xmlns:a16="http://schemas.microsoft.com/office/drawing/2014/main" val="2036405450"/>
                    </a:ext>
                  </a:extLst>
                </a:gridCol>
                <a:gridCol w="520962">
                  <a:extLst>
                    <a:ext uri="{9D8B030D-6E8A-4147-A177-3AD203B41FA5}">
                      <a16:colId xmlns:a16="http://schemas.microsoft.com/office/drawing/2014/main" val="1459946053"/>
                    </a:ext>
                  </a:extLst>
                </a:gridCol>
              </a:tblGrid>
              <a:tr h="148711">
                <a:tc>
                  <a:txBody>
                    <a:bodyPr/>
                    <a:lstStyle/>
                    <a:p>
                      <a:pPr algn="l" fontAlgn="b">
                        <a:buNone/>
                      </a:pPr>
                      <a:endParaRPr lang="fr-FR" sz="1400" b="1" i="0" u="none" strike="noStrike">
                        <a:effectLst/>
                        <a:latin typeface="Calibri" panose="020F0502020204030204" pitchFamily="34" charset="0"/>
                      </a:endParaRPr>
                    </a:p>
                  </a:txBody>
                  <a:tcPr marL="5715" marR="5715" marT="571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dirty="0">
                        <a:effectLst/>
                        <a:latin typeface="Calibri" panose="020F0502020204030204" pitchFamily="34" charset="0"/>
                      </a:endParaRPr>
                    </a:p>
                  </a:txBody>
                  <a:tcPr marL="5715" marR="5715" marT="571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dirty="0">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4">
                  <a:txBody>
                    <a:bodyPr/>
                    <a:lstStyle/>
                    <a:p>
                      <a:pPr algn="ctr" rtl="0" fontAlgn="ctr">
                        <a:buNone/>
                      </a:pPr>
                      <a:r>
                        <a:rPr lang="fr-FR" sz="1400" b="1" i="0" u="none" strike="noStrike" dirty="0">
                          <a:solidFill>
                            <a:srgbClr val="000000"/>
                          </a:solidFill>
                          <a:effectLst/>
                          <a:latin typeface="Calibri" panose="020F0502020204030204" pitchFamily="34" charset="0"/>
                        </a:rPr>
                        <a:t>Compteurs à renseigner en DSN</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219168337"/>
                  </a:ext>
                </a:extLst>
              </a:tr>
              <a:tr h="352153">
                <a:tc>
                  <a:txBody>
                    <a:bodyPr/>
                    <a:lstStyle/>
                    <a:p>
                      <a:pPr algn="ctr" rtl="0" fontAlgn="ctr">
                        <a:buNone/>
                      </a:pPr>
                      <a:r>
                        <a:rPr lang="fr-FR" sz="1400" b="1" i="0" u="none" strike="noStrike" dirty="0">
                          <a:solidFill>
                            <a:srgbClr val="000000"/>
                          </a:solidFill>
                          <a:effectLst/>
                          <a:latin typeface="Calibri" panose="020F0502020204030204" pitchFamily="34" charset="0"/>
                        </a:rPr>
                        <a:t>Nb de BMS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Conditions tarifaires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dirty="0">
                          <a:solidFill>
                            <a:srgbClr val="FF0000"/>
                          </a:solidFill>
                          <a:effectLst/>
                          <a:latin typeface="Calibri" panose="020F0502020204030204" pitchFamily="34" charset="0"/>
                        </a:rPr>
                        <a:t>Cotisation calculée </a:t>
                      </a:r>
                      <a:r>
                        <a:rPr lang="fr-FR" sz="1400" b="1" i="0" u="sng" strike="noStrike" dirty="0">
                          <a:solidFill>
                            <a:srgbClr val="FF0000"/>
                          </a:solidFill>
                          <a:effectLst/>
                          <a:latin typeface="Calibri" panose="020F0502020204030204" pitchFamily="34" charset="0"/>
                        </a:rPr>
                        <a:t>avec plusieurs BMS </a:t>
                      </a:r>
                      <a:r>
                        <a:rPr lang="fr-FR" sz="1400" b="1" i="0" u="none" strike="noStrike" dirty="0">
                          <a:solidFill>
                            <a:srgbClr val="FF0000"/>
                          </a:solidFill>
                          <a:effectLst/>
                          <a:latin typeface="Calibri" panose="020F0502020204030204" pitchFamily="34" charset="0"/>
                        </a:rPr>
                        <a:t> </a:t>
                      </a:r>
                      <a:r>
                        <a:rPr lang="fr-FR" sz="1400" b="1" i="0" u="none" strike="noStrike" dirty="0">
                          <a:solidFill>
                            <a:srgbClr val="000000"/>
                          </a:solidFill>
                          <a:effectLst/>
                          <a:latin typeface="Calibri" panose="020F0502020204030204" pitchFamily="34" charset="0"/>
                        </a:rPr>
                        <a:t>selon la composition des ayants droits de l'assuré</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70.008 Conjoint</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70.009 Ayant droit</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70.010 Autres</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70.011 Enfant</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709865696"/>
                  </a:ext>
                </a:extLst>
              </a:tr>
              <a:tr h="148711">
                <a:tc>
                  <a:txBody>
                    <a:bodyPr/>
                    <a:lstStyle/>
                    <a:p>
                      <a:pPr algn="ctr" rtl="0" fontAlgn="ctr">
                        <a:buNone/>
                      </a:pPr>
                      <a:r>
                        <a:rPr lang="fr-FR" sz="1400" b="1" i="0" u="none" strike="noStrike">
                          <a:solidFill>
                            <a:srgbClr val="000000"/>
                          </a:solidFill>
                          <a:effectLst/>
                          <a:latin typeface="Calibri" panose="020F0502020204030204" pitchFamily="34" charset="0"/>
                        </a:rPr>
                        <a:t>2</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000000"/>
                          </a:solidFill>
                          <a:effectLst/>
                          <a:latin typeface="Calibri" panose="020F0502020204030204" pitchFamily="34" charset="0"/>
                        </a:rPr>
                        <a:t>90/92</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0" i="0" u="none" strike="noStrike" dirty="0">
                          <a:solidFill>
                            <a:srgbClr val="000000"/>
                          </a:solidFill>
                          <a:effectLst/>
                          <a:latin typeface="Calibri" panose="020F0502020204030204" pitchFamily="34" charset="0"/>
                        </a:rPr>
                        <a:t>ouvrant droit (90) + tarif par ayant droit (92)</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200" b="0" i="0" u="none" strike="noStrike" dirty="0">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795537279"/>
                  </a:ext>
                </a:extLst>
              </a:tr>
              <a:tr h="148711">
                <a:tc>
                  <a:txBody>
                    <a:bodyPr/>
                    <a:lstStyle/>
                    <a:p>
                      <a:pPr algn="ctr" rtl="0" fontAlgn="ctr">
                        <a:buNone/>
                      </a:pPr>
                      <a:r>
                        <a:rPr lang="fr-FR" sz="1400" b="1" i="0" u="none" strike="noStrike">
                          <a:solidFill>
                            <a:srgbClr val="000000"/>
                          </a:solidFill>
                          <a:effectLst/>
                          <a:latin typeface="Calibri" panose="020F0502020204030204" pitchFamily="34" charset="0"/>
                        </a:rPr>
                        <a:t>3</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000000"/>
                          </a:solidFill>
                          <a:effectLst/>
                          <a:latin typeface="Calibri" panose="020F0502020204030204" pitchFamily="34" charset="0"/>
                        </a:rPr>
                        <a:t>90/91/94</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0" i="0" u="none" strike="noStrike" dirty="0">
                          <a:solidFill>
                            <a:srgbClr val="000000"/>
                          </a:solidFill>
                          <a:effectLst/>
                          <a:latin typeface="Calibri" panose="020F0502020204030204" pitchFamily="34" charset="0"/>
                        </a:rPr>
                        <a:t>ouvrant droit (90) + conjoint (91) + tarif par enfant (94)</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200" b="0" i="0" u="none" strike="noStrike" dirty="0">
                          <a:effectLst/>
                          <a:latin typeface="Calibri" panose="020F0502020204030204" pitchFamily="34" charset="0"/>
                        </a:rPr>
                        <a:t> = 0 à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71791987"/>
                  </a:ext>
                </a:extLst>
              </a:tr>
              <a:tr h="148711">
                <a:tc>
                  <a:txBody>
                    <a:bodyPr/>
                    <a:lstStyle/>
                    <a:p>
                      <a:pPr algn="ctr" rtl="0" fontAlgn="ctr">
                        <a:buNone/>
                      </a:pPr>
                      <a:r>
                        <a:rPr lang="fr-FR" sz="1400" b="1" i="0" u="none" strike="noStrike">
                          <a:solidFill>
                            <a:srgbClr val="000000"/>
                          </a:solidFill>
                          <a:effectLst/>
                          <a:latin typeface="Calibri" panose="020F0502020204030204" pitchFamily="34" charset="0"/>
                        </a:rPr>
                        <a:t>3</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000000"/>
                          </a:solidFill>
                          <a:effectLst/>
                          <a:latin typeface="Calibri" panose="020F0502020204030204" pitchFamily="34" charset="0"/>
                        </a:rPr>
                        <a:t>90/91/95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0" i="0" u="none" strike="noStrike" dirty="0">
                          <a:solidFill>
                            <a:srgbClr val="000000"/>
                          </a:solidFill>
                          <a:effectLst/>
                          <a:latin typeface="Calibri" panose="020F0502020204030204" pitchFamily="34" charset="0"/>
                        </a:rPr>
                        <a:t>ouvrant droit (90) + conjoint (91) + tarif par autre (95)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200" b="0" i="0" u="none" strike="noStrike" dirty="0">
                          <a:effectLst/>
                          <a:latin typeface="Calibri" panose="020F0502020204030204" pitchFamily="34" charset="0"/>
                        </a:rPr>
                        <a:t> = 0 à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430140986"/>
                  </a:ext>
                </a:extLst>
              </a:tr>
              <a:tr h="148711">
                <a:tc>
                  <a:txBody>
                    <a:bodyPr/>
                    <a:lstStyle/>
                    <a:p>
                      <a:pPr algn="ctr" rtl="0" fontAlgn="ctr">
                        <a:buNone/>
                      </a:pPr>
                      <a:r>
                        <a:rPr lang="fr-FR" sz="1400" b="1" i="0" u="none" strike="noStrike">
                          <a:solidFill>
                            <a:srgbClr val="000000"/>
                          </a:solidFill>
                          <a:effectLst/>
                          <a:latin typeface="Calibri" panose="020F0502020204030204" pitchFamily="34" charset="0"/>
                        </a:rPr>
                        <a:t>3</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000000"/>
                          </a:solidFill>
                          <a:effectLst/>
                          <a:latin typeface="Calibri" panose="020F0502020204030204" pitchFamily="34" charset="0"/>
                        </a:rPr>
                        <a:t>90/94/95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0" i="0" u="none" strike="noStrike" dirty="0">
                          <a:solidFill>
                            <a:srgbClr val="000000"/>
                          </a:solidFill>
                          <a:effectLst/>
                          <a:latin typeface="Calibri" panose="020F0502020204030204" pitchFamily="34" charset="0"/>
                        </a:rPr>
                        <a:t>ouvrant droit (90) + tarif par enfant (94) + tarif par autre (95)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200" b="0" i="0" u="none" strike="noStrike" dirty="0">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703578520"/>
                  </a:ext>
                </a:extLst>
              </a:tr>
              <a:tr h="148711">
                <a:tc>
                  <a:txBody>
                    <a:bodyPr/>
                    <a:lstStyle/>
                    <a:p>
                      <a:pPr algn="ctr" rtl="0" fontAlgn="ctr">
                        <a:buNone/>
                      </a:pPr>
                      <a:r>
                        <a:rPr lang="fr-FR" sz="1400" b="1" i="0" u="none" strike="noStrike">
                          <a:solidFill>
                            <a:srgbClr val="000000"/>
                          </a:solidFill>
                          <a:effectLst/>
                          <a:latin typeface="Calibri" panose="020F0502020204030204" pitchFamily="34" charset="0"/>
                        </a:rPr>
                        <a:t>4</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1" i="0" u="none" strike="noStrike" dirty="0">
                          <a:solidFill>
                            <a:srgbClr val="000000"/>
                          </a:solidFill>
                          <a:effectLst/>
                          <a:latin typeface="Calibri" panose="020F0502020204030204" pitchFamily="34" charset="0"/>
                        </a:rPr>
                        <a:t>90/91/94/95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200" b="0" i="0" u="none" strike="noStrike" dirty="0">
                          <a:solidFill>
                            <a:srgbClr val="000000"/>
                          </a:solidFill>
                          <a:effectLst/>
                          <a:latin typeface="Calibri" panose="020F0502020204030204" pitchFamily="34" charset="0"/>
                        </a:rPr>
                        <a:t>ouvrant droit (90) + conjoint (91) tarif par enfant (94) + tarif par autre (95)</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200" b="0" i="0" u="none" strike="noStrike" dirty="0">
                          <a:effectLst/>
                          <a:latin typeface="Calibri" panose="020F0502020204030204" pitchFamily="34" charset="0"/>
                        </a:rPr>
                        <a:t> = 0 à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200" b="0" i="0" u="none" strike="noStrike" dirty="0">
                          <a:effectLst/>
                          <a:latin typeface="Calibri" panose="020F0502020204030204" pitchFamily="34" charset="0"/>
                        </a:rPr>
                        <a:t> = 0 à n</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082761471"/>
                  </a:ext>
                </a:extLst>
              </a:tr>
            </a:tbl>
          </a:graphicData>
        </a:graphic>
      </p:graphicFrame>
      <p:sp>
        <p:nvSpPr>
          <p:cNvPr id="3" name="ZoneTexte 2">
            <a:extLst>
              <a:ext uri="{FF2B5EF4-FFF2-40B4-BE49-F238E27FC236}">
                <a16:creationId xmlns:a16="http://schemas.microsoft.com/office/drawing/2014/main" id="{3408129E-1E93-C78D-89A1-4D5D63C4EB77}"/>
              </a:ext>
            </a:extLst>
          </p:cNvPr>
          <p:cNvSpPr txBox="1"/>
          <p:nvPr/>
        </p:nvSpPr>
        <p:spPr>
          <a:xfrm>
            <a:off x="395536" y="2996952"/>
            <a:ext cx="8591276" cy="2785378"/>
          </a:xfrm>
          <a:prstGeom prst="rect">
            <a:avLst/>
          </a:prstGeom>
          <a:solidFill>
            <a:schemeClr val="bg1"/>
          </a:solidFill>
        </p:spPr>
        <p:txBody>
          <a:bodyPr wrap="square">
            <a:spAutoFit/>
          </a:bodyPr>
          <a:lstStyle/>
          <a:p>
            <a:pPr defTabSz="457200">
              <a:spcAft>
                <a:spcPts val="600"/>
              </a:spcAft>
              <a:defRPr/>
            </a:pPr>
            <a:r>
              <a:rPr lang="fr-FR" sz="1600" b="1" u="sng" dirty="0">
                <a:solidFill>
                  <a:srgbClr val="242F62"/>
                </a:solidFill>
                <a:latin typeface="Arial" panose="020B0604020202020204"/>
              </a:rPr>
              <a:t>Remarques : </a:t>
            </a:r>
          </a:p>
          <a:p>
            <a:pPr marL="285750" indent="-285750" defTabSz="457200">
              <a:buFont typeface="Arial" panose="020B0604020202020204" pitchFamily="34" charset="0"/>
              <a:buChar char="•"/>
              <a:defRPr/>
            </a:pPr>
            <a:r>
              <a:rPr lang="fr-FR" sz="1600" dirty="0">
                <a:solidFill>
                  <a:srgbClr val="242F62"/>
                </a:solidFill>
                <a:latin typeface="Arial" panose="020B0604020202020204"/>
              </a:rPr>
              <a:t>Le compteur « Conjoint » alimenté en DSN doit être limité aux valeurs 0 ou 1. </a:t>
            </a:r>
            <a:r>
              <a:rPr lang="fr-FR" sz="1600" dirty="0">
                <a:solidFill>
                  <a:schemeClr val="accent6"/>
                </a:solidFill>
                <a:latin typeface="Arial" panose="020B0604020202020204"/>
                <a:sym typeface="Wingdings" panose="05000000000000000000" pitchFamily="2" charset="2"/>
              </a:rPr>
              <a:t> Proposition de contrôle non bloquant à envisager en DSN</a:t>
            </a:r>
          </a:p>
          <a:p>
            <a:pPr marL="285750" indent="-285750">
              <a:spcAft>
                <a:spcPts val="600"/>
              </a:spcAft>
              <a:buFont typeface="Arial" panose="020B0604020202020204" pitchFamily="34" charset="0"/>
              <a:buChar char="•"/>
              <a:defRPr/>
            </a:pPr>
            <a:r>
              <a:rPr lang="fr-FR" sz="1600" dirty="0">
                <a:solidFill>
                  <a:srgbClr val="242F62"/>
                </a:solidFill>
                <a:latin typeface="Arial" panose="020B0604020202020204"/>
                <a:sym typeface="Wingdings" panose="05000000000000000000" pitchFamily="2" charset="2"/>
              </a:rPr>
              <a:t>Le compteur « Autres » </a:t>
            </a:r>
            <a:r>
              <a:rPr lang="fr-FR" sz="1600" dirty="0">
                <a:solidFill>
                  <a:srgbClr val="242F62"/>
                </a:solidFill>
              </a:rPr>
              <a:t>alimenté en DSN correspond à des adultes ayant un lien familial avec l’assuré (collatéraux, ascendants)</a:t>
            </a:r>
          </a:p>
          <a:p>
            <a:pPr marL="285750" indent="-285750">
              <a:spcAft>
                <a:spcPts val="600"/>
              </a:spcAft>
              <a:buFont typeface="Arial" panose="020B0604020202020204" pitchFamily="34" charset="0"/>
              <a:buChar char="•"/>
              <a:defRPr/>
            </a:pPr>
            <a:r>
              <a:rPr lang="fr-FR" sz="1600" dirty="0">
                <a:solidFill>
                  <a:srgbClr val="242F62"/>
                </a:solidFill>
              </a:rPr>
              <a:t>Le compteur « Enfant » alimenté en DSN correspond à des enfants mais selon les contrats, ils se définissent par un âge maximal, par leur statut d’étudiant, ou par leur appartenance au foyer fiscal.</a:t>
            </a:r>
            <a:endParaRPr lang="fr-FR" sz="1600" dirty="0">
              <a:solidFill>
                <a:srgbClr val="242F62"/>
              </a:solidFill>
              <a:latin typeface="Arial" panose="020B0604020202020204"/>
              <a:sym typeface="Wingdings" panose="05000000000000000000" pitchFamily="2" charset="2"/>
            </a:endParaRPr>
          </a:p>
          <a:p>
            <a:pPr marL="285750" indent="-285750">
              <a:buFont typeface="Arial" panose="020B0604020202020204" pitchFamily="34" charset="0"/>
              <a:buChar char="•"/>
              <a:defRPr/>
            </a:pPr>
            <a:r>
              <a:rPr lang="fr-FR" sz="1600" dirty="0">
                <a:latin typeface="Arial" panose="020B0604020202020204"/>
              </a:rPr>
              <a:t>Le compteur Ayant droit est la somme des compteurs conjoint, autres et enfant lorsque ceux-ci sont renseignés </a:t>
            </a:r>
            <a:r>
              <a:rPr lang="fr-FR" sz="1600" dirty="0">
                <a:solidFill>
                  <a:schemeClr val="accent6"/>
                </a:solidFill>
                <a:latin typeface="Arial" panose="020B0604020202020204"/>
                <a:sym typeface="Wingdings" panose="05000000000000000000" pitchFamily="2" charset="2"/>
              </a:rPr>
              <a:t> </a:t>
            </a:r>
            <a:r>
              <a:rPr lang="fr-FR" sz="1600" dirty="0">
                <a:solidFill>
                  <a:schemeClr val="accent6"/>
                </a:solidFill>
                <a:sym typeface="Wingdings" panose="05000000000000000000" pitchFamily="2" charset="2"/>
              </a:rPr>
              <a:t>Proposition de contrôle non bloquant à envisager en DSN</a:t>
            </a:r>
          </a:p>
        </p:txBody>
      </p:sp>
    </p:spTree>
    <p:extLst>
      <p:ext uri="{BB962C8B-B14F-4D97-AF65-F5344CB8AC3E}">
        <p14:creationId xmlns:p14="http://schemas.microsoft.com/office/powerpoint/2010/main" val="2777567559"/>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7F98-7A47-42AB-021E-257D92076DD3}"/>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89A9B1B9-FF61-9B87-7EE8-B032E2773479}"/>
              </a:ext>
            </a:extLst>
          </p:cNvPr>
          <p:cNvSpPr>
            <a:spLocks noGrp="1"/>
          </p:cNvSpPr>
          <p:nvPr>
            <p:ph type="sldNum" sz="quarter" idx="12"/>
          </p:nvPr>
        </p:nvSpPr>
        <p:spPr/>
        <p:txBody>
          <a:bodyPr/>
          <a:lstStyle/>
          <a:p>
            <a:fld id="{6C53AC0A-47EB-D843-AAE8-9061F973F010}" type="slidenum">
              <a:rPr lang="fr-FR" smtClean="0"/>
              <a:t>17</a:t>
            </a:fld>
            <a:endParaRPr lang="fr-FR"/>
          </a:p>
        </p:txBody>
      </p:sp>
      <p:sp>
        <p:nvSpPr>
          <p:cNvPr id="5" name="Titre 1">
            <a:extLst>
              <a:ext uri="{FF2B5EF4-FFF2-40B4-BE49-F238E27FC236}">
                <a16:creationId xmlns:a16="http://schemas.microsoft.com/office/drawing/2014/main" id="{858889FD-82FA-38AA-6649-75AA9C3EFB17}"/>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Récapitulatif des conditions tarifaires (2/3)</a:t>
            </a:r>
          </a:p>
        </p:txBody>
      </p:sp>
      <p:graphicFrame>
        <p:nvGraphicFramePr>
          <p:cNvPr id="2" name="Tableau 1">
            <a:extLst>
              <a:ext uri="{FF2B5EF4-FFF2-40B4-BE49-F238E27FC236}">
                <a16:creationId xmlns:a16="http://schemas.microsoft.com/office/drawing/2014/main" id="{63AD96BF-C46F-1308-B28F-9C1ADE70817C}"/>
              </a:ext>
            </a:extLst>
          </p:cNvPr>
          <p:cNvGraphicFramePr>
            <a:graphicFrameLocks noGrp="1"/>
          </p:cNvGraphicFramePr>
          <p:nvPr>
            <p:extLst>
              <p:ext uri="{D42A27DB-BD31-4B8C-83A1-F6EECF244321}">
                <p14:modId xmlns:p14="http://schemas.microsoft.com/office/powerpoint/2010/main" val="2338725571"/>
              </p:ext>
            </p:extLst>
          </p:nvPr>
        </p:nvGraphicFramePr>
        <p:xfrm>
          <a:off x="323528" y="500030"/>
          <a:ext cx="8424937" cy="4854955"/>
        </p:xfrm>
        <a:graphic>
          <a:graphicData uri="http://schemas.openxmlformats.org/drawingml/2006/table">
            <a:tbl>
              <a:tblPr/>
              <a:tblGrid>
                <a:gridCol w="630793">
                  <a:extLst>
                    <a:ext uri="{9D8B030D-6E8A-4147-A177-3AD203B41FA5}">
                      <a16:colId xmlns:a16="http://schemas.microsoft.com/office/drawing/2014/main" val="3408102693"/>
                    </a:ext>
                  </a:extLst>
                </a:gridCol>
                <a:gridCol w="1370293">
                  <a:extLst>
                    <a:ext uri="{9D8B030D-6E8A-4147-A177-3AD203B41FA5}">
                      <a16:colId xmlns:a16="http://schemas.microsoft.com/office/drawing/2014/main" val="1017481366"/>
                    </a:ext>
                  </a:extLst>
                </a:gridCol>
                <a:gridCol w="3578393">
                  <a:extLst>
                    <a:ext uri="{9D8B030D-6E8A-4147-A177-3AD203B41FA5}">
                      <a16:colId xmlns:a16="http://schemas.microsoft.com/office/drawing/2014/main" val="764002705"/>
                    </a:ext>
                  </a:extLst>
                </a:gridCol>
                <a:gridCol w="721956">
                  <a:extLst>
                    <a:ext uri="{9D8B030D-6E8A-4147-A177-3AD203B41FA5}">
                      <a16:colId xmlns:a16="http://schemas.microsoft.com/office/drawing/2014/main" val="3969586618"/>
                    </a:ext>
                  </a:extLst>
                </a:gridCol>
                <a:gridCol w="891305">
                  <a:extLst>
                    <a:ext uri="{9D8B030D-6E8A-4147-A177-3AD203B41FA5}">
                      <a16:colId xmlns:a16="http://schemas.microsoft.com/office/drawing/2014/main" val="3714630359"/>
                    </a:ext>
                  </a:extLst>
                </a:gridCol>
                <a:gridCol w="704130">
                  <a:extLst>
                    <a:ext uri="{9D8B030D-6E8A-4147-A177-3AD203B41FA5}">
                      <a16:colId xmlns:a16="http://schemas.microsoft.com/office/drawing/2014/main" val="2399195685"/>
                    </a:ext>
                  </a:extLst>
                </a:gridCol>
                <a:gridCol w="528067">
                  <a:extLst>
                    <a:ext uri="{9D8B030D-6E8A-4147-A177-3AD203B41FA5}">
                      <a16:colId xmlns:a16="http://schemas.microsoft.com/office/drawing/2014/main" val="1231393394"/>
                    </a:ext>
                  </a:extLst>
                </a:gridCol>
              </a:tblGrid>
              <a:tr h="224122">
                <a:tc>
                  <a:txBody>
                    <a:bodyPr/>
                    <a:lstStyle/>
                    <a:p>
                      <a:pPr algn="l" fontAlgn="b">
                        <a:buNone/>
                      </a:pPr>
                      <a:endParaRPr lang="fr-FR" sz="1400" b="1" i="0" u="none" strike="noStrike">
                        <a:effectLst/>
                        <a:latin typeface="Calibri" panose="020F0502020204030204" pitchFamily="34" charset="0"/>
                      </a:endParaRPr>
                    </a:p>
                  </a:txBody>
                  <a:tcPr marL="2509" marR="2509" marT="250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dirty="0">
                        <a:effectLst/>
                        <a:latin typeface="Calibri" panose="020F0502020204030204" pitchFamily="34" charset="0"/>
                      </a:endParaRPr>
                    </a:p>
                  </a:txBody>
                  <a:tcPr marL="2509" marR="2509" marT="250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dirty="0">
                        <a:effectLst/>
                        <a:latin typeface="Calibri" panose="020F0502020204030204" pitchFamily="34" charset="0"/>
                      </a:endParaRPr>
                    </a:p>
                  </a:txBody>
                  <a:tcPr marL="2509" marR="2509" marT="2509"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4">
                  <a:txBody>
                    <a:bodyPr/>
                    <a:lstStyle/>
                    <a:p>
                      <a:pPr algn="ctr" rtl="0" fontAlgn="ctr">
                        <a:buNone/>
                      </a:pPr>
                      <a:r>
                        <a:rPr lang="fr-FR" sz="1400" b="1" i="0" u="none" strike="noStrike">
                          <a:solidFill>
                            <a:srgbClr val="000000"/>
                          </a:solidFill>
                          <a:effectLst/>
                          <a:latin typeface="Calibri" panose="020F0502020204030204" pitchFamily="34" charset="0"/>
                        </a:rPr>
                        <a:t>Compteurs à renseigner en DSN</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8438270"/>
                  </a:ext>
                </a:extLst>
              </a:tr>
              <a:tr h="445212">
                <a:tc>
                  <a:txBody>
                    <a:bodyPr/>
                    <a:lstStyle/>
                    <a:p>
                      <a:pPr algn="ctr" rtl="0" fontAlgn="ctr">
                        <a:buNone/>
                      </a:pPr>
                      <a:r>
                        <a:rPr lang="fr-FR" sz="1400" b="1" i="0" u="none" strike="noStrike" dirty="0">
                          <a:solidFill>
                            <a:srgbClr val="000000"/>
                          </a:solidFill>
                          <a:effectLst/>
                          <a:latin typeface="Calibri" panose="020F0502020204030204" pitchFamily="34" charset="0"/>
                        </a:rPr>
                        <a:t>Nb de BMS </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a:solidFill>
                            <a:srgbClr val="000000"/>
                          </a:solidFill>
                          <a:effectLst/>
                          <a:latin typeface="Calibri" panose="020F0502020204030204" pitchFamily="34" charset="0"/>
                        </a:rPr>
                        <a:t>Conditions tarifaires</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dirty="0">
                          <a:solidFill>
                            <a:srgbClr val="FF0000"/>
                          </a:solidFill>
                          <a:effectLst/>
                          <a:latin typeface="Calibri" panose="020F0502020204030204" pitchFamily="34" charset="0"/>
                        </a:rPr>
                        <a:t>Cotisation calculée </a:t>
                      </a:r>
                      <a:r>
                        <a:rPr lang="fr-FR" sz="1400" b="1" i="0" u="sng" strike="noStrike" dirty="0">
                          <a:solidFill>
                            <a:srgbClr val="FF0000"/>
                          </a:solidFill>
                          <a:effectLst/>
                          <a:latin typeface="Calibri" panose="020F0502020204030204" pitchFamily="34" charset="0"/>
                        </a:rPr>
                        <a:t>avec la BMS </a:t>
                      </a:r>
                      <a:r>
                        <a:rPr lang="fr-FR" sz="1400" b="1" i="0" u="none" strike="noStrike" dirty="0">
                          <a:solidFill>
                            <a:srgbClr val="000000"/>
                          </a:solidFill>
                          <a:effectLst/>
                          <a:latin typeface="Calibri" panose="020F0502020204030204" pitchFamily="34" charset="0"/>
                        </a:rPr>
                        <a:t>qui correspond à la composition des ayants droit de l'assuré</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a:solidFill>
                            <a:srgbClr val="000000"/>
                          </a:solidFill>
                          <a:effectLst/>
                          <a:latin typeface="Calibri" panose="020F0502020204030204" pitchFamily="34" charset="0"/>
                        </a:rPr>
                        <a:t>70.008 Conjoint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a:solidFill>
                            <a:srgbClr val="000000"/>
                          </a:solidFill>
                          <a:effectLst/>
                          <a:latin typeface="Calibri" panose="020F0502020204030204" pitchFamily="34" charset="0"/>
                        </a:rPr>
                        <a:t>70.009 Ayant droit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70.010 Autres</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70.011 Enfant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689778803"/>
                  </a:ext>
                </a:extLst>
              </a:tr>
              <a:tr h="324832">
                <a:tc>
                  <a:txBody>
                    <a:bodyPr/>
                    <a:lstStyle/>
                    <a:p>
                      <a:pPr algn="ctr" rtl="0" fontAlgn="ctr">
                        <a:buNone/>
                      </a:pPr>
                      <a:r>
                        <a:rPr lang="fr-FR" sz="1400" b="1" i="0" u="none" strike="noStrike" dirty="0">
                          <a:solidFill>
                            <a:srgbClr val="000000"/>
                          </a:solidFill>
                          <a:effectLst/>
                          <a:latin typeface="Calibri" panose="020F0502020204030204" pitchFamily="34" charset="0"/>
                        </a:rPr>
                        <a:t>1</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01</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dirty="0">
                          <a:solidFill>
                            <a:srgbClr val="000000"/>
                          </a:solidFill>
                          <a:effectLst/>
                          <a:latin typeface="Calibri" panose="020F0502020204030204" pitchFamily="34" charset="0"/>
                        </a:rPr>
                        <a:t>famille (01)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325232385"/>
                  </a:ext>
                </a:extLst>
              </a:tr>
              <a:tr h="324832">
                <a:tc>
                  <a:txBody>
                    <a:bodyPr/>
                    <a:lstStyle/>
                    <a:p>
                      <a:pPr algn="ctr" rtl="0" fontAlgn="ctr">
                        <a:buNone/>
                      </a:pPr>
                      <a:r>
                        <a:rPr lang="fr-FR" sz="1400" b="1" i="0" u="none" strike="noStrike">
                          <a:solidFill>
                            <a:srgbClr val="000000"/>
                          </a:solidFill>
                          <a:effectLst/>
                          <a:latin typeface="Calibri" panose="020F0502020204030204" pitchFamily="34" charset="0"/>
                        </a:rPr>
                        <a:t>1</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dirty="0">
                          <a:solidFill>
                            <a:srgbClr val="000000"/>
                          </a:solidFill>
                          <a:effectLst/>
                          <a:latin typeface="Calibri" panose="020F0502020204030204" pitchFamily="34" charset="0"/>
                        </a:rPr>
                        <a:t>isolé (02)</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536355156"/>
                  </a:ext>
                </a:extLst>
              </a:tr>
              <a:tr h="324832">
                <a:tc>
                  <a:txBody>
                    <a:bodyPr/>
                    <a:lstStyle/>
                    <a:p>
                      <a:pPr algn="ctr" rtl="0" fontAlgn="ctr">
                        <a:buNone/>
                      </a:pPr>
                      <a:r>
                        <a:rPr lang="fr-FR" sz="1400" b="1" i="0" u="none" strike="noStrike" dirty="0">
                          <a:solidFill>
                            <a:srgbClr val="000000"/>
                          </a:solidFill>
                          <a:effectLst/>
                          <a:latin typeface="Calibri" panose="020F0502020204030204" pitchFamily="34" charset="0"/>
                        </a:rPr>
                        <a:t>1</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03</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dirty="0">
                          <a:solidFill>
                            <a:srgbClr val="000000"/>
                          </a:solidFill>
                          <a:effectLst/>
                          <a:latin typeface="Calibri" panose="020F0502020204030204" pitchFamily="34" charset="0"/>
                        </a:rPr>
                        <a:t>avec 1 conjoint (03)</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a:solidFill>
                            <a:srgbClr val="000000"/>
                          </a:solidFill>
                          <a:effectLst/>
                          <a:latin typeface="Calibri" panose="020F0502020204030204" pitchFamily="34" charset="0"/>
                        </a:rPr>
                        <a:t> =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87632956"/>
                  </a:ext>
                </a:extLst>
              </a:tr>
              <a:tr h="324832">
                <a:tc>
                  <a:txBody>
                    <a:bodyPr/>
                    <a:lstStyle/>
                    <a:p>
                      <a:pPr algn="ctr" rtl="0" fontAlgn="ctr">
                        <a:buNone/>
                      </a:pPr>
                      <a:r>
                        <a:rPr lang="fr-FR" sz="1400" b="1" i="0" u="none" strike="noStrike">
                          <a:solidFill>
                            <a:srgbClr val="000000"/>
                          </a:solidFill>
                          <a:effectLst/>
                          <a:latin typeface="Calibri" panose="020F0502020204030204" pitchFamily="34" charset="0"/>
                        </a:rPr>
                        <a:t>1</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04</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dirty="0">
                          <a:solidFill>
                            <a:srgbClr val="000000"/>
                          </a:solidFill>
                          <a:effectLst/>
                          <a:latin typeface="Calibri" panose="020F0502020204030204" pitchFamily="34" charset="0"/>
                        </a:rPr>
                        <a:t>avec 1 enfant (04)</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0</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1</a:t>
                      </a:r>
                    </a:p>
                  </a:txBody>
                  <a:tcPr marL="5715" marR="5715"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060936079"/>
                  </a:ext>
                </a:extLst>
              </a:tr>
              <a:tr h="445212">
                <a:tc>
                  <a:txBody>
                    <a:bodyPr/>
                    <a:lstStyle/>
                    <a:p>
                      <a:pPr algn="ctr" rtl="0" fontAlgn="ctr">
                        <a:buNone/>
                      </a:pPr>
                      <a:r>
                        <a:rPr lang="fr-FR" sz="1400" b="1" i="0" u="none" strike="noStrike" dirty="0">
                          <a:solidFill>
                            <a:srgbClr val="000000"/>
                          </a:solidFill>
                          <a:effectLst/>
                          <a:latin typeface="Calibri" panose="020F0502020204030204" pitchFamily="34" charset="0"/>
                        </a:rPr>
                        <a:t>2</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01/02</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0" i="0" u="none" strike="noStrike" dirty="0">
                          <a:solidFill>
                            <a:srgbClr val="000000"/>
                          </a:solidFill>
                          <a:effectLst/>
                          <a:latin typeface="Calibri" panose="020F0502020204030204" pitchFamily="34" charset="0"/>
                        </a:rPr>
                        <a:t>famille (01) </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isolé (02)</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400" b="0" i="0" u="none" strike="noStrike">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a:t>
                      </a:r>
                      <a:br>
                        <a:rPr lang="fr-FR" sz="1400" b="0" i="0" u="none" strike="noStrike">
                          <a:effectLst/>
                          <a:latin typeface="Calibri" panose="020F0502020204030204" pitchFamily="34" charset="0"/>
                        </a:rPr>
                      </a:br>
                      <a:r>
                        <a:rPr lang="fr-FR" sz="1400" b="0" i="0" u="none" strike="noStrike">
                          <a:effectLst/>
                          <a:latin typeface="Calibri" panose="020F0502020204030204" pitchFamily="34" charset="0"/>
                        </a:rPr>
                        <a:t> = 0</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398511490"/>
                  </a:ext>
                </a:extLst>
              </a:tr>
              <a:tr h="666301">
                <a:tc>
                  <a:txBody>
                    <a:bodyPr/>
                    <a:lstStyle/>
                    <a:p>
                      <a:pPr algn="ctr" rtl="0" fontAlgn="ctr">
                        <a:buNone/>
                      </a:pPr>
                      <a:r>
                        <a:rPr lang="fr-FR" sz="1400" b="1" i="0" u="none" strike="noStrike" dirty="0">
                          <a:solidFill>
                            <a:srgbClr val="000000"/>
                          </a:solidFill>
                          <a:effectLst/>
                          <a:latin typeface="Calibri" panose="020F0502020204030204" pitchFamily="34" charset="0"/>
                        </a:rPr>
                        <a:t>3</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02/05/07</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0" i="0" u="none" strike="noStrike" dirty="0">
                          <a:solidFill>
                            <a:srgbClr val="000000"/>
                          </a:solidFill>
                          <a:effectLst/>
                          <a:latin typeface="Calibri" panose="020F0502020204030204" pitchFamily="34" charset="0"/>
                        </a:rPr>
                        <a:t>isolé (02)</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AD (05) </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2 AD ou plus (07)</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400" b="0" i="0" u="none" strike="noStrike">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 0</a:t>
                      </a:r>
                      <a:br>
                        <a:rPr lang="fr-FR" sz="1400" b="0" i="0" u="none" strike="noStrike">
                          <a:effectLst/>
                          <a:latin typeface="Calibri" panose="020F0502020204030204" pitchFamily="34" charset="0"/>
                        </a:rPr>
                      </a:br>
                      <a:r>
                        <a:rPr lang="fr-FR" sz="1400" b="0" i="0" u="none" strike="noStrike">
                          <a:effectLst/>
                          <a:latin typeface="Calibri" panose="020F0502020204030204" pitchFamily="34" charset="0"/>
                        </a:rPr>
                        <a:t> = 1</a:t>
                      </a:r>
                      <a:br>
                        <a:rPr lang="fr-FR" sz="1400" b="0" i="0" u="none" strike="noStrike">
                          <a:effectLst/>
                          <a:latin typeface="Calibri" panose="020F0502020204030204" pitchFamily="34" charset="0"/>
                        </a:rPr>
                      </a:br>
                      <a:endParaRPr lang="fr-FR" sz="1400" b="0" i="0" u="none" strike="noStrike">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615305085"/>
                  </a:ext>
                </a:extLst>
              </a:tr>
              <a:tr h="887390">
                <a:tc>
                  <a:txBody>
                    <a:bodyPr/>
                    <a:lstStyle/>
                    <a:p>
                      <a:pPr algn="ctr" rtl="0" fontAlgn="ctr">
                        <a:buNone/>
                      </a:pPr>
                      <a:r>
                        <a:rPr lang="fr-FR" sz="1400" b="1" i="0" u="none" strike="noStrike" dirty="0">
                          <a:solidFill>
                            <a:srgbClr val="000000"/>
                          </a:solidFill>
                          <a:effectLst/>
                          <a:latin typeface="Calibri" panose="020F0502020204030204" pitchFamily="34" charset="0"/>
                        </a:rPr>
                        <a:t>4</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02/05/06/09</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0" i="0" u="none" strike="noStrike" dirty="0">
                          <a:solidFill>
                            <a:srgbClr val="000000"/>
                          </a:solidFill>
                          <a:effectLst/>
                          <a:latin typeface="Calibri" panose="020F0502020204030204" pitchFamily="34" charset="0"/>
                        </a:rPr>
                        <a:t>isolé (02)</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AD (05)</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2 AD (06)</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3 AD ou plus (09)</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400" b="0" i="0" u="none" strike="noStrike" dirty="0">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2 </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a:t>
                      </a: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201004669"/>
                  </a:ext>
                </a:extLst>
              </a:tr>
              <a:tr h="887390">
                <a:tc>
                  <a:txBody>
                    <a:bodyPr/>
                    <a:lstStyle/>
                    <a:p>
                      <a:pPr algn="ctr" rtl="0" fontAlgn="ctr">
                        <a:buNone/>
                      </a:pPr>
                      <a:r>
                        <a:rPr lang="fr-FR" sz="1400" b="1" i="0" u="none" strike="noStrike" dirty="0">
                          <a:solidFill>
                            <a:srgbClr val="000000"/>
                          </a:solidFill>
                          <a:effectLst/>
                          <a:latin typeface="Calibri" panose="020F0502020204030204" pitchFamily="34" charset="0"/>
                        </a:rPr>
                        <a:t>4</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02/03/04/07</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fr-FR" sz="1400" b="0" i="0" u="none" strike="noStrike" dirty="0">
                          <a:solidFill>
                            <a:srgbClr val="000000"/>
                          </a:solidFill>
                          <a:effectLst/>
                          <a:latin typeface="Calibri" panose="020F0502020204030204" pitchFamily="34" charset="0"/>
                        </a:rPr>
                        <a:t>isolé (02)</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conjoint (03)</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enfant (04)</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2 AD ou plus (07)</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0</a:t>
                      </a: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345524278"/>
                  </a:ext>
                </a:extLst>
              </a:tr>
            </a:tbl>
          </a:graphicData>
        </a:graphic>
      </p:graphicFrame>
    </p:spTree>
    <p:extLst>
      <p:ext uri="{BB962C8B-B14F-4D97-AF65-F5344CB8AC3E}">
        <p14:creationId xmlns:p14="http://schemas.microsoft.com/office/powerpoint/2010/main" val="2103084111"/>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C4F9D-D422-C611-31BD-D435E164B43E}"/>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E15CA495-1B7D-4693-B745-9D976406EF60}"/>
              </a:ext>
            </a:extLst>
          </p:cNvPr>
          <p:cNvSpPr>
            <a:spLocks noGrp="1"/>
          </p:cNvSpPr>
          <p:nvPr>
            <p:ph type="sldNum" sz="quarter" idx="12"/>
          </p:nvPr>
        </p:nvSpPr>
        <p:spPr/>
        <p:txBody>
          <a:bodyPr/>
          <a:lstStyle/>
          <a:p>
            <a:fld id="{6C53AC0A-47EB-D843-AAE8-9061F973F010}" type="slidenum">
              <a:rPr lang="fr-FR" smtClean="0"/>
              <a:t>18</a:t>
            </a:fld>
            <a:endParaRPr lang="fr-FR"/>
          </a:p>
        </p:txBody>
      </p:sp>
      <p:sp>
        <p:nvSpPr>
          <p:cNvPr id="5" name="Titre 1">
            <a:extLst>
              <a:ext uri="{FF2B5EF4-FFF2-40B4-BE49-F238E27FC236}">
                <a16:creationId xmlns:a16="http://schemas.microsoft.com/office/drawing/2014/main" id="{B20E6969-2A7C-B197-CD3B-49FC083A81EE}"/>
              </a:ext>
            </a:extLst>
          </p:cNvPr>
          <p:cNvSpPr txBox="1">
            <a:spLocks/>
          </p:cNvSpPr>
          <p:nvPr/>
        </p:nvSpPr>
        <p:spPr>
          <a:xfrm>
            <a:off x="614703" y="23359"/>
            <a:ext cx="8550198" cy="476671"/>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2000" dirty="0"/>
              <a:t>Récapitulatif des conditions tarifaires (3/3)</a:t>
            </a:r>
          </a:p>
        </p:txBody>
      </p:sp>
      <p:graphicFrame>
        <p:nvGraphicFramePr>
          <p:cNvPr id="3" name="Tableau 2">
            <a:extLst>
              <a:ext uri="{FF2B5EF4-FFF2-40B4-BE49-F238E27FC236}">
                <a16:creationId xmlns:a16="http://schemas.microsoft.com/office/drawing/2014/main" id="{36E32689-A926-EE61-1FB8-8B15B9CFC997}"/>
              </a:ext>
            </a:extLst>
          </p:cNvPr>
          <p:cNvGraphicFramePr>
            <a:graphicFrameLocks noGrp="1"/>
          </p:cNvGraphicFramePr>
          <p:nvPr>
            <p:extLst>
              <p:ext uri="{D42A27DB-BD31-4B8C-83A1-F6EECF244321}">
                <p14:modId xmlns:p14="http://schemas.microsoft.com/office/powerpoint/2010/main" val="159618240"/>
              </p:ext>
            </p:extLst>
          </p:nvPr>
        </p:nvGraphicFramePr>
        <p:xfrm>
          <a:off x="323528" y="500030"/>
          <a:ext cx="8567393" cy="4722177"/>
        </p:xfrm>
        <a:graphic>
          <a:graphicData uri="http://schemas.openxmlformats.org/drawingml/2006/table">
            <a:tbl>
              <a:tblPr/>
              <a:tblGrid>
                <a:gridCol w="465349">
                  <a:extLst>
                    <a:ext uri="{9D8B030D-6E8A-4147-A177-3AD203B41FA5}">
                      <a16:colId xmlns:a16="http://schemas.microsoft.com/office/drawing/2014/main" val="3408102693"/>
                    </a:ext>
                  </a:extLst>
                </a:gridCol>
                <a:gridCol w="1764000">
                  <a:extLst>
                    <a:ext uri="{9D8B030D-6E8A-4147-A177-3AD203B41FA5}">
                      <a16:colId xmlns:a16="http://schemas.microsoft.com/office/drawing/2014/main" val="1017481366"/>
                    </a:ext>
                  </a:extLst>
                </a:gridCol>
                <a:gridCol w="3492000">
                  <a:extLst>
                    <a:ext uri="{9D8B030D-6E8A-4147-A177-3AD203B41FA5}">
                      <a16:colId xmlns:a16="http://schemas.microsoft.com/office/drawing/2014/main" val="764002705"/>
                    </a:ext>
                  </a:extLst>
                </a:gridCol>
                <a:gridCol w="749730">
                  <a:extLst>
                    <a:ext uri="{9D8B030D-6E8A-4147-A177-3AD203B41FA5}">
                      <a16:colId xmlns:a16="http://schemas.microsoft.com/office/drawing/2014/main" val="3969586618"/>
                    </a:ext>
                  </a:extLst>
                </a:gridCol>
                <a:gridCol w="864000">
                  <a:extLst>
                    <a:ext uri="{9D8B030D-6E8A-4147-A177-3AD203B41FA5}">
                      <a16:colId xmlns:a16="http://schemas.microsoft.com/office/drawing/2014/main" val="3714630359"/>
                    </a:ext>
                  </a:extLst>
                </a:gridCol>
                <a:gridCol w="620465">
                  <a:extLst>
                    <a:ext uri="{9D8B030D-6E8A-4147-A177-3AD203B41FA5}">
                      <a16:colId xmlns:a16="http://schemas.microsoft.com/office/drawing/2014/main" val="2399195685"/>
                    </a:ext>
                  </a:extLst>
                </a:gridCol>
                <a:gridCol w="611849">
                  <a:extLst>
                    <a:ext uri="{9D8B030D-6E8A-4147-A177-3AD203B41FA5}">
                      <a16:colId xmlns:a16="http://schemas.microsoft.com/office/drawing/2014/main" val="1231393394"/>
                    </a:ext>
                  </a:extLst>
                </a:gridCol>
              </a:tblGrid>
              <a:tr h="232411">
                <a:tc>
                  <a:txBody>
                    <a:bodyPr/>
                    <a:lstStyle/>
                    <a:p>
                      <a:pPr algn="l" fontAlgn="b">
                        <a:buNone/>
                      </a:pPr>
                      <a:endParaRPr lang="fr-FR" sz="1400" b="1" i="0" u="none" strike="noStrike">
                        <a:effectLst/>
                        <a:latin typeface="Calibri" panose="020F0502020204030204" pitchFamily="34" charset="0"/>
                      </a:endParaRPr>
                    </a:p>
                  </a:txBody>
                  <a:tcPr marL="2509" marR="2509" marT="250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a:effectLst/>
                        <a:latin typeface="Calibri" panose="020F0502020204030204" pitchFamily="34" charset="0"/>
                      </a:endParaRPr>
                    </a:p>
                  </a:txBody>
                  <a:tcPr marL="2509" marR="2509" marT="250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FR" sz="1400" b="0" i="0" u="none" strike="noStrike" dirty="0">
                        <a:effectLst/>
                        <a:latin typeface="Calibri" panose="020F0502020204030204" pitchFamily="34" charset="0"/>
                      </a:endParaRPr>
                    </a:p>
                  </a:txBody>
                  <a:tcPr marL="2509" marR="2509" marT="2509"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4">
                  <a:txBody>
                    <a:bodyPr/>
                    <a:lstStyle/>
                    <a:p>
                      <a:pPr algn="ctr" rtl="0" fontAlgn="ctr">
                        <a:buNone/>
                      </a:pPr>
                      <a:r>
                        <a:rPr lang="fr-FR" sz="1400" b="1" i="0" u="none" strike="noStrike">
                          <a:solidFill>
                            <a:srgbClr val="000000"/>
                          </a:solidFill>
                          <a:effectLst/>
                          <a:latin typeface="Calibri" panose="020F0502020204030204" pitchFamily="34" charset="0"/>
                        </a:rPr>
                        <a:t>Compteurs à renseigner en DSN</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688438270"/>
                  </a:ext>
                </a:extLst>
              </a:tr>
              <a:tr h="461678">
                <a:tc>
                  <a:txBody>
                    <a:bodyPr/>
                    <a:lstStyle/>
                    <a:p>
                      <a:pPr algn="ctr" rtl="0" fontAlgn="ctr">
                        <a:buNone/>
                      </a:pPr>
                      <a:r>
                        <a:rPr lang="fr-FR" sz="1400" b="1" i="0" u="none" strike="noStrike">
                          <a:solidFill>
                            <a:srgbClr val="000000"/>
                          </a:solidFill>
                          <a:effectLst/>
                          <a:latin typeface="Calibri" panose="020F0502020204030204" pitchFamily="34" charset="0"/>
                        </a:rPr>
                        <a:t>Nb de BMS </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a:solidFill>
                            <a:srgbClr val="000000"/>
                          </a:solidFill>
                          <a:effectLst/>
                          <a:latin typeface="Calibri" panose="020F0502020204030204" pitchFamily="34" charset="0"/>
                        </a:rPr>
                        <a:t>Conditions tarifaires</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l" rtl="0" fontAlgn="ctr">
                        <a:buNone/>
                      </a:pPr>
                      <a:r>
                        <a:rPr lang="fr-FR" sz="1400" b="1" i="0" u="none" strike="noStrike" dirty="0">
                          <a:solidFill>
                            <a:srgbClr val="FF0000"/>
                          </a:solidFill>
                          <a:effectLst/>
                          <a:latin typeface="Calibri" panose="020F0502020204030204" pitchFamily="34" charset="0"/>
                        </a:rPr>
                        <a:t>Cotisation calculée </a:t>
                      </a:r>
                      <a:r>
                        <a:rPr lang="fr-FR" sz="1400" b="1" i="0" u="sng" strike="noStrike" dirty="0">
                          <a:solidFill>
                            <a:srgbClr val="FF0000"/>
                          </a:solidFill>
                          <a:effectLst/>
                          <a:latin typeface="Calibri" panose="020F0502020204030204" pitchFamily="34" charset="0"/>
                        </a:rPr>
                        <a:t>avec la BMS </a:t>
                      </a:r>
                      <a:r>
                        <a:rPr lang="fr-FR" sz="1400" b="1" i="0" u="none" strike="noStrike" dirty="0">
                          <a:solidFill>
                            <a:srgbClr val="000000"/>
                          </a:solidFill>
                          <a:effectLst/>
                          <a:latin typeface="Calibri" panose="020F0502020204030204" pitchFamily="34" charset="0"/>
                        </a:rPr>
                        <a:t>qui correspond</a:t>
                      </a:r>
                      <a:r>
                        <a:rPr lang="fr-FR" sz="1400" b="1" i="0" u="sng" strike="noStrike" dirty="0">
                          <a:solidFill>
                            <a:srgbClr val="000000"/>
                          </a:solidFill>
                          <a:effectLst/>
                          <a:latin typeface="Calibri" panose="020F0502020204030204" pitchFamily="34" charset="0"/>
                        </a:rPr>
                        <a:t> </a:t>
                      </a:r>
                      <a:r>
                        <a:rPr lang="fr-FR" sz="1400" b="1" i="0" u="none" strike="noStrike" dirty="0">
                          <a:solidFill>
                            <a:srgbClr val="000000"/>
                          </a:solidFill>
                          <a:effectLst/>
                          <a:latin typeface="Calibri" panose="020F0502020204030204" pitchFamily="34" charset="0"/>
                        </a:rPr>
                        <a:t>à la composition des ayants droit de l'assuré</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dirty="0">
                          <a:solidFill>
                            <a:srgbClr val="000000"/>
                          </a:solidFill>
                          <a:effectLst/>
                          <a:latin typeface="Calibri" panose="020F0502020204030204" pitchFamily="34" charset="0"/>
                        </a:rPr>
                        <a:t>70.008 Conjoint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a:solidFill>
                            <a:srgbClr val="000000"/>
                          </a:solidFill>
                          <a:effectLst/>
                          <a:latin typeface="Calibri" panose="020F0502020204030204" pitchFamily="34" charset="0"/>
                        </a:rPr>
                        <a:t>70.009 Ayant droit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a:solidFill>
                            <a:srgbClr val="000000"/>
                          </a:solidFill>
                          <a:effectLst/>
                          <a:latin typeface="Calibri" panose="020F0502020204030204" pitchFamily="34" charset="0"/>
                        </a:rPr>
                        <a:t>70.010 Autres</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rtl="0" fontAlgn="ctr">
                        <a:buNone/>
                      </a:pPr>
                      <a:r>
                        <a:rPr lang="fr-FR" sz="1400" b="1" i="0" u="none" strike="noStrike">
                          <a:solidFill>
                            <a:srgbClr val="000000"/>
                          </a:solidFill>
                          <a:effectLst/>
                          <a:latin typeface="Calibri" panose="020F0502020204030204" pitchFamily="34" charset="0"/>
                        </a:rPr>
                        <a:t>70.011 Enfant</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689778803"/>
                  </a:ext>
                </a:extLst>
              </a:tr>
              <a:tr h="1149476">
                <a:tc>
                  <a:txBody>
                    <a:bodyPr/>
                    <a:lstStyle/>
                    <a:p>
                      <a:pPr algn="ctr" rtl="0" fontAlgn="ctr">
                        <a:buNone/>
                      </a:pPr>
                      <a:r>
                        <a:rPr lang="fr-FR" sz="1400" b="1" i="0" u="none" strike="noStrike">
                          <a:solidFill>
                            <a:srgbClr val="000000"/>
                          </a:solidFill>
                          <a:effectLst/>
                          <a:latin typeface="Calibri" panose="020F0502020204030204" pitchFamily="34" charset="0"/>
                        </a:rPr>
                        <a:t>5</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02/03/04/06/09</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fr-FR" sz="1400" b="0" i="0" u="none" strike="noStrike" dirty="0">
                          <a:solidFill>
                            <a:srgbClr val="000000"/>
                          </a:solidFill>
                          <a:effectLst/>
                          <a:latin typeface="Calibri" panose="020F0502020204030204" pitchFamily="34" charset="0"/>
                        </a:rPr>
                        <a:t>isolé (02)</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conjoint (03)</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1 enfant (04)</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2 AD (06)</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OU avec 3 AD ou plus (09)</a:t>
                      </a:r>
                    </a:p>
                  </a:txBody>
                  <a:tcPr marL="2509" marR="2509" marT="25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0</a:t>
                      </a:r>
                      <a:br>
                        <a:rPr lang="fr-FR" sz="1400" b="0" i="0" u="none" strike="noStrike" dirty="0">
                          <a:effectLst/>
                          <a:latin typeface="Calibri" panose="020F0502020204030204" pitchFamily="34" charset="0"/>
                        </a:rPr>
                      </a:b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2</a:t>
                      </a: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effectLst/>
                          <a:latin typeface="Calibri" panose="020F0502020204030204" pitchFamily="34" charset="0"/>
                        </a:rPr>
                        <a:t> = 0</a:t>
                      </a:r>
                      <a:br>
                        <a:rPr lang="fr-FR" sz="1400" b="0" i="0" u="none" strike="noStrike">
                          <a:effectLst/>
                          <a:latin typeface="Calibri" panose="020F0502020204030204" pitchFamily="34" charset="0"/>
                        </a:rPr>
                      </a:br>
                      <a:r>
                        <a:rPr lang="fr-FR" sz="1400" b="0" i="0" u="none" strike="noStrike">
                          <a:effectLst/>
                          <a:latin typeface="Calibri" panose="020F0502020204030204" pitchFamily="34" charset="0"/>
                        </a:rPr>
                        <a:t> = 0</a:t>
                      </a:r>
                      <a:br>
                        <a:rPr lang="fr-FR" sz="1400" b="0" i="0" u="none" strike="noStrike">
                          <a:effectLst/>
                          <a:latin typeface="Calibri" panose="020F0502020204030204" pitchFamily="34" charset="0"/>
                        </a:rPr>
                      </a:br>
                      <a:br>
                        <a:rPr lang="fr-FR" sz="1400" b="0" i="0" u="none" strike="noStrike">
                          <a:effectLst/>
                          <a:latin typeface="Calibri" panose="020F0502020204030204" pitchFamily="34" charset="0"/>
                        </a:rPr>
                      </a:br>
                      <a:endParaRPr lang="fr-FR" sz="1400" b="0" i="0" u="none" strike="noStrike">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effectLst/>
                          <a:latin typeface="Calibri" panose="020F0502020204030204" pitchFamily="34" charset="0"/>
                        </a:rPr>
                        <a:t> = 0</a:t>
                      </a:r>
                      <a:br>
                        <a:rPr lang="fr-FR" sz="1400" b="0" i="0" u="none" strike="noStrike" dirty="0">
                          <a:effectLst/>
                          <a:latin typeface="Calibri" panose="020F0502020204030204" pitchFamily="34" charset="0"/>
                        </a:rPr>
                      </a:br>
                      <a:r>
                        <a:rPr lang="fr-FR" sz="1400" b="0" i="0" u="none" strike="noStrike" dirty="0">
                          <a:effectLst/>
                          <a:latin typeface="Calibri" panose="020F0502020204030204" pitchFamily="34" charset="0"/>
                        </a:rPr>
                        <a:t> = 1</a:t>
                      </a:r>
                      <a:br>
                        <a:rPr lang="fr-FR" sz="1400" b="0" i="0" u="none" strike="noStrike" dirty="0">
                          <a:effectLst/>
                          <a:latin typeface="Calibri" panose="020F0502020204030204" pitchFamily="34" charset="0"/>
                        </a:rPr>
                      </a:br>
                      <a:br>
                        <a:rPr lang="fr-FR" sz="1400" b="0" i="0" u="none" strike="noStrike" dirty="0">
                          <a:effectLst/>
                          <a:latin typeface="Calibri" panose="020F0502020204030204" pitchFamily="34" charset="0"/>
                        </a:rPr>
                      </a:br>
                      <a:endParaRPr lang="fr-FR" sz="1400" b="0" i="0" u="none" strike="noStrike" dirty="0">
                        <a:effectLst/>
                        <a:latin typeface="Calibri" panose="020F0502020204030204" pitchFamily="34" charset="0"/>
                      </a:endParaRPr>
                    </a:p>
                  </a:txBody>
                  <a:tcPr marL="2509" marR="2509" marT="25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939298982"/>
                  </a:ext>
                </a:extLst>
              </a:tr>
              <a:tr h="1378742">
                <a:tc>
                  <a:txBody>
                    <a:bodyPr/>
                    <a:lstStyle/>
                    <a:p>
                      <a:pPr algn="ctr" rtl="0" fontAlgn="ctr">
                        <a:buNone/>
                      </a:pPr>
                      <a:r>
                        <a:rPr lang="fr-FR" sz="1400" b="1"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a:solidFill>
                            <a:srgbClr val="000000"/>
                          </a:solidFill>
                          <a:effectLst/>
                          <a:latin typeface="Calibri" panose="020F0502020204030204" pitchFamily="34" charset="0"/>
                        </a:rPr>
                        <a:t>02/03/04/11/06/09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a:solidFill>
                            <a:srgbClr val="000000"/>
                          </a:solidFill>
                          <a:effectLst/>
                          <a:latin typeface="Calibri" panose="020F0502020204030204" pitchFamily="34" charset="0"/>
                        </a:rPr>
                        <a:t>isolé (02)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1 conjoint (03) </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1 enfant (04)</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2 enfants (11)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2 AD (06)</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3 AD ou plus (09)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br>
                        <a:rPr lang="fr-FR" sz="1400" b="0" i="0" u="none" strike="noStrike">
                          <a:solidFill>
                            <a:srgbClr val="000000"/>
                          </a:solidFill>
                          <a:effectLst/>
                          <a:latin typeface="Calibri" panose="020F0502020204030204" pitchFamily="34" charset="0"/>
                        </a:rPr>
                      </a:br>
                      <a:endParaRPr lang="fr-FR" sz="14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2</a:t>
                      </a:r>
                      <a:br>
                        <a:rPr lang="fr-FR" sz="1400" b="0" i="0" u="none" strike="noStrike">
                          <a:solidFill>
                            <a:srgbClr val="000000"/>
                          </a:solidFill>
                          <a:effectLst/>
                          <a:latin typeface="Calibri" panose="020F0502020204030204" pitchFamily="34" charset="0"/>
                        </a:rPr>
                      </a:br>
                      <a:br>
                        <a:rPr lang="fr-FR" sz="1400" b="0" i="0" u="none" strike="noStrike">
                          <a:solidFill>
                            <a:srgbClr val="000000"/>
                          </a:solidFill>
                          <a:effectLst/>
                          <a:latin typeface="Calibri" panose="020F0502020204030204" pitchFamily="34" charset="0"/>
                        </a:rPr>
                      </a:br>
                      <a:endParaRPr lang="fr-FR" sz="14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900634418"/>
                  </a:ext>
                </a:extLst>
              </a:tr>
              <a:tr h="1378742">
                <a:tc>
                  <a:txBody>
                    <a:bodyPr/>
                    <a:lstStyle/>
                    <a:p>
                      <a:pPr algn="ctr" rtl="0" fontAlgn="ctr">
                        <a:buNone/>
                      </a:pPr>
                      <a:r>
                        <a:rPr lang="fr-FR" sz="1400" b="1"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1" i="0" u="none" strike="noStrike" dirty="0">
                          <a:solidFill>
                            <a:srgbClr val="000000"/>
                          </a:solidFill>
                          <a:effectLst/>
                          <a:latin typeface="Calibri" panose="020F0502020204030204" pitchFamily="34" charset="0"/>
                        </a:rPr>
                        <a:t>02/03/04/11/12/06/09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rtl="0" fontAlgn="ctr">
                        <a:buNone/>
                      </a:pPr>
                      <a:r>
                        <a:rPr lang="fr-FR" sz="1400" b="0" i="0" u="none" strike="noStrike">
                          <a:solidFill>
                            <a:srgbClr val="000000"/>
                          </a:solidFill>
                          <a:effectLst/>
                          <a:latin typeface="Calibri" panose="020F0502020204030204" pitchFamily="34" charset="0"/>
                        </a:rPr>
                        <a:t>isolé (02)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1 conjoint (03) </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1 enfant (04)</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2 enfants (11)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3 enfants ou plus (12)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2 AD (06)</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OU avec 3 AD ou plus (09)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buNone/>
                      </a:pP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1</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2</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&gt;= 3</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2</a:t>
                      </a:r>
                      <a:br>
                        <a:rPr lang="fr-FR" sz="1400" b="0" i="0" u="none" strike="noStrike">
                          <a:solidFill>
                            <a:srgbClr val="000000"/>
                          </a:solidFill>
                          <a:effectLst/>
                          <a:latin typeface="Calibri" panose="020F0502020204030204" pitchFamily="34" charset="0"/>
                        </a:rPr>
                      </a:br>
                      <a:endParaRPr lang="fr-FR" sz="14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r>
                        <a:rPr lang="fr-FR" sz="1400" b="0" i="0" u="none" strike="noStrike">
                          <a:solidFill>
                            <a:srgbClr val="000000"/>
                          </a:solidFill>
                          <a:effectLst/>
                          <a:latin typeface="Calibri" panose="020F0502020204030204" pitchFamily="34" charset="0"/>
                        </a:rPr>
                        <a:t> = 0</a:t>
                      </a:r>
                      <a:br>
                        <a:rPr lang="fr-FR" sz="1400" b="0" i="0" u="none" strike="noStrike">
                          <a:solidFill>
                            <a:srgbClr val="000000"/>
                          </a:solidFill>
                          <a:effectLst/>
                          <a:latin typeface="Calibri" panose="020F0502020204030204" pitchFamily="34" charset="0"/>
                        </a:rPr>
                      </a:br>
                      <a:br>
                        <a:rPr lang="fr-FR" sz="1400" b="0" i="0" u="none" strike="noStrike">
                          <a:solidFill>
                            <a:srgbClr val="000000"/>
                          </a:solidFill>
                          <a:effectLst/>
                          <a:latin typeface="Calibri" panose="020F0502020204030204" pitchFamily="34" charset="0"/>
                        </a:rPr>
                      </a:br>
                      <a:endParaRPr lang="fr-FR" sz="1400" b="0" i="0" u="none" strike="noStrike">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tc>
                  <a:txBody>
                    <a:bodyPr/>
                    <a:lstStyle/>
                    <a:p>
                      <a:pPr algn="ctr" fontAlgn="b">
                        <a:buNone/>
                      </a:pPr>
                      <a:r>
                        <a:rPr lang="fr-FR" sz="1400" b="0" i="0" u="none" strike="noStrike" dirty="0">
                          <a:solidFill>
                            <a:srgbClr val="000000"/>
                          </a:solidFill>
                          <a:effectLst/>
                          <a:latin typeface="Calibri" panose="020F0502020204030204" pitchFamily="34" charset="0"/>
                        </a:rPr>
                        <a:t> = 0</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 = 1</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 = 2</a:t>
                      </a:r>
                      <a:br>
                        <a:rPr lang="fr-FR" sz="1400" b="0" i="0" u="none" strike="noStrike" dirty="0">
                          <a:solidFill>
                            <a:srgbClr val="000000"/>
                          </a:solidFill>
                          <a:effectLst/>
                          <a:latin typeface="Calibri" panose="020F0502020204030204" pitchFamily="34" charset="0"/>
                        </a:rPr>
                      </a:br>
                      <a:r>
                        <a:rPr lang="fr-FR" sz="1400" b="0" i="0" u="none" strike="noStrike" dirty="0">
                          <a:solidFill>
                            <a:srgbClr val="000000"/>
                          </a:solidFill>
                          <a:effectLst/>
                          <a:latin typeface="Calibri" panose="020F0502020204030204" pitchFamily="34" charset="0"/>
                        </a:rPr>
                        <a:t>&gt;= 3</a:t>
                      </a:r>
                      <a:br>
                        <a:rPr lang="fr-FR" sz="1400" b="0" i="0" u="none" strike="noStrike" dirty="0">
                          <a:solidFill>
                            <a:srgbClr val="000000"/>
                          </a:solidFill>
                          <a:effectLst/>
                          <a:latin typeface="Calibri" panose="020F0502020204030204" pitchFamily="34" charset="0"/>
                        </a:rPr>
                      </a:br>
                      <a:br>
                        <a:rPr lang="fr-FR" sz="1400" b="0" i="0" u="none" strike="noStrike" dirty="0">
                          <a:solidFill>
                            <a:srgbClr val="000000"/>
                          </a:solidFill>
                          <a:effectLst/>
                          <a:latin typeface="Calibri" panose="020F0502020204030204" pitchFamily="34" charset="0"/>
                        </a:rPr>
                      </a:br>
                      <a:endParaRPr lang="fr-FR" sz="1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754817617"/>
                  </a:ext>
                </a:extLst>
              </a:tr>
            </a:tbl>
          </a:graphicData>
        </a:graphic>
      </p:graphicFrame>
    </p:spTree>
    <p:extLst>
      <p:ext uri="{BB962C8B-B14F-4D97-AF65-F5344CB8AC3E}">
        <p14:creationId xmlns:p14="http://schemas.microsoft.com/office/powerpoint/2010/main" val="1204075282"/>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AA65-C1C2-8E89-3E96-BA460AC4C3DF}"/>
            </a:ext>
          </a:extLst>
        </p:cNvPr>
        <p:cNvGrpSpPr/>
        <p:nvPr/>
      </p:nvGrpSpPr>
      <p:grpSpPr>
        <a:xfrm>
          <a:off x="0" y="0"/>
          <a:ext cx="0" cy="0"/>
          <a:chOff x="0" y="0"/>
          <a:chExt cx="0" cy="0"/>
        </a:xfrm>
      </p:grpSpPr>
      <p:sp>
        <p:nvSpPr>
          <p:cNvPr id="13" name="Titre 12">
            <a:extLst>
              <a:ext uri="{FF2B5EF4-FFF2-40B4-BE49-F238E27FC236}">
                <a16:creationId xmlns:a16="http://schemas.microsoft.com/office/drawing/2014/main" id="{9C599AE9-4EB4-D298-25B7-B0A375C650DD}"/>
              </a:ext>
            </a:extLst>
          </p:cNvPr>
          <p:cNvSpPr>
            <a:spLocks noGrp="1"/>
          </p:cNvSpPr>
          <p:nvPr>
            <p:ph type="ctrTitle"/>
          </p:nvPr>
        </p:nvSpPr>
        <p:spPr/>
        <p:txBody>
          <a:bodyPr/>
          <a:lstStyle/>
          <a:p>
            <a:r>
              <a:rPr lang="fr-FR" b="1" dirty="0"/>
              <a:t>Delta entre les versions 139 et 140</a:t>
            </a:r>
          </a:p>
        </p:txBody>
      </p:sp>
      <p:sp>
        <p:nvSpPr>
          <p:cNvPr id="5" name="Espace réservé du numéro de diapositive 4">
            <a:extLst>
              <a:ext uri="{FF2B5EF4-FFF2-40B4-BE49-F238E27FC236}">
                <a16:creationId xmlns:a16="http://schemas.microsoft.com/office/drawing/2014/main" id="{596F66A7-89DB-3065-7A88-75EFB779451E}"/>
              </a:ext>
            </a:extLst>
          </p:cNvPr>
          <p:cNvSpPr>
            <a:spLocks noGrp="1"/>
          </p:cNvSpPr>
          <p:nvPr>
            <p:ph type="sldNum" sz="quarter" idx="12"/>
          </p:nvPr>
        </p:nvSpPr>
        <p:spPr/>
        <p:txBody>
          <a:bodyPr/>
          <a:lstStyle/>
          <a:p>
            <a:fld id="{6C53AC0A-47EB-D843-AAE8-9061F973F010}" type="slidenum">
              <a:rPr lang="fr-FR" smtClean="0"/>
              <a:t>19</a:t>
            </a:fld>
            <a:endParaRPr lang="fr-FR"/>
          </a:p>
        </p:txBody>
      </p:sp>
      <p:sp>
        <p:nvSpPr>
          <p:cNvPr id="24" name="Espace réservé du contenu 23">
            <a:extLst>
              <a:ext uri="{FF2B5EF4-FFF2-40B4-BE49-F238E27FC236}">
                <a16:creationId xmlns:a16="http://schemas.microsoft.com/office/drawing/2014/main" id="{65F6407D-6F67-A588-1411-1B16D298D686}"/>
              </a:ext>
            </a:extLst>
          </p:cNvPr>
          <p:cNvSpPr>
            <a:spLocks noGrp="1"/>
          </p:cNvSpPr>
          <p:nvPr>
            <p:ph sz="quarter" idx="4294967295"/>
          </p:nvPr>
        </p:nvSpPr>
        <p:spPr>
          <a:xfrm>
            <a:off x="683568" y="441223"/>
            <a:ext cx="3113928" cy="383904"/>
          </a:xfrm>
        </p:spPr>
        <p:txBody>
          <a:bodyPr vert="horz" lIns="180000" tIns="0" rIns="0" bIns="180000" rtlCol="0">
            <a:noAutofit/>
          </a:bodyPr>
          <a:lstStyle/>
          <a:p>
            <a:r>
              <a:rPr lang="fr-FR" sz="2800" b="1" dirty="0">
                <a:solidFill>
                  <a:schemeClr val="accent5">
                    <a:lumMod val="75000"/>
                  </a:schemeClr>
                </a:solidFill>
              </a:rPr>
              <a:t>PARTIE 4</a:t>
            </a:r>
          </a:p>
        </p:txBody>
      </p:sp>
      <p:sp>
        <p:nvSpPr>
          <p:cNvPr id="2" name="Titre 1">
            <a:extLst>
              <a:ext uri="{FF2B5EF4-FFF2-40B4-BE49-F238E27FC236}">
                <a16:creationId xmlns:a16="http://schemas.microsoft.com/office/drawing/2014/main" id="{B6CB9087-AD9A-6F48-7140-6BABA30476E6}"/>
              </a:ext>
            </a:extLst>
          </p:cNvPr>
          <p:cNvSpPr txBox="1">
            <a:spLocks/>
          </p:cNvSpPr>
          <p:nvPr/>
        </p:nvSpPr>
        <p:spPr>
          <a:xfrm>
            <a:off x="1253157" y="2564904"/>
            <a:ext cx="7056784" cy="1224136"/>
          </a:xfrm>
          <a:prstGeom prst="rect">
            <a:avLst/>
          </a:prstGeom>
        </p:spPr>
        <p:txBody>
          <a:bodyPr vert="horz" lIns="0" tIns="0" rIns="0" bIns="0" rtlCol="0" anchor="t" anchorCtr="0">
            <a:noAutofit/>
          </a:bodyPr>
          <a:lstStyle>
            <a:lvl1pPr algn="l" defTabSz="914400" rtl="0" eaLnBrk="1" latinLnBrk="0" hangingPunct="1">
              <a:spcBef>
                <a:spcPct val="0"/>
              </a:spcBef>
              <a:buNone/>
              <a:defRPr sz="2600" b="0" kern="1200" cap="none" spc="-30" baseline="0">
                <a:solidFill>
                  <a:schemeClr val="bg1"/>
                </a:solidFill>
                <a:latin typeface="+mj-lt"/>
                <a:ea typeface="+mj-ea"/>
                <a:cs typeface="+mj-cs"/>
              </a:defRPr>
            </a:lvl1pPr>
          </a:lstStyle>
          <a:p>
            <a:endParaRPr lang="fr-FR" sz="1600" dirty="0"/>
          </a:p>
        </p:txBody>
      </p:sp>
    </p:spTree>
    <p:extLst>
      <p:ext uri="{BB962C8B-B14F-4D97-AF65-F5344CB8AC3E}">
        <p14:creationId xmlns:p14="http://schemas.microsoft.com/office/powerpoint/2010/main" val="29594622"/>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8BD46-CA17-A009-BAFA-05C4DBC92C12}"/>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FA0F0005-BF4B-BBD5-6B87-461FD45DAF39}"/>
              </a:ext>
            </a:extLst>
          </p:cNvPr>
          <p:cNvSpPr>
            <a:spLocks noGrp="1"/>
          </p:cNvSpPr>
          <p:nvPr>
            <p:ph type="sldNum" sz="quarter" idx="12"/>
          </p:nvPr>
        </p:nvSpPr>
        <p:spPr/>
        <p:txBody>
          <a:bodyPr/>
          <a:lstStyle/>
          <a:p>
            <a:fld id="{6C53AC0A-47EB-D843-AAE8-9061F973F010}" type="slidenum">
              <a:rPr lang="fr-FR" smtClean="0"/>
              <a:t>20</a:t>
            </a:fld>
            <a:endParaRPr lang="fr-FR"/>
          </a:p>
        </p:txBody>
      </p:sp>
      <p:sp>
        <p:nvSpPr>
          <p:cNvPr id="5" name="Titre 1">
            <a:extLst>
              <a:ext uri="{FF2B5EF4-FFF2-40B4-BE49-F238E27FC236}">
                <a16:creationId xmlns:a16="http://schemas.microsoft.com/office/drawing/2014/main" id="{FC7D6A0D-EF5F-C85C-8347-E5FEB950FFD1}"/>
              </a:ext>
            </a:extLst>
          </p:cNvPr>
          <p:cNvSpPr>
            <a:spLocks noGrp="1"/>
          </p:cNvSpPr>
          <p:nvPr>
            <p:ph type="title"/>
          </p:nvPr>
        </p:nvSpPr>
        <p:spPr>
          <a:xfrm>
            <a:off x="932060" y="1"/>
            <a:ext cx="7601100" cy="836712"/>
          </a:xfrm>
        </p:spPr>
        <p:txBody>
          <a:bodyPr vert="horz" lIns="180000" tIns="180000" rIns="0" bIns="0" rtlCol="0" anchor="t" anchorCtr="0">
            <a:noAutofit/>
          </a:bodyPr>
          <a:lstStyle/>
          <a:p>
            <a:r>
              <a:rPr lang="fr-FR" sz="1800" dirty="0"/>
              <a:t> Delta entre les versions de fiches 139 et 140</a:t>
            </a:r>
            <a:br>
              <a:rPr lang="fr-FR" sz="1800" dirty="0">
                <a:solidFill>
                  <a:srgbClr val="FF0000"/>
                </a:solidFill>
              </a:rPr>
            </a:br>
            <a:endParaRPr lang="fr-FR" sz="1800" dirty="0">
              <a:solidFill>
                <a:srgbClr val="FF0000"/>
              </a:solidFill>
            </a:endParaRPr>
          </a:p>
        </p:txBody>
      </p:sp>
      <p:sp>
        <p:nvSpPr>
          <p:cNvPr id="2" name="ZoneTexte 1">
            <a:extLst>
              <a:ext uri="{FF2B5EF4-FFF2-40B4-BE49-F238E27FC236}">
                <a16:creationId xmlns:a16="http://schemas.microsoft.com/office/drawing/2014/main" id="{43BC5D15-F725-C104-067F-2BF85445AC2B}"/>
              </a:ext>
            </a:extLst>
          </p:cNvPr>
          <p:cNvSpPr txBox="1"/>
          <p:nvPr/>
        </p:nvSpPr>
        <p:spPr>
          <a:xfrm>
            <a:off x="427458" y="836713"/>
            <a:ext cx="8408709" cy="984885"/>
          </a:xfrm>
          <a:prstGeom prst="rect">
            <a:avLst/>
          </a:prstGeom>
          <a:noFill/>
        </p:spPr>
        <p:txBody>
          <a:bodyPr wrap="square">
            <a:spAutoFit/>
          </a:bodyPr>
          <a:lstStyle/>
          <a:p>
            <a:pPr marL="342900" indent="-342900" algn="just">
              <a:spcBef>
                <a:spcPts val="300"/>
              </a:spcBef>
              <a:spcAft>
                <a:spcPts val="300"/>
              </a:spcAft>
              <a:buFont typeface="+mj-lt"/>
              <a:buAutoNum type="arabicPeriod"/>
            </a:pPr>
            <a:r>
              <a:rPr lang="fr-FR" sz="1600" b="1" dirty="0">
                <a:solidFill>
                  <a:schemeClr val="tx2"/>
                </a:solidFill>
              </a:rPr>
              <a:t>Ajout d'un plafond et plancher sur les bases et montants forfaitaires</a:t>
            </a:r>
          </a:p>
          <a:p>
            <a:pPr marL="342900" indent="-342900" algn="just">
              <a:spcBef>
                <a:spcPts val="300"/>
              </a:spcBef>
              <a:spcAft>
                <a:spcPts val="300"/>
              </a:spcAft>
              <a:buFont typeface="+mj-lt"/>
              <a:buAutoNum type="arabicPeriod"/>
            </a:pPr>
            <a:r>
              <a:rPr lang="fr-FR" sz="1600" b="1" dirty="0">
                <a:solidFill>
                  <a:schemeClr val="tx2"/>
                </a:solidFill>
              </a:rPr>
              <a:t>Modification des cardinalités des critères salariés à valeurs discrètes</a:t>
            </a:r>
          </a:p>
          <a:p>
            <a:pPr marL="342900" indent="-342900" algn="just">
              <a:spcBef>
                <a:spcPts val="300"/>
              </a:spcBef>
              <a:spcAft>
                <a:spcPts val="300"/>
              </a:spcAft>
              <a:buFont typeface="+mj-lt"/>
              <a:buAutoNum type="arabicPeriod"/>
            </a:pPr>
            <a:r>
              <a:rPr lang="fr-FR" sz="1600" b="1" dirty="0">
                <a:solidFill>
                  <a:schemeClr val="tx2"/>
                </a:solidFill>
              </a:rPr>
              <a:t>Modification des combinaisons DGC/DGP autorisées</a:t>
            </a:r>
          </a:p>
        </p:txBody>
      </p:sp>
    </p:spTree>
    <p:extLst>
      <p:ext uri="{BB962C8B-B14F-4D97-AF65-F5344CB8AC3E}">
        <p14:creationId xmlns:p14="http://schemas.microsoft.com/office/powerpoint/2010/main" val="3813610650"/>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AA8B-8E03-AB18-DBE6-4EC0AA0F16A1}"/>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93BA9D52-D31A-3CBB-E025-C7AB63556BF6}"/>
              </a:ext>
            </a:extLst>
          </p:cNvPr>
          <p:cNvSpPr>
            <a:spLocks noGrp="1"/>
          </p:cNvSpPr>
          <p:nvPr>
            <p:ph type="sldNum" sz="quarter" idx="12"/>
          </p:nvPr>
        </p:nvSpPr>
        <p:spPr/>
        <p:txBody>
          <a:bodyPr/>
          <a:lstStyle/>
          <a:p>
            <a:fld id="{6C53AC0A-47EB-D843-AAE8-9061F973F010}" type="slidenum">
              <a:rPr lang="fr-FR" smtClean="0"/>
              <a:t>21</a:t>
            </a:fld>
            <a:endParaRPr lang="fr-FR"/>
          </a:p>
        </p:txBody>
      </p:sp>
      <p:sp>
        <p:nvSpPr>
          <p:cNvPr id="5" name="Titre 1">
            <a:extLst>
              <a:ext uri="{FF2B5EF4-FFF2-40B4-BE49-F238E27FC236}">
                <a16:creationId xmlns:a16="http://schemas.microsoft.com/office/drawing/2014/main" id="{AFA75CE8-6D04-39E0-7D06-3E861E6559DB}"/>
              </a:ext>
            </a:extLst>
          </p:cNvPr>
          <p:cNvSpPr>
            <a:spLocks noGrp="1"/>
          </p:cNvSpPr>
          <p:nvPr>
            <p:ph type="title"/>
          </p:nvPr>
        </p:nvSpPr>
        <p:spPr>
          <a:xfrm>
            <a:off x="932059" y="1"/>
            <a:ext cx="7986805" cy="836712"/>
          </a:xfrm>
        </p:spPr>
        <p:txBody>
          <a:bodyPr vert="horz" lIns="180000" tIns="180000" rIns="0" bIns="0" rtlCol="0" anchor="t" anchorCtr="0">
            <a:noAutofit/>
          </a:bodyPr>
          <a:lstStyle/>
          <a:p>
            <a:r>
              <a:rPr lang="fr-FR" sz="1800" dirty="0"/>
              <a:t> 1. Ajout d'un plafond et plancher sur les bases et montants forfaitaires</a:t>
            </a:r>
          </a:p>
        </p:txBody>
      </p:sp>
      <p:sp>
        <p:nvSpPr>
          <p:cNvPr id="3" name="ZoneTexte 2">
            <a:extLst>
              <a:ext uri="{FF2B5EF4-FFF2-40B4-BE49-F238E27FC236}">
                <a16:creationId xmlns:a16="http://schemas.microsoft.com/office/drawing/2014/main" id="{8DD35926-7287-6CE2-6253-52FC9E7257FA}"/>
              </a:ext>
            </a:extLst>
          </p:cNvPr>
          <p:cNvSpPr txBox="1"/>
          <p:nvPr/>
        </p:nvSpPr>
        <p:spPr>
          <a:xfrm>
            <a:off x="546355" y="836713"/>
            <a:ext cx="8372510" cy="661720"/>
          </a:xfrm>
          <a:prstGeom prst="rect">
            <a:avLst/>
          </a:prstGeom>
          <a:noFill/>
          <a:ln w="38100">
            <a:solidFill>
              <a:schemeClr val="tx1"/>
            </a:solidFill>
          </a:ln>
        </p:spPr>
        <p:txBody>
          <a:bodyPr wrap="square" rtlCol="0">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mn-cs"/>
              </a:rPr>
              <a:t>En Orange : les modifications intervenant dans le schéma de la fiche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mn-cs"/>
              </a:rPr>
              <a:t>En Bleu : les modifications des contrôles des concentrateurs à réception des fiches</a:t>
            </a:r>
          </a:p>
        </p:txBody>
      </p:sp>
      <p:sp>
        <p:nvSpPr>
          <p:cNvPr id="7" name="ZoneTexte 6">
            <a:extLst>
              <a:ext uri="{FF2B5EF4-FFF2-40B4-BE49-F238E27FC236}">
                <a16:creationId xmlns:a16="http://schemas.microsoft.com/office/drawing/2014/main" id="{48A43D3E-EA32-7056-0F33-2E02CC9033FF}"/>
              </a:ext>
            </a:extLst>
          </p:cNvPr>
          <p:cNvSpPr txBox="1"/>
          <p:nvPr/>
        </p:nvSpPr>
        <p:spPr>
          <a:xfrm>
            <a:off x="470946" y="1613795"/>
            <a:ext cx="8447920" cy="4815677"/>
          </a:xfrm>
          <a:prstGeom prst="rect">
            <a:avLst/>
          </a:prstGeom>
          <a:noFill/>
        </p:spPr>
        <p:txBody>
          <a:bodyPr wrap="square">
            <a:spAutoFit/>
          </a:bodyPr>
          <a:lstStyle/>
          <a:p>
            <a:pPr marL="0" marR="0" lvl="0" indent="0" algn="l" defTabSz="685800" rtl="0" eaLnBrk="1" fontAlgn="auto" latinLnBrk="0" hangingPunct="1">
              <a:lnSpc>
                <a:spcPct val="90000"/>
              </a:lnSpc>
              <a:spcBef>
                <a:spcPts val="50"/>
              </a:spcBef>
              <a:spcAft>
                <a:spcPts val="0"/>
              </a:spcAft>
              <a:buClrTx/>
              <a:buSzTx/>
              <a:buFontTx/>
              <a:buNone/>
              <a:tabLst/>
              <a:defRPr/>
            </a:pPr>
            <a:r>
              <a:rPr kumimoji="0" lang="fr-FR" sz="1600" b="1" i="0" u="sng"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Les modifications du schéma sont les suivantes : </a:t>
            </a:r>
          </a:p>
          <a:p>
            <a:pPr marL="0" marR="0" lvl="0" indent="0" algn="l" defTabSz="685800" rtl="0" eaLnBrk="1" fontAlgn="auto" latinLnBrk="0" hangingPunct="1">
              <a:lnSpc>
                <a:spcPct val="90000"/>
              </a:lnSpc>
              <a:spcBef>
                <a:spcPts val="50"/>
              </a:spcBef>
              <a:spcAft>
                <a:spcPts val="0"/>
              </a:spcAft>
              <a:buClrTx/>
              <a:buSzTx/>
              <a:buFontTx/>
              <a:buNone/>
              <a:tabLst/>
              <a:defRPr/>
            </a:pPr>
            <a:endParaRPr kumimoji="0" lang="fr-FR" sz="10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Ajout sur l’élément BMS d’un choix permettant : </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de ne renseigner aucun plancher ni plafond de BMS</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de renseigner un plancher de BMS,  ou un plafond de BMS, ou les deux.</a:t>
            </a:r>
          </a:p>
          <a:p>
            <a:pPr marL="0" marR="0" lvl="0" indent="0" algn="l" defTabSz="685800" rtl="0" eaLnBrk="1" fontAlgn="auto" latinLnBrk="0" hangingPunct="1">
              <a:lnSpc>
                <a:spcPct val="90000"/>
              </a:lnSpc>
              <a:spcBef>
                <a:spcPts val="50"/>
              </a:spcBef>
              <a:spcAft>
                <a:spcPts val="0"/>
              </a:spcAft>
              <a:buClrTx/>
              <a:buSzTx/>
              <a:buFontTx/>
              <a:buNone/>
              <a:tabLst/>
              <a:defRPr/>
            </a:pPr>
            <a:endParaRPr kumimoji="0" lang="fr-FR" sz="10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Ajout d’un élément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BasePlancher</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obligatoirement suivi :</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d’un élément </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MontantPlancher</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correspondant au plancher de la BMS en €</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de trois éléments </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TauxPlancher</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CoefPlancher</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et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AssiettePlancher</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dont la multiplication permet de déterminer le plancher de la BMS. </a:t>
            </a:r>
          </a:p>
          <a:p>
            <a:pPr marL="0" marR="0" lvl="0" indent="0" algn="l" defTabSz="685800" rtl="0" eaLnBrk="1" fontAlgn="auto" latinLnBrk="0" hangingPunct="1">
              <a:lnSpc>
                <a:spcPct val="90000"/>
              </a:lnSpc>
              <a:spcBef>
                <a:spcPts val="50"/>
              </a:spcBef>
              <a:spcAft>
                <a:spcPts val="0"/>
              </a:spcAft>
              <a:buClrTx/>
              <a:buSzTx/>
              <a:buFontTx/>
              <a:buNone/>
              <a:tabLst/>
              <a:defRPr/>
            </a:pPr>
            <a:endParaRPr kumimoji="0" lang="fr-FR" sz="10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Ajout d’un élément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BasePlafond</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obligatoirement suivi :</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d’un élément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MontantPlafond</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correspondant au plafond de la BMS en €</a:t>
            </a:r>
          </a:p>
          <a:p>
            <a:pPr marL="351450" marR="0" lvl="1" indent="-171450" algn="l" defTabSz="685800" rtl="0" eaLnBrk="1" fontAlgn="auto" latinLnBrk="0" hangingPunct="1">
              <a:lnSpc>
                <a:spcPct val="90000"/>
              </a:lnSpc>
              <a:spcBef>
                <a:spcPts val="0"/>
              </a:spcBef>
              <a:spcAft>
                <a:spcPts val="0"/>
              </a:spcAft>
              <a:buClr>
                <a:srgbClr val="00A3B6"/>
              </a:buClr>
              <a:buSzTx/>
              <a:buFont typeface="Arial" panose="020B0604020202020204" pitchFamily="34" charset="0"/>
              <a:buChar char="•"/>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Soit de trois éléments «</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TauxPlafond</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CoefPlafond</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et « </a:t>
            </a: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AssiettePlafond</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dont la multiplication permet de déterminer le </a:t>
            </a:r>
            <a:r>
              <a:rPr kumimoji="0" lang="fr-FR" sz="1600" b="0"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planfond</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de la BMS. </a:t>
            </a:r>
          </a:p>
          <a:p>
            <a:pPr marL="351450" marR="0" lvl="1" indent="-171450" algn="l" defTabSz="685800" rtl="0" eaLnBrk="1" fontAlgn="auto" latinLnBrk="0" hangingPunct="1">
              <a:lnSpc>
                <a:spcPct val="90000"/>
              </a:lnSpc>
              <a:spcBef>
                <a:spcPts val="350"/>
              </a:spcBef>
              <a:spcAft>
                <a:spcPts val="0"/>
              </a:spcAft>
              <a:buClr>
                <a:srgbClr val="00A3B6"/>
              </a:buClr>
              <a:buSzTx/>
              <a:buFont typeface="Arial" panose="020B0604020202020204" pitchFamily="34" charset="0"/>
              <a:buChar char="•"/>
              <a:tabLst/>
              <a:defRPr/>
            </a:pPr>
            <a:endParaRPr kumimoji="0" lang="fr-FR" sz="1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pitchFamily="34" charset="0"/>
                <a:ea typeface="+mn-ea"/>
                <a:cs typeface="+mn-cs"/>
              </a:rPr>
              <a:t>Le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Coef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pitchFamily="34" charset="0"/>
                <a:ea typeface="+mn-ea"/>
                <a:cs typeface="+mn-cs"/>
              </a:rPr>
              <a:t> est un coefficient multiplicateur de l’Assiette. </a:t>
            </a: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pitchFamily="34" charset="0"/>
                <a:ea typeface="+mn-ea"/>
                <a:cs typeface="+mn-cs"/>
              </a:rPr>
              <a:t>L’</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Assiette»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pitchFamily="34" charset="0"/>
                <a:ea typeface="+mn-ea"/>
                <a:cs typeface="+mn-cs"/>
              </a:rPr>
              <a:t>correspond à une assiette prédéfinie qui peut prendre les valeurs « PMSS » ou « SALREF » (salaire de référence).</a:t>
            </a:r>
            <a:endPar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600"/>
              </a:spcBef>
              <a:spcAft>
                <a:spcPts val="0"/>
              </a:spcAft>
              <a:buClrTx/>
              <a:buSzTx/>
              <a:buFontTx/>
              <a:buNone/>
              <a:tabLst/>
              <a:defRPr/>
            </a:pPr>
            <a:endParaRPr kumimoji="0" lang="fr-FR" sz="10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endParaRPr>
          </a:p>
          <a:p>
            <a:pPr marL="0" marR="0" lvl="0" indent="0" algn="l" defTabSz="685800" rtl="0" eaLnBrk="1" fontAlgn="auto" latinLnBrk="0" hangingPunct="1">
              <a:lnSpc>
                <a:spcPct val="9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Ajout de contraintes d’unicité </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dans le schéma pour que les éléments « </a:t>
            </a:r>
            <a:r>
              <a:rPr kumimoji="0" lang="fr-FR" sz="1600" b="0"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BasePlancher</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(ou « </a:t>
            </a:r>
            <a:r>
              <a:rPr kumimoji="0" lang="fr-FR" sz="1600" b="0"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rPr>
              <a:t>BasePlafond</a:t>
            </a:r>
            <a:r>
              <a:rPr kumimoji="0" lang="fr-FR" sz="1600" b="0"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rPr>
              <a:t> ») ne puissent pas contenir plusieurs éléments de type Montant ou plusieurs ensembles d’éléments de type Taux, Coef et Assiette.</a:t>
            </a:r>
          </a:p>
        </p:txBody>
      </p:sp>
    </p:spTree>
    <p:extLst>
      <p:ext uri="{BB962C8B-B14F-4D97-AF65-F5344CB8AC3E}">
        <p14:creationId xmlns:p14="http://schemas.microsoft.com/office/powerpoint/2010/main" val="3834332558"/>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975B9A7-ACF8-818E-2BD3-9B86C39E009E}"/>
              </a:ext>
            </a:extLst>
          </p:cNvPr>
          <p:cNvSpPr>
            <a:spLocks noGrp="1"/>
          </p:cNvSpPr>
          <p:nvPr>
            <p:ph type="sldNum" sz="quarter" idx="12"/>
          </p:nvPr>
        </p:nvSpPr>
        <p:spPr/>
        <p:txBody>
          <a:bodyPr/>
          <a:lstStyle/>
          <a:p>
            <a:fld id="{6C53AC0A-47EB-D843-AAE8-9061F973F010}" type="slidenum">
              <a:rPr lang="fr-FR" smtClean="0"/>
              <a:t>22</a:t>
            </a:fld>
            <a:endParaRPr lang="fr-FR"/>
          </a:p>
        </p:txBody>
      </p:sp>
      <p:sp>
        <p:nvSpPr>
          <p:cNvPr id="5" name="Espace réservé du pied de page 4">
            <a:extLst>
              <a:ext uri="{FF2B5EF4-FFF2-40B4-BE49-F238E27FC236}">
                <a16:creationId xmlns:a16="http://schemas.microsoft.com/office/drawing/2014/main" id="{64A946E3-366C-C2D4-3989-566FFA6023B3}"/>
              </a:ext>
            </a:extLst>
          </p:cNvPr>
          <p:cNvSpPr>
            <a:spLocks noGrp="1"/>
          </p:cNvSpPr>
          <p:nvPr>
            <p:ph type="ftr" sz="quarter" idx="4294967295"/>
          </p:nvPr>
        </p:nvSpPr>
        <p:spPr>
          <a:xfrm>
            <a:off x="5004048" y="6419533"/>
            <a:ext cx="3517100" cy="403781"/>
          </a:xfrm>
        </p:spPr>
        <p:txBody>
          <a:bodyPr/>
          <a:lstStyle/>
          <a:p>
            <a:r>
              <a:rPr lang="fr-FR"/>
              <a:t>GT-IP PASRAU</a:t>
            </a:r>
            <a:endParaRPr lang="fr-FR" dirty="0"/>
          </a:p>
        </p:txBody>
      </p:sp>
      <p:pic>
        <p:nvPicPr>
          <p:cNvPr id="8" name="Image 7">
            <a:extLst>
              <a:ext uri="{FF2B5EF4-FFF2-40B4-BE49-F238E27FC236}">
                <a16:creationId xmlns:a16="http://schemas.microsoft.com/office/drawing/2014/main" id="{BCA7C122-19E1-1DEE-7534-A88FC584917A}"/>
              </a:ext>
            </a:extLst>
          </p:cNvPr>
          <p:cNvPicPr>
            <a:picLocks noChangeAspect="1"/>
          </p:cNvPicPr>
          <p:nvPr/>
        </p:nvPicPr>
        <p:blipFill>
          <a:blip r:embed="rId2"/>
          <a:srcRect l="1769" t="404" r="-593" b="32186"/>
          <a:stretch/>
        </p:blipFill>
        <p:spPr>
          <a:xfrm>
            <a:off x="539552" y="931005"/>
            <a:ext cx="6532571" cy="2786027"/>
          </a:xfrm>
          <a:prstGeom prst="rect">
            <a:avLst/>
          </a:prstGeom>
        </p:spPr>
      </p:pic>
      <p:sp>
        <p:nvSpPr>
          <p:cNvPr id="9" name="ZoneTexte 8">
            <a:extLst>
              <a:ext uri="{FF2B5EF4-FFF2-40B4-BE49-F238E27FC236}">
                <a16:creationId xmlns:a16="http://schemas.microsoft.com/office/drawing/2014/main" id="{5E3E3E38-457F-0A01-C96B-3FA18344191E}"/>
              </a:ext>
            </a:extLst>
          </p:cNvPr>
          <p:cNvSpPr txBox="1"/>
          <p:nvPr/>
        </p:nvSpPr>
        <p:spPr>
          <a:xfrm>
            <a:off x="2164621" y="1019796"/>
            <a:ext cx="941806" cy="1569660"/>
          </a:xfrm>
          <a:prstGeom prst="rect">
            <a:avLst/>
          </a:prstGeom>
          <a:noFill/>
        </p:spPr>
        <p:txBody>
          <a:bodyPr wrap="square" rtlCol="0">
            <a:spAutoFit/>
          </a:bodyPr>
          <a:lstStyle/>
          <a:p>
            <a:r>
              <a:rPr lang="fr-FR" sz="1200" b="1" dirty="0"/>
              <a:t>10= Brut, </a:t>
            </a:r>
          </a:p>
          <a:p>
            <a:r>
              <a:rPr lang="fr-FR" sz="1200" b="1" dirty="0"/>
              <a:t>11= TA , </a:t>
            </a:r>
          </a:p>
          <a:p>
            <a:r>
              <a:rPr lang="fr-FR" sz="1200" b="1" dirty="0"/>
              <a:t>12= T2, </a:t>
            </a:r>
          </a:p>
          <a:p>
            <a:r>
              <a:rPr lang="fr-FR" sz="1200" b="1" dirty="0"/>
              <a:t>13= TB, </a:t>
            </a:r>
          </a:p>
          <a:p>
            <a:r>
              <a:rPr lang="fr-FR" sz="1200" b="1" dirty="0"/>
              <a:t>14= TC, </a:t>
            </a:r>
          </a:p>
          <a:p>
            <a:r>
              <a:rPr lang="fr-FR" sz="1200" b="1" dirty="0"/>
              <a:t>15= TD, </a:t>
            </a:r>
          </a:p>
          <a:p>
            <a:r>
              <a:rPr lang="fr-FR" sz="1200" b="1" dirty="0"/>
              <a:t>16= TD1, </a:t>
            </a:r>
          </a:p>
          <a:p>
            <a:r>
              <a:rPr lang="fr-FR" sz="1200" b="1" dirty="0"/>
              <a:t>24= T2U</a:t>
            </a:r>
          </a:p>
        </p:txBody>
      </p:sp>
      <p:sp>
        <p:nvSpPr>
          <p:cNvPr id="10" name="Accolade ouvrante 9">
            <a:extLst>
              <a:ext uri="{FF2B5EF4-FFF2-40B4-BE49-F238E27FC236}">
                <a16:creationId xmlns:a16="http://schemas.microsoft.com/office/drawing/2014/main" id="{139E20F9-E691-320D-0116-A8C240C92E25}"/>
              </a:ext>
            </a:extLst>
          </p:cNvPr>
          <p:cNvSpPr/>
          <p:nvPr/>
        </p:nvSpPr>
        <p:spPr>
          <a:xfrm>
            <a:off x="1908564" y="1019796"/>
            <a:ext cx="431188" cy="1626710"/>
          </a:xfrm>
          <a:prstGeom prst="leftBrace">
            <a:avLst>
              <a:gd name="adj1" fmla="val 8333"/>
              <a:gd name="adj2" fmla="val 4456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ZoneTexte 10">
            <a:extLst>
              <a:ext uri="{FF2B5EF4-FFF2-40B4-BE49-F238E27FC236}">
                <a16:creationId xmlns:a16="http://schemas.microsoft.com/office/drawing/2014/main" id="{C4F0AB1C-E36D-DF10-F1D3-A4013F440DFF}"/>
              </a:ext>
            </a:extLst>
          </p:cNvPr>
          <p:cNvSpPr txBox="1"/>
          <p:nvPr/>
        </p:nvSpPr>
        <p:spPr>
          <a:xfrm>
            <a:off x="816756" y="1499530"/>
            <a:ext cx="1043360" cy="52322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00" b="1" dirty="0">
                <a:solidFill>
                  <a:schemeClr val="tx1"/>
                </a:solidFill>
              </a:rPr>
              <a:t>Brut et tranches</a:t>
            </a:r>
          </a:p>
        </p:txBody>
      </p:sp>
      <p:sp>
        <p:nvSpPr>
          <p:cNvPr id="12" name="ZoneTexte 11">
            <a:extLst>
              <a:ext uri="{FF2B5EF4-FFF2-40B4-BE49-F238E27FC236}">
                <a16:creationId xmlns:a16="http://schemas.microsoft.com/office/drawing/2014/main" id="{E50220CF-0351-46CB-0F3A-D442697F695D}"/>
              </a:ext>
            </a:extLst>
          </p:cNvPr>
          <p:cNvSpPr txBox="1"/>
          <p:nvPr/>
        </p:nvSpPr>
        <p:spPr>
          <a:xfrm>
            <a:off x="4947468" y="1222531"/>
            <a:ext cx="704651" cy="307777"/>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00" b="1" dirty="0">
                <a:solidFill>
                  <a:schemeClr val="tx1"/>
                </a:solidFill>
              </a:rPr>
              <a:t>BMS</a:t>
            </a:r>
          </a:p>
        </p:txBody>
      </p:sp>
      <p:cxnSp>
        <p:nvCxnSpPr>
          <p:cNvPr id="13" name="Connecteur droit avec flèche 12">
            <a:extLst>
              <a:ext uri="{FF2B5EF4-FFF2-40B4-BE49-F238E27FC236}">
                <a16:creationId xmlns:a16="http://schemas.microsoft.com/office/drawing/2014/main" id="{FB2B7E12-3B7B-0573-471A-D32AAC6F7C04}"/>
              </a:ext>
            </a:extLst>
          </p:cNvPr>
          <p:cNvCxnSpPr>
            <a:cxnSpLocks/>
            <a:stCxn id="23" idx="1"/>
            <a:endCxn id="12" idx="2"/>
          </p:cNvCxnSpPr>
          <p:nvPr/>
        </p:nvCxnSpPr>
        <p:spPr>
          <a:xfrm flipV="1">
            <a:off x="4471507" y="1530308"/>
            <a:ext cx="828287" cy="11170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ZoneTexte 13">
            <a:extLst>
              <a:ext uri="{FF2B5EF4-FFF2-40B4-BE49-F238E27FC236}">
                <a16:creationId xmlns:a16="http://schemas.microsoft.com/office/drawing/2014/main" id="{4B95D0A4-AA27-9663-3E82-3BEC7FBE96F9}"/>
              </a:ext>
            </a:extLst>
          </p:cNvPr>
          <p:cNvSpPr txBox="1"/>
          <p:nvPr/>
        </p:nvSpPr>
        <p:spPr>
          <a:xfrm>
            <a:off x="5973095" y="836712"/>
            <a:ext cx="2034350" cy="1754326"/>
          </a:xfrm>
          <a:prstGeom prst="rect">
            <a:avLst/>
          </a:prstGeom>
          <a:noFill/>
        </p:spPr>
        <p:txBody>
          <a:bodyPr wrap="square" rtlCol="0">
            <a:spAutoFit/>
          </a:bodyPr>
          <a:lstStyle/>
          <a:p>
            <a:r>
              <a:rPr lang="fr-FR" sz="1200" b="1" dirty="0"/>
              <a:t>17= Base spécifique, </a:t>
            </a:r>
          </a:p>
          <a:p>
            <a:r>
              <a:rPr lang="fr-FR" sz="1200" b="1" dirty="0"/>
              <a:t>18= Base forfaitaire, </a:t>
            </a:r>
          </a:p>
          <a:p>
            <a:r>
              <a:rPr lang="fr-FR" sz="1200" b="1" dirty="0"/>
              <a:t>19= Base fictive, </a:t>
            </a:r>
          </a:p>
          <a:p>
            <a:r>
              <a:rPr lang="fr-FR" sz="1200" b="1" dirty="0"/>
              <a:t>20= Montant forfaitaire, </a:t>
            </a:r>
          </a:p>
          <a:p>
            <a:r>
              <a:rPr lang="fr-FR" sz="1200" b="1" dirty="0"/>
              <a:t>21 = Montant Libre </a:t>
            </a:r>
          </a:p>
          <a:p>
            <a:r>
              <a:rPr lang="fr-FR" sz="1200" b="1" dirty="0"/>
              <a:t>+ </a:t>
            </a:r>
          </a:p>
          <a:p>
            <a:r>
              <a:rPr lang="fr-FR" sz="1200" b="1" dirty="0"/>
              <a:t>10= Brut, 11= TA , 12= T2, </a:t>
            </a:r>
          </a:p>
          <a:p>
            <a:r>
              <a:rPr lang="fr-FR" sz="1200" b="1" dirty="0"/>
              <a:t>13= TB, 14= TC, 15= TD, </a:t>
            </a:r>
          </a:p>
          <a:p>
            <a:r>
              <a:rPr lang="fr-FR" sz="1200" b="1" dirty="0"/>
              <a:t>16= TD1, 24= T2U</a:t>
            </a:r>
          </a:p>
        </p:txBody>
      </p:sp>
      <p:sp>
        <p:nvSpPr>
          <p:cNvPr id="15" name="Accolade ouvrante 14">
            <a:extLst>
              <a:ext uri="{FF2B5EF4-FFF2-40B4-BE49-F238E27FC236}">
                <a16:creationId xmlns:a16="http://schemas.microsoft.com/office/drawing/2014/main" id="{E9FA55D5-A079-A14B-AC6A-A628A6CB2671}"/>
              </a:ext>
            </a:extLst>
          </p:cNvPr>
          <p:cNvSpPr/>
          <p:nvPr/>
        </p:nvSpPr>
        <p:spPr>
          <a:xfrm>
            <a:off x="5736747" y="838296"/>
            <a:ext cx="438798" cy="1808210"/>
          </a:xfrm>
          <a:prstGeom prst="leftBrace">
            <a:avLst>
              <a:gd name="adj1" fmla="val 8333"/>
              <a:gd name="adj2" fmla="val 33304"/>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6" name="ZoneTexte 15">
            <a:extLst>
              <a:ext uri="{FF2B5EF4-FFF2-40B4-BE49-F238E27FC236}">
                <a16:creationId xmlns:a16="http://schemas.microsoft.com/office/drawing/2014/main" id="{85B5C6B5-7392-E422-46B5-C957586B217D}"/>
              </a:ext>
            </a:extLst>
          </p:cNvPr>
          <p:cNvSpPr txBox="1"/>
          <p:nvPr/>
        </p:nvSpPr>
        <p:spPr>
          <a:xfrm>
            <a:off x="633365" y="5400491"/>
            <a:ext cx="1710673" cy="954107"/>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1400" b="1" dirty="0">
                <a:solidFill>
                  <a:schemeClr val="tx1"/>
                </a:solidFill>
              </a:rPr>
              <a:t>Plafond / Plancher </a:t>
            </a:r>
          </a:p>
          <a:p>
            <a:pPr algn="ctr"/>
            <a:r>
              <a:rPr lang="fr-FR" sz="1400" b="1" dirty="0">
                <a:solidFill>
                  <a:schemeClr val="tx1"/>
                </a:solidFill>
              </a:rPr>
              <a:t>de la cotisation individuelle</a:t>
            </a:r>
          </a:p>
        </p:txBody>
      </p:sp>
      <p:sp>
        <p:nvSpPr>
          <p:cNvPr id="17" name="Accolade ouvrante 16">
            <a:extLst>
              <a:ext uri="{FF2B5EF4-FFF2-40B4-BE49-F238E27FC236}">
                <a16:creationId xmlns:a16="http://schemas.microsoft.com/office/drawing/2014/main" id="{36B8F5E4-2A4E-E1EC-D916-9629F9E135D6}"/>
              </a:ext>
            </a:extLst>
          </p:cNvPr>
          <p:cNvSpPr/>
          <p:nvPr/>
        </p:nvSpPr>
        <p:spPr>
          <a:xfrm>
            <a:off x="2404413" y="5659300"/>
            <a:ext cx="439393" cy="602633"/>
          </a:xfrm>
          <a:prstGeom prst="leftBrace">
            <a:avLst>
              <a:gd name="adj1" fmla="val 8333"/>
              <a:gd name="adj2" fmla="val 4456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8" name="ZoneTexte 17">
            <a:extLst>
              <a:ext uri="{FF2B5EF4-FFF2-40B4-BE49-F238E27FC236}">
                <a16:creationId xmlns:a16="http://schemas.microsoft.com/office/drawing/2014/main" id="{48C435E3-D256-5F3F-61C3-2E6ECA9C1295}"/>
              </a:ext>
            </a:extLst>
          </p:cNvPr>
          <p:cNvSpPr txBox="1"/>
          <p:nvPr/>
        </p:nvSpPr>
        <p:spPr>
          <a:xfrm>
            <a:off x="643916" y="438528"/>
            <a:ext cx="6438258" cy="369332"/>
          </a:xfrm>
          <a:prstGeom prst="rect">
            <a:avLst/>
          </a:prstGeom>
          <a:noFill/>
        </p:spPr>
        <p:txBody>
          <a:bodyPr wrap="square">
            <a:spAutoFit/>
          </a:bodyPr>
          <a:lstStyle/>
          <a:p>
            <a:r>
              <a:rPr lang="fr-FR" b="1" dirty="0">
                <a:solidFill>
                  <a:schemeClr val="accent5">
                    <a:lumMod val="75000"/>
                  </a:schemeClr>
                </a:solidFill>
              </a:rPr>
              <a:t>Schéma des éléments de calcul en version 140 </a:t>
            </a:r>
          </a:p>
        </p:txBody>
      </p:sp>
      <p:sp>
        <p:nvSpPr>
          <p:cNvPr id="19" name="Rectangle 18">
            <a:extLst>
              <a:ext uri="{FF2B5EF4-FFF2-40B4-BE49-F238E27FC236}">
                <a16:creationId xmlns:a16="http://schemas.microsoft.com/office/drawing/2014/main" id="{541E05A8-01EC-EB1F-0F73-FDBC10C6D5B0}"/>
              </a:ext>
            </a:extLst>
          </p:cNvPr>
          <p:cNvSpPr/>
          <p:nvPr/>
        </p:nvSpPr>
        <p:spPr>
          <a:xfrm>
            <a:off x="471719" y="797860"/>
            <a:ext cx="8276745" cy="56316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a:extLst>
              <a:ext uri="{FF2B5EF4-FFF2-40B4-BE49-F238E27FC236}">
                <a16:creationId xmlns:a16="http://schemas.microsoft.com/office/drawing/2014/main" id="{48209033-21EF-BE75-205D-F498BBE82890}"/>
              </a:ext>
            </a:extLst>
          </p:cNvPr>
          <p:cNvPicPr>
            <a:picLocks noChangeAspect="1"/>
          </p:cNvPicPr>
          <p:nvPr/>
        </p:nvPicPr>
        <p:blipFill>
          <a:blip r:embed="rId2"/>
          <a:srcRect l="36153" t="85823" r="37003" b="-357"/>
          <a:stretch/>
        </p:blipFill>
        <p:spPr>
          <a:xfrm>
            <a:off x="2812985" y="5670008"/>
            <a:ext cx="1774462" cy="600685"/>
          </a:xfrm>
          <a:prstGeom prst="rect">
            <a:avLst/>
          </a:prstGeom>
        </p:spPr>
      </p:pic>
      <p:cxnSp>
        <p:nvCxnSpPr>
          <p:cNvPr id="21" name="Connecteur droit 20">
            <a:extLst>
              <a:ext uri="{FF2B5EF4-FFF2-40B4-BE49-F238E27FC236}">
                <a16:creationId xmlns:a16="http://schemas.microsoft.com/office/drawing/2014/main" id="{B2210AC5-24DD-ECD1-A321-5CA992079F1A}"/>
              </a:ext>
            </a:extLst>
          </p:cNvPr>
          <p:cNvCxnSpPr/>
          <p:nvPr/>
        </p:nvCxnSpPr>
        <p:spPr>
          <a:xfrm>
            <a:off x="2964555" y="3645024"/>
            <a:ext cx="0" cy="2052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Image 21">
            <a:extLst>
              <a:ext uri="{FF2B5EF4-FFF2-40B4-BE49-F238E27FC236}">
                <a16:creationId xmlns:a16="http://schemas.microsoft.com/office/drawing/2014/main" id="{ED822865-E2B0-66ED-987D-25E652D4C82A}"/>
              </a:ext>
            </a:extLst>
          </p:cNvPr>
          <p:cNvPicPr>
            <a:picLocks noChangeAspect="1"/>
          </p:cNvPicPr>
          <p:nvPr/>
        </p:nvPicPr>
        <p:blipFill>
          <a:blip r:embed="rId3"/>
          <a:srcRect l="27878" t="24960" r="1605" b="13135"/>
          <a:stretch/>
        </p:blipFill>
        <p:spPr>
          <a:xfrm>
            <a:off x="4547113" y="3645024"/>
            <a:ext cx="4201351" cy="2374680"/>
          </a:xfrm>
          <a:prstGeom prst="rect">
            <a:avLst/>
          </a:prstGeom>
        </p:spPr>
      </p:pic>
      <p:sp>
        <p:nvSpPr>
          <p:cNvPr id="23" name="Ellipse 22">
            <a:extLst>
              <a:ext uri="{FF2B5EF4-FFF2-40B4-BE49-F238E27FC236}">
                <a16:creationId xmlns:a16="http://schemas.microsoft.com/office/drawing/2014/main" id="{73CC4031-985C-653F-A303-6EA5D85CFD72}"/>
              </a:ext>
            </a:extLst>
          </p:cNvPr>
          <p:cNvSpPr/>
          <p:nvPr/>
        </p:nvSpPr>
        <p:spPr>
          <a:xfrm rot="890613">
            <a:off x="3711224" y="2660482"/>
            <a:ext cx="3654642" cy="2008912"/>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537616E7-611E-C302-B979-D3779D37F9F8}"/>
              </a:ext>
            </a:extLst>
          </p:cNvPr>
          <p:cNvSpPr/>
          <p:nvPr/>
        </p:nvSpPr>
        <p:spPr>
          <a:xfrm>
            <a:off x="4533723" y="4644550"/>
            <a:ext cx="4201350" cy="1457105"/>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BBB46E37-6882-E6B4-E875-D6760E252591}"/>
              </a:ext>
            </a:extLst>
          </p:cNvPr>
          <p:cNvSpPr txBox="1"/>
          <p:nvPr/>
        </p:nvSpPr>
        <p:spPr>
          <a:xfrm>
            <a:off x="1552674" y="4111720"/>
            <a:ext cx="2368291" cy="954107"/>
          </a:xfrm>
          <a:prstGeom prst="rect">
            <a:avLst/>
          </a:prstGeom>
          <a:solidFill>
            <a:schemeClr val="accent5">
              <a:lumMod val="20000"/>
              <a:lumOff val="80000"/>
            </a:scheme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fr-FR"/>
            </a:defPPr>
            <a:lvl1pPr algn="ctr">
              <a:defRPr sz="1200" b="1">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chemeClr val="accent5">
                    <a:lumMod val="75000"/>
                  </a:schemeClr>
                </a:solidFill>
                <a:cs typeface="Times New Roman" panose="02020603050405020304" pitchFamily="18" charset="0"/>
              </a:rPr>
              <a:t>Possibilité de choisir ou pas un unique plafond et/ou un unique plancher pour le BMS</a:t>
            </a:r>
          </a:p>
        </p:txBody>
      </p:sp>
      <p:cxnSp>
        <p:nvCxnSpPr>
          <p:cNvPr id="26" name="Connecteur droit avec flèche 25">
            <a:extLst>
              <a:ext uri="{FF2B5EF4-FFF2-40B4-BE49-F238E27FC236}">
                <a16:creationId xmlns:a16="http://schemas.microsoft.com/office/drawing/2014/main" id="{9FE95003-58F3-FA46-FFE1-13EC9B43AD7B}"/>
              </a:ext>
            </a:extLst>
          </p:cNvPr>
          <p:cNvCxnSpPr>
            <a:cxnSpLocks/>
          </p:cNvCxnSpPr>
          <p:nvPr/>
        </p:nvCxnSpPr>
        <p:spPr>
          <a:xfrm>
            <a:off x="3931281" y="4714688"/>
            <a:ext cx="1016187" cy="59453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7" name="Connecteur droit avec flèche 26">
            <a:extLst>
              <a:ext uri="{FF2B5EF4-FFF2-40B4-BE49-F238E27FC236}">
                <a16:creationId xmlns:a16="http://schemas.microsoft.com/office/drawing/2014/main" id="{D11CCDFB-EF8E-003E-4716-1AA56643D12E}"/>
              </a:ext>
            </a:extLst>
          </p:cNvPr>
          <p:cNvCxnSpPr>
            <a:cxnSpLocks/>
          </p:cNvCxnSpPr>
          <p:nvPr/>
        </p:nvCxnSpPr>
        <p:spPr>
          <a:xfrm flipH="1">
            <a:off x="6825936" y="4260646"/>
            <a:ext cx="697266" cy="75125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8" name="ZoneTexte 27">
            <a:extLst>
              <a:ext uri="{FF2B5EF4-FFF2-40B4-BE49-F238E27FC236}">
                <a16:creationId xmlns:a16="http://schemas.microsoft.com/office/drawing/2014/main" id="{BBB685F4-8A29-7435-BF7A-C52FB51F1472}"/>
              </a:ext>
            </a:extLst>
          </p:cNvPr>
          <p:cNvSpPr txBox="1"/>
          <p:nvPr/>
        </p:nvSpPr>
        <p:spPr>
          <a:xfrm>
            <a:off x="7448046" y="2765845"/>
            <a:ext cx="1205972" cy="1600438"/>
          </a:xfrm>
          <a:prstGeom prst="rect">
            <a:avLst/>
          </a:prstGeom>
          <a:solidFill>
            <a:schemeClr val="accent5">
              <a:lumMod val="20000"/>
              <a:lumOff val="80000"/>
            </a:scheme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fr-FR"/>
            </a:defPPr>
            <a:lvl1pPr algn="ctr">
              <a:defRPr sz="1200" b="1">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fr-FR" sz="1400" dirty="0">
                <a:solidFill>
                  <a:schemeClr val="accent5">
                    <a:lumMod val="75000"/>
                  </a:schemeClr>
                </a:solidFill>
              </a:rPr>
              <a:t>Expression sous la forme d’un montant ou d’un taux + coefficient + assiette</a:t>
            </a:r>
          </a:p>
        </p:txBody>
      </p:sp>
      <p:pic>
        <p:nvPicPr>
          <p:cNvPr id="29" name="Image 28">
            <a:extLst>
              <a:ext uri="{FF2B5EF4-FFF2-40B4-BE49-F238E27FC236}">
                <a16:creationId xmlns:a16="http://schemas.microsoft.com/office/drawing/2014/main" id="{35268BB6-E580-ABC6-7E60-B321031DBF9D}"/>
              </a:ext>
            </a:extLst>
          </p:cNvPr>
          <p:cNvPicPr>
            <a:picLocks noChangeAspect="1"/>
          </p:cNvPicPr>
          <p:nvPr/>
        </p:nvPicPr>
        <p:blipFill>
          <a:blip r:embed="rId4"/>
          <a:srcRect l="86131" t="32550" r="2204" b="11262"/>
          <a:stretch/>
        </p:blipFill>
        <p:spPr>
          <a:xfrm>
            <a:off x="4368546" y="3541666"/>
            <a:ext cx="178567" cy="144000"/>
          </a:xfrm>
          <a:prstGeom prst="rect">
            <a:avLst/>
          </a:prstGeom>
        </p:spPr>
      </p:pic>
      <p:sp>
        <p:nvSpPr>
          <p:cNvPr id="30" name="Titre 1">
            <a:extLst>
              <a:ext uri="{FF2B5EF4-FFF2-40B4-BE49-F238E27FC236}">
                <a16:creationId xmlns:a16="http://schemas.microsoft.com/office/drawing/2014/main" id="{2A58C179-998F-5509-A629-9B6D60950321}"/>
              </a:ext>
            </a:extLst>
          </p:cNvPr>
          <p:cNvSpPr>
            <a:spLocks noGrp="1"/>
          </p:cNvSpPr>
          <p:nvPr>
            <p:ph type="title"/>
          </p:nvPr>
        </p:nvSpPr>
        <p:spPr>
          <a:xfrm>
            <a:off x="932059" y="1"/>
            <a:ext cx="7986805" cy="836712"/>
          </a:xfrm>
        </p:spPr>
        <p:txBody>
          <a:bodyPr vert="horz" lIns="180000" tIns="180000" rIns="0" bIns="0" rtlCol="0" anchor="t" anchorCtr="0">
            <a:noAutofit/>
          </a:bodyPr>
          <a:lstStyle/>
          <a:p>
            <a:r>
              <a:rPr lang="fr-FR" sz="1800" dirty="0"/>
              <a:t> 1. Ajout d'un plafond et plancher sur les bases et montants forfaitaires</a:t>
            </a:r>
          </a:p>
        </p:txBody>
      </p:sp>
    </p:spTree>
    <p:extLst>
      <p:ext uri="{BB962C8B-B14F-4D97-AF65-F5344CB8AC3E}">
        <p14:creationId xmlns:p14="http://schemas.microsoft.com/office/powerpoint/2010/main" val="393756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4FC6-8A5D-26DD-9855-DF6C57F507D5}"/>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AECAE065-6123-B060-9D52-A5A0B751A365}"/>
              </a:ext>
            </a:extLst>
          </p:cNvPr>
          <p:cNvSpPr>
            <a:spLocks noGrp="1"/>
          </p:cNvSpPr>
          <p:nvPr>
            <p:ph type="sldNum" sz="quarter" idx="12"/>
          </p:nvPr>
        </p:nvSpPr>
        <p:spPr/>
        <p:txBody>
          <a:bodyPr/>
          <a:lstStyle/>
          <a:p>
            <a:fld id="{6C53AC0A-47EB-D843-AAE8-9061F973F010}" type="slidenum">
              <a:rPr lang="fr-FR" smtClean="0"/>
              <a:t>23</a:t>
            </a:fld>
            <a:endParaRPr lang="fr-FR"/>
          </a:p>
        </p:txBody>
      </p:sp>
      <p:sp>
        <p:nvSpPr>
          <p:cNvPr id="5" name="Titre 1">
            <a:extLst>
              <a:ext uri="{FF2B5EF4-FFF2-40B4-BE49-F238E27FC236}">
                <a16:creationId xmlns:a16="http://schemas.microsoft.com/office/drawing/2014/main" id="{333E0AF1-53F0-3597-1388-096C243104D3}"/>
              </a:ext>
            </a:extLst>
          </p:cNvPr>
          <p:cNvSpPr>
            <a:spLocks noGrp="1"/>
          </p:cNvSpPr>
          <p:nvPr>
            <p:ph type="title"/>
          </p:nvPr>
        </p:nvSpPr>
        <p:spPr>
          <a:xfrm>
            <a:off x="932059" y="1"/>
            <a:ext cx="7986805" cy="836712"/>
          </a:xfrm>
        </p:spPr>
        <p:txBody>
          <a:bodyPr vert="horz" lIns="180000" tIns="180000" rIns="0" bIns="0" rtlCol="0" anchor="t" anchorCtr="0">
            <a:noAutofit/>
          </a:bodyPr>
          <a:lstStyle/>
          <a:p>
            <a:r>
              <a:rPr lang="fr-FR" sz="1800" dirty="0"/>
              <a:t> 1. Ajout d'un plafond et plancher sur les bases et montants forfaitaires</a:t>
            </a:r>
          </a:p>
        </p:txBody>
      </p:sp>
      <p:sp>
        <p:nvSpPr>
          <p:cNvPr id="3" name="ZoneTexte 2">
            <a:extLst>
              <a:ext uri="{FF2B5EF4-FFF2-40B4-BE49-F238E27FC236}">
                <a16:creationId xmlns:a16="http://schemas.microsoft.com/office/drawing/2014/main" id="{3EED846F-0DA9-8198-49BF-D777C53F0DD8}"/>
              </a:ext>
            </a:extLst>
          </p:cNvPr>
          <p:cNvSpPr txBox="1"/>
          <p:nvPr/>
        </p:nvSpPr>
        <p:spPr>
          <a:xfrm>
            <a:off x="546355" y="836713"/>
            <a:ext cx="8372510" cy="661720"/>
          </a:xfrm>
          <a:prstGeom prst="rect">
            <a:avLst/>
          </a:prstGeom>
          <a:noFill/>
          <a:ln w="38100">
            <a:solidFill>
              <a:schemeClr val="tx1"/>
            </a:solidFill>
          </a:ln>
        </p:spPr>
        <p:txBody>
          <a:bodyPr wrap="square" rtlCol="0">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mn-cs"/>
              </a:rPr>
              <a:t>En Orange : les modifications intervenant dans le schéma de la fiche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mn-cs"/>
              </a:rPr>
              <a:t>En Bleu : les modifications des contrôles des concentrateurs à réception des fiches</a:t>
            </a:r>
          </a:p>
        </p:txBody>
      </p:sp>
      <p:sp>
        <p:nvSpPr>
          <p:cNvPr id="7" name="ZoneTexte 6">
            <a:extLst>
              <a:ext uri="{FF2B5EF4-FFF2-40B4-BE49-F238E27FC236}">
                <a16:creationId xmlns:a16="http://schemas.microsoft.com/office/drawing/2014/main" id="{BB6CDE49-4E00-7CB9-305E-670AB7735762}"/>
              </a:ext>
            </a:extLst>
          </p:cNvPr>
          <p:cNvSpPr txBox="1"/>
          <p:nvPr/>
        </p:nvSpPr>
        <p:spPr>
          <a:xfrm>
            <a:off x="470946" y="1613795"/>
            <a:ext cx="8447920" cy="23314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sng" strike="noStrike" kern="1200" cap="none" spc="0" normalizeH="0" baseline="0" noProof="0" dirty="0">
                <a:ln>
                  <a:noFill/>
                </a:ln>
                <a:solidFill>
                  <a:srgbClr val="00A3B6"/>
                </a:solidFill>
                <a:effectLst/>
                <a:uLnTx/>
                <a:uFillTx/>
                <a:latin typeface="Arial" panose="020B0604020202020204"/>
                <a:ea typeface="+mn-ea"/>
                <a:cs typeface="Times New Roman" panose="02020603050405020304" pitchFamily="18" charset="0"/>
              </a:rPr>
              <a:t>Les modifications des contrôles concentrateurs sont les suivantes: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Times New Roman" panose="02020603050405020304" pitchFamily="18" charset="0"/>
                <a:sym typeface="Wingdings" panose="05000000000000000000" pitchFamily="2" charset="2"/>
              </a:rPr>
              <a:t>Ajout d’un contrôle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OC.40 : Il est interdit de renseigner plus d'un élément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BasePlancher</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rattaché à un même élément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t>
            </a:r>
          </a:p>
          <a:p>
            <a:pPr marL="285750" marR="0" lvl="0" indent="-285750" algn="l" defTabSz="4572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Times New Roman" panose="02020603050405020304" pitchFamily="18" charset="0"/>
                <a:sym typeface="Wingdings" panose="05000000000000000000" pitchFamily="2" charset="2"/>
              </a:rPr>
              <a:t>Ajout d’un contrôle </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OC.41 : Il est interdit de renseigner plus d'un élément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BasePlafond</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 rattaché à un même élément </a:t>
            </a:r>
            <a:r>
              <a:rPr kumimoji="0" lang="fr-FR" sz="1600" b="0" i="0" u="none" strike="noStrike" kern="1200" cap="none" spc="0" normalizeH="0" baseline="0" noProof="0" dirty="0" err="1">
                <a:ln>
                  <a:noFill/>
                </a:ln>
                <a:solidFill>
                  <a:srgbClr val="00A3B6"/>
                </a:solidFill>
                <a:effectLst/>
                <a:uLnTx/>
                <a:uFillTx/>
                <a:latin typeface="Arial" panose="020B0604020202020204"/>
                <a:ea typeface="+mn-ea"/>
                <a:cs typeface="+mn-cs"/>
              </a:rPr>
              <a:t>BaseMontantSpecifique</a:t>
            </a: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1200"/>
              </a:spcBef>
              <a:spcAft>
                <a:spcPts val="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a:ea typeface="+mn-ea"/>
                <a:cs typeface="+mn-cs"/>
              </a:rPr>
              <a:t>Renumérotation des contrôles suivants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OC.25 devient OC.29 ; OC.D1 devient OC.30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00A3B6"/>
                </a:solidFill>
                <a:effectLst/>
                <a:uLnTx/>
                <a:uFillTx/>
                <a:latin typeface="Arial" panose="020B0604020202020204"/>
                <a:ea typeface="+mn-ea"/>
                <a:cs typeface="+mn-cs"/>
              </a:rPr>
              <a:t>OC.D3 devient OC.38 ; OC.D5 devient OC.39.</a:t>
            </a:r>
          </a:p>
        </p:txBody>
      </p:sp>
    </p:spTree>
    <p:extLst>
      <p:ext uri="{BB962C8B-B14F-4D97-AF65-F5344CB8AC3E}">
        <p14:creationId xmlns:p14="http://schemas.microsoft.com/office/powerpoint/2010/main" val="390281038"/>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06C72-5B97-177C-1930-E4084993C1C6}"/>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FA7FB4A7-6DFC-B1EB-1630-DBDE010D8D52}"/>
              </a:ext>
            </a:extLst>
          </p:cNvPr>
          <p:cNvSpPr>
            <a:spLocks noGrp="1"/>
          </p:cNvSpPr>
          <p:nvPr>
            <p:ph type="sldNum" sz="quarter" idx="12"/>
          </p:nvPr>
        </p:nvSpPr>
        <p:spPr/>
        <p:txBody>
          <a:bodyPr/>
          <a:lstStyle/>
          <a:p>
            <a:fld id="{6C53AC0A-47EB-D843-AAE8-9061F973F010}" type="slidenum">
              <a:rPr lang="fr-FR" smtClean="0"/>
              <a:t>24</a:t>
            </a:fld>
            <a:endParaRPr lang="fr-FR"/>
          </a:p>
        </p:txBody>
      </p:sp>
      <p:sp>
        <p:nvSpPr>
          <p:cNvPr id="5" name="Titre 1">
            <a:extLst>
              <a:ext uri="{FF2B5EF4-FFF2-40B4-BE49-F238E27FC236}">
                <a16:creationId xmlns:a16="http://schemas.microsoft.com/office/drawing/2014/main" id="{7F8FB4BC-B677-B7B8-1905-651BE4F58319}"/>
              </a:ext>
            </a:extLst>
          </p:cNvPr>
          <p:cNvSpPr>
            <a:spLocks noGrp="1"/>
          </p:cNvSpPr>
          <p:nvPr>
            <p:ph type="title"/>
          </p:nvPr>
        </p:nvSpPr>
        <p:spPr>
          <a:xfrm>
            <a:off x="755576" y="1"/>
            <a:ext cx="8208912" cy="836712"/>
          </a:xfrm>
        </p:spPr>
        <p:txBody>
          <a:bodyPr vert="horz" lIns="180000" tIns="180000" rIns="0" bIns="0" rtlCol="0" anchor="t" anchorCtr="0">
            <a:noAutofit/>
          </a:bodyPr>
          <a:lstStyle/>
          <a:p>
            <a:r>
              <a:rPr lang="fr-FR" sz="1800" dirty="0"/>
              <a:t> 2. Modification des cardinalités des critères salariés à valeurs discrètes</a:t>
            </a:r>
            <a:br>
              <a:rPr lang="fr-FR" sz="1800" dirty="0"/>
            </a:br>
            <a:endParaRPr lang="fr-FR" sz="1800" dirty="0"/>
          </a:p>
        </p:txBody>
      </p:sp>
      <p:sp>
        <p:nvSpPr>
          <p:cNvPr id="2" name="ZoneTexte 1">
            <a:extLst>
              <a:ext uri="{FF2B5EF4-FFF2-40B4-BE49-F238E27FC236}">
                <a16:creationId xmlns:a16="http://schemas.microsoft.com/office/drawing/2014/main" id="{9BA5EDAB-23CC-7466-A3A4-14D7B2D2A105}"/>
              </a:ext>
            </a:extLst>
          </p:cNvPr>
          <p:cNvSpPr txBox="1"/>
          <p:nvPr/>
        </p:nvSpPr>
        <p:spPr>
          <a:xfrm>
            <a:off x="500767" y="692696"/>
            <a:ext cx="8310687" cy="2600712"/>
          </a:xfrm>
          <a:prstGeom prst="rect">
            <a:avLst/>
          </a:prstGeom>
          <a:noFill/>
        </p:spPr>
        <p:txBody>
          <a:bodyPr wrap="square">
            <a:spAutoFit/>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fr-FR" sz="1600" b="1" i="0" u="sng" strike="noStrike" kern="1200" cap="none" spc="0" normalizeH="0" baseline="0" noProof="0" dirty="0">
                <a:ln>
                  <a:noFill/>
                </a:ln>
                <a:solidFill>
                  <a:srgbClr val="FBBA20">
                    <a:lumMod val="75000"/>
                  </a:srgbClr>
                </a:solidFill>
                <a:effectLst/>
                <a:uLnTx/>
                <a:uFillTx/>
                <a:latin typeface="Arial" panose="020B0604020202020204"/>
                <a:ea typeface="+mn-ea"/>
                <a:cs typeface="+mn-cs"/>
                <a:sym typeface="Wingdings" panose="05000000000000000000" pitchFamily="2" charset="2"/>
              </a:rPr>
              <a:t>Ajout dans le schéma de la version 140, d’une limite technique au nombre de valeurs possibles associées aux critères : «NIC», «</a:t>
            </a:r>
            <a:r>
              <a:rPr kumimoji="0" lang="fr-FR" sz="1600" b="1" i="0" u="sng" strike="noStrike" kern="1200" cap="none" spc="0" normalizeH="0" baseline="0" noProof="0" dirty="0" err="1">
                <a:ln>
                  <a:noFill/>
                </a:ln>
                <a:solidFill>
                  <a:srgbClr val="FBBA20">
                    <a:lumMod val="75000"/>
                  </a:srgbClr>
                </a:solidFill>
                <a:effectLst/>
                <a:uLnTx/>
                <a:uFillTx/>
                <a:latin typeface="Arial" panose="020B0604020202020204"/>
                <a:ea typeface="+mn-ea"/>
                <a:cs typeface="+mn-cs"/>
                <a:sym typeface="Wingdings" panose="05000000000000000000" pitchFamily="2" charset="2"/>
              </a:rPr>
              <a:t>CodePCSESE</a:t>
            </a:r>
            <a:r>
              <a:rPr kumimoji="0" lang="fr-FR" sz="1600" b="1" i="0" u="sng" strike="noStrike" kern="1200" cap="none" spc="0" normalizeH="0" baseline="0" noProof="0" dirty="0">
                <a:ln>
                  <a:noFill/>
                </a:ln>
                <a:solidFill>
                  <a:srgbClr val="FBBA20">
                    <a:lumMod val="75000"/>
                  </a:srgbClr>
                </a:solidFill>
                <a:effectLst/>
                <a:uLnTx/>
                <a:uFillTx/>
                <a:latin typeface="Arial" panose="020B0604020202020204"/>
                <a:ea typeface="+mn-ea"/>
                <a:cs typeface="+mn-cs"/>
                <a:sym typeface="Wingdings" panose="05000000000000000000" pitchFamily="2" charset="2"/>
              </a:rPr>
              <a:t>», «</a:t>
            </a:r>
            <a:r>
              <a:rPr kumimoji="0" lang="fr-FR" sz="1600" b="1" i="0" u="sng" strike="noStrike" kern="1200" cap="none" spc="0" normalizeH="0" baseline="0" noProof="0" dirty="0" err="1">
                <a:ln>
                  <a:noFill/>
                </a:ln>
                <a:solidFill>
                  <a:srgbClr val="FBBA20">
                    <a:lumMod val="75000"/>
                  </a:srgbClr>
                </a:solidFill>
                <a:effectLst/>
                <a:uLnTx/>
                <a:uFillTx/>
                <a:latin typeface="Arial" panose="020B0604020202020204"/>
                <a:ea typeface="+mn-ea"/>
                <a:cs typeface="+mn-cs"/>
                <a:sym typeface="Wingdings" panose="05000000000000000000" pitchFamily="2" charset="2"/>
              </a:rPr>
              <a:t>ComplémentPCSESE</a:t>
            </a:r>
            <a:r>
              <a:rPr kumimoji="0" lang="fr-FR" sz="1600" b="1" i="0" u="sng" strike="noStrike" kern="1200" cap="none" spc="0" normalizeH="0" baseline="0" noProof="0" dirty="0">
                <a:ln>
                  <a:noFill/>
                </a:ln>
                <a:solidFill>
                  <a:srgbClr val="FBBA20">
                    <a:lumMod val="75000"/>
                  </a:srgbClr>
                </a:solidFill>
                <a:effectLst/>
                <a:uLnTx/>
                <a:uFillTx/>
                <a:latin typeface="Arial" panose="020B0604020202020204"/>
                <a:ea typeface="+mn-ea"/>
                <a:cs typeface="+mn-cs"/>
                <a:sym typeface="Wingdings" panose="05000000000000000000" pitchFamily="2" charset="2"/>
              </a:rPr>
              <a:t>», et « </a:t>
            </a:r>
            <a:r>
              <a:rPr kumimoji="0" lang="fr-FR" sz="1600" b="1" i="0" u="sng" strike="noStrike" kern="1200" cap="none" spc="0" normalizeH="0" baseline="0" noProof="0" dirty="0" err="1">
                <a:ln>
                  <a:noFill/>
                </a:ln>
                <a:solidFill>
                  <a:srgbClr val="FBBA20">
                    <a:lumMod val="75000"/>
                  </a:srgbClr>
                </a:solidFill>
                <a:effectLst/>
                <a:uLnTx/>
                <a:uFillTx/>
                <a:latin typeface="Arial" panose="020B0604020202020204"/>
                <a:ea typeface="+mn-ea"/>
                <a:cs typeface="+mn-cs"/>
                <a:sym typeface="Wingdings" panose="05000000000000000000" pitchFamily="2" charset="2"/>
              </a:rPr>
              <a:t>ConventionCollective</a:t>
            </a:r>
            <a:r>
              <a:rPr kumimoji="0" lang="fr-FR" sz="1600" b="1" i="0" u="sng" strike="noStrike" kern="1200" cap="none" spc="0" normalizeH="0" baseline="0" noProof="0" dirty="0">
                <a:ln>
                  <a:noFill/>
                </a:ln>
                <a:solidFill>
                  <a:srgbClr val="FBBA20">
                    <a:lumMod val="75000"/>
                  </a:srgbClr>
                </a:solidFill>
                <a:effectLst/>
                <a:uLnTx/>
                <a:uFillTx/>
                <a:latin typeface="Arial" panose="020B0604020202020204"/>
                <a:ea typeface="+mn-ea"/>
                <a:cs typeface="+mn-cs"/>
                <a:sym typeface="Wingdings" panose="05000000000000000000" pitchFamily="2" charset="2"/>
              </a:rPr>
              <a:t> ».   </a:t>
            </a:r>
          </a:p>
          <a:p>
            <a:pPr marL="0" marR="0" lvl="0" indent="0" algn="just" defTabSz="685800"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dirty="0">
              <a:ln>
                <a:noFill/>
              </a:ln>
              <a:solidFill>
                <a:srgbClr val="242F62"/>
              </a:solidFill>
              <a:effectLst/>
              <a:uLnTx/>
              <a:uFillTx/>
              <a:latin typeface="Arial" panose="020B0604020202020204"/>
              <a:ea typeface="+mn-ea"/>
              <a:cs typeface="+mn-cs"/>
              <a:sym typeface="Wingdings" panose="05000000000000000000" pitchFamily="2" charset="2"/>
            </a:endParaRPr>
          </a:p>
          <a:p>
            <a:pPr marL="285750" marR="0" lvl="0" indent="-285750" algn="just"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Times New Roman" panose="02020603050405020304" pitchFamily="18" charset="0"/>
                <a:cs typeface="Times New Roman" panose="02020603050405020304" pitchFamily="18" charset="0"/>
                <a:sym typeface="Wingdings" panose="05000000000000000000" pitchFamily="2" charset="2"/>
              </a:rPr>
              <a:t>NIC [1-99] </a:t>
            </a:r>
          </a:p>
          <a:p>
            <a:pPr marL="285750" marR="0" lvl="0" indent="-285750" algn="just"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Times New Roman" panose="02020603050405020304" pitchFamily="18" charset="0"/>
                <a:cs typeface="Times New Roman" panose="02020603050405020304" pitchFamily="18" charset="0"/>
                <a:sym typeface="Wingdings" panose="05000000000000000000" pitchFamily="2" charset="2"/>
              </a:rPr>
              <a:t>CodePCSESE</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Times New Roman" panose="02020603050405020304" pitchFamily="18" charset="0"/>
                <a:cs typeface="Times New Roman" panose="02020603050405020304" pitchFamily="18" charset="0"/>
                <a:sym typeface="Wingdings" panose="05000000000000000000" pitchFamily="2" charset="2"/>
              </a:rPr>
              <a:t> [1-99] </a:t>
            </a:r>
          </a:p>
          <a:p>
            <a:pPr marL="285750" marR="0" lvl="0" indent="-285750" algn="just"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a:ea typeface="+mn-ea"/>
                <a:cs typeface="Times New Roman" panose="02020603050405020304" pitchFamily="18" charset="0"/>
                <a:sym typeface="Wingdings" panose="05000000000000000000" pitchFamily="2" charset="2"/>
              </a:rPr>
              <a:t>ComplémentPCSESE</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a:ea typeface="+mn-ea"/>
                <a:cs typeface="Times New Roman" panose="02020603050405020304" pitchFamily="18" charset="0"/>
                <a:sym typeface="Wingdings" panose="05000000000000000000" pitchFamily="2" charset="2"/>
              </a:rPr>
              <a:t> [1-99] </a:t>
            </a:r>
          </a:p>
          <a:p>
            <a:pPr marL="285750" marR="0" lvl="0" indent="-285750" algn="just"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600" b="1" i="0" u="none" strike="noStrike" kern="1200" cap="none" spc="0" normalizeH="0" baseline="0" noProof="0" dirty="0" err="1">
                <a:ln>
                  <a:noFill/>
                </a:ln>
                <a:solidFill>
                  <a:srgbClr val="FBBA20">
                    <a:lumMod val="75000"/>
                  </a:srgbClr>
                </a:solidFill>
                <a:effectLst/>
                <a:uLnTx/>
                <a:uFillTx/>
                <a:latin typeface="Arial" panose="020B0604020202020204" pitchFamily="34" charset="0"/>
                <a:ea typeface="Times New Roman" panose="02020603050405020304" pitchFamily="18" charset="0"/>
                <a:cs typeface="Times New Roman" panose="02020603050405020304" pitchFamily="18" charset="0"/>
                <a:sym typeface="Wingdings" panose="05000000000000000000" pitchFamily="2" charset="2"/>
              </a:rPr>
              <a:t>ConventionCollective</a:t>
            </a:r>
            <a:r>
              <a:rPr kumimoji="0" lang="fr-FR" sz="1600" b="1" i="0" u="none" strike="noStrike" kern="1200" cap="none" spc="0" normalizeH="0" baseline="0" noProof="0" dirty="0">
                <a:ln>
                  <a:noFill/>
                </a:ln>
                <a:solidFill>
                  <a:srgbClr val="FBBA20">
                    <a:lumMod val="75000"/>
                  </a:srgbClr>
                </a:solidFill>
                <a:effectLst/>
                <a:uLnTx/>
                <a:uFillTx/>
                <a:latin typeface="Arial" panose="020B0604020202020204" pitchFamily="34" charset="0"/>
                <a:ea typeface="Times New Roman" panose="02020603050405020304" pitchFamily="18" charset="0"/>
                <a:cs typeface="Times New Roman" panose="02020603050405020304" pitchFamily="18" charset="0"/>
                <a:sym typeface="Wingdings" panose="05000000000000000000" pitchFamily="2" charset="2"/>
              </a:rPr>
              <a:t> [1-99]</a:t>
            </a:r>
          </a:p>
          <a:p>
            <a:pPr marR="0" lvl="0" algn="just" defTabSz="685800" rtl="0" eaLnBrk="1" fontAlgn="auto" latinLnBrk="0" hangingPunct="1">
              <a:lnSpc>
                <a:spcPct val="100000"/>
              </a:lnSpc>
              <a:spcBef>
                <a:spcPts val="600"/>
              </a:spcBef>
              <a:spcAft>
                <a:spcPts val="0"/>
              </a:spcAft>
              <a:buClrTx/>
              <a:buSzTx/>
              <a:tabLst/>
              <a:defRPr/>
            </a:pPr>
            <a:endParaRPr lang="fr-FR" sz="1600" b="1" dirty="0">
              <a:solidFill>
                <a:srgbClr val="FBBA20">
                  <a:lumMod val="75000"/>
                </a:srgbClr>
              </a:solidFill>
              <a:latin typeface="Arial" panose="020B0604020202020204" pitchFamily="34" charset="0"/>
              <a:ea typeface="Times New Roman" panose="02020603050405020304" pitchFamily="18" charset="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557885487"/>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6DE5F-C4BF-141A-68C1-35C4095A6E12}"/>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37A12638-0FDC-C2D8-AD37-F9EB633CBF5E}"/>
              </a:ext>
            </a:extLst>
          </p:cNvPr>
          <p:cNvSpPr>
            <a:spLocks noGrp="1"/>
          </p:cNvSpPr>
          <p:nvPr>
            <p:ph type="sldNum" sz="quarter" idx="12"/>
          </p:nvPr>
        </p:nvSpPr>
        <p:spPr/>
        <p:txBody>
          <a:bodyPr/>
          <a:lstStyle/>
          <a:p>
            <a:fld id="{6C53AC0A-47EB-D843-AAE8-9061F973F010}" type="slidenum">
              <a:rPr lang="fr-FR" smtClean="0"/>
              <a:t>25</a:t>
            </a:fld>
            <a:endParaRPr lang="fr-FR"/>
          </a:p>
        </p:txBody>
      </p:sp>
      <p:pic>
        <p:nvPicPr>
          <p:cNvPr id="8" name="Image 7">
            <a:extLst>
              <a:ext uri="{FF2B5EF4-FFF2-40B4-BE49-F238E27FC236}">
                <a16:creationId xmlns:a16="http://schemas.microsoft.com/office/drawing/2014/main" id="{43DE0BF8-1D10-A9B2-216B-4800D493D544}"/>
              </a:ext>
            </a:extLst>
          </p:cNvPr>
          <p:cNvPicPr>
            <a:picLocks noChangeAspect="1"/>
          </p:cNvPicPr>
          <p:nvPr/>
        </p:nvPicPr>
        <p:blipFill>
          <a:blip r:embed="rId2"/>
          <a:srcRect t="5799"/>
          <a:stretch>
            <a:fillRect/>
          </a:stretch>
        </p:blipFill>
        <p:spPr>
          <a:xfrm>
            <a:off x="206816" y="1142056"/>
            <a:ext cx="8370327" cy="5256584"/>
          </a:xfrm>
          <a:prstGeom prst="rect">
            <a:avLst/>
          </a:prstGeom>
        </p:spPr>
      </p:pic>
      <p:sp>
        <p:nvSpPr>
          <p:cNvPr id="10" name="ZoneTexte 9">
            <a:extLst>
              <a:ext uri="{FF2B5EF4-FFF2-40B4-BE49-F238E27FC236}">
                <a16:creationId xmlns:a16="http://schemas.microsoft.com/office/drawing/2014/main" id="{BC42EE16-A0D7-D7F0-51F6-B80ECABC5A19}"/>
              </a:ext>
            </a:extLst>
          </p:cNvPr>
          <p:cNvSpPr txBox="1"/>
          <p:nvPr/>
        </p:nvSpPr>
        <p:spPr>
          <a:xfrm>
            <a:off x="395535" y="606866"/>
            <a:ext cx="7992888" cy="548355"/>
          </a:xfrm>
          <a:prstGeom prst="rect">
            <a:avLst/>
          </a:prstGeom>
          <a:noFill/>
        </p:spPr>
        <p:txBody>
          <a:bodyPr wrap="square">
            <a:spAutoFit/>
          </a:bodyPr>
          <a:lstStyle/>
          <a:p>
            <a:pPr marR="0" lvl="0" algn="just" defTabSz="685800" rtl="0" eaLnBrk="1" fontAlgn="auto" latinLnBrk="0" hangingPunct="1">
              <a:lnSpc>
                <a:spcPct val="90000"/>
              </a:lnSpc>
              <a:spcBef>
                <a:spcPts val="50"/>
              </a:spcBef>
              <a:spcAft>
                <a:spcPts val="0"/>
              </a:spcAft>
              <a:buClrTx/>
              <a:buSzTx/>
              <a:tabLst/>
              <a:defRPr/>
            </a:pPr>
            <a:r>
              <a:rPr kumimoji="0" lang="fr-FR" sz="1600" b="1" i="0" u="none" strike="noStrike" kern="1200" cap="none" spc="0" normalizeH="0" baseline="0" noProof="0" dirty="0">
                <a:ln>
                  <a:noFill/>
                </a:ln>
                <a:solidFill>
                  <a:srgbClr val="242F62"/>
                </a:solidFill>
                <a:effectLst/>
                <a:uLnTx/>
                <a:uFillTx/>
                <a:latin typeface="Arial" panose="020B0604020202020204"/>
                <a:ea typeface="+mn-ea"/>
                <a:cs typeface="Times New Roman" panose="02020603050405020304" pitchFamily="18" charset="0"/>
              </a:rPr>
              <a:t>Concentrateur des Mutuelles</a:t>
            </a:r>
          </a:p>
          <a:p>
            <a:pPr marL="0" marR="0" lvl="0" indent="0" algn="just" defTabSz="685800" rtl="0" eaLnBrk="1" fontAlgn="auto" latinLnBrk="0" hangingPunct="1">
              <a:lnSpc>
                <a:spcPct val="90000"/>
              </a:lnSpc>
              <a:spcBef>
                <a:spcPts val="50"/>
              </a:spcBef>
              <a:spcAft>
                <a:spcPts val="0"/>
              </a:spcAft>
              <a:buClrTx/>
              <a:buSzTx/>
              <a:buFontTx/>
              <a:buNone/>
              <a:tabLst/>
              <a:defRPr/>
            </a:pPr>
            <a:r>
              <a:rPr kumimoji="0" lang="fr-FR" sz="1600" b="1" i="0" u="none" strike="noStrike" kern="1200" cap="none" spc="0" normalizeH="0" baseline="0" noProof="0" dirty="0">
                <a:ln>
                  <a:noFill/>
                </a:ln>
                <a:solidFill>
                  <a:srgbClr val="00A3B6"/>
                </a:solidFill>
                <a:effectLst/>
                <a:uLnTx/>
                <a:uFillTx/>
                <a:latin typeface="Arial" panose="020B0604020202020204" pitchFamily="34" charset="0"/>
                <a:ea typeface="Times New Roman" panose="02020603050405020304" pitchFamily="18" charset="0"/>
                <a:cs typeface="Times New Roman" panose="02020603050405020304" pitchFamily="18" charset="0"/>
              </a:rPr>
              <a:t>Ajout de trois combinaisons autorisées et de deux combinaisons rejetées</a:t>
            </a:r>
            <a:endParaRPr lang="fr-FR" sz="1600" dirty="0"/>
          </a:p>
        </p:txBody>
      </p:sp>
      <p:sp>
        <p:nvSpPr>
          <p:cNvPr id="11" name="Titre 1">
            <a:extLst>
              <a:ext uri="{FF2B5EF4-FFF2-40B4-BE49-F238E27FC236}">
                <a16:creationId xmlns:a16="http://schemas.microsoft.com/office/drawing/2014/main" id="{7779676E-1540-AA3B-01E6-A9FF6F0B3696}"/>
              </a:ext>
            </a:extLst>
          </p:cNvPr>
          <p:cNvSpPr txBox="1">
            <a:spLocks/>
          </p:cNvSpPr>
          <p:nvPr/>
        </p:nvSpPr>
        <p:spPr>
          <a:xfrm>
            <a:off x="755577" y="27652"/>
            <a:ext cx="8208912" cy="593036"/>
          </a:xfrm>
          <a:prstGeom prst="rect">
            <a:avLst/>
          </a:prstGeom>
        </p:spPr>
        <p:txBody>
          <a:bodyPr vert="horz" lIns="180000" tIns="180000" rIns="0" bIns="0" rtlCol="0" anchor="t" anchorCtr="0">
            <a:noAutofit/>
          </a:bodyPr>
          <a:lstStyle>
            <a:lvl1pPr algn="l" defTabSz="685800" rtl="0" eaLnBrk="1" latinLnBrk="0" hangingPunct="1">
              <a:lnSpc>
                <a:spcPct val="90000"/>
              </a:lnSpc>
              <a:spcBef>
                <a:spcPct val="0"/>
              </a:spcBef>
              <a:buNone/>
              <a:defRPr sz="2400" b="1" i="0" kern="1200">
                <a:solidFill>
                  <a:schemeClr val="tx1"/>
                </a:solidFill>
                <a:latin typeface="Arial" panose="020B0604020202020204" pitchFamily="34" charset="0"/>
                <a:ea typeface="+mj-ea"/>
                <a:cs typeface="+mj-cs"/>
              </a:defRPr>
            </a:lvl1pPr>
          </a:lstStyle>
          <a:p>
            <a:r>
              <a:rPr lang="fr-FR" sz="1800" dirty="0"/>
              <a:t> 3. Modification des combinaisons DGC/DGP autorisées</a:t>
            </a:r>
            <a:br>
              <a:rPr lang="fr-FR" sz="1800" dirty="0"/>
            </a:br>
            <a:endParaRPr lang="fr-FR" sz="1800" dirty="0"/>
          </a:p>
        </p:txBody>
      </p:sp>
    </p:spTree>
    <p:extLst>
      <p:ext uri="{BB962C8B-B14F-4D97-AF65-F5344CB8AC3E}">
        <p14:creationId xmlns:p14="http://schemas.microsoft.com/office/powerpoint/2010/main" val="3718214388"/>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4294967295"/>
          </p:nvPr>
        </p:nvSpPr>
        <p:spPr>
          <a:xfrm>
            <a:off x="827584" y="548680"/>
            <a:ext cx="7704856" cy="4660007"/>
          </a:xfrm>
        </p:spPr>
        <p:txBody>
          <a:bodyPr>
            <a:noAutofit/>
          </a:bodyPr>
          <a:lstStyle/>
          <a:p>
            <a:pPr lvl="1"/>
            <a:endParaRPr lang="fr-FR" sz="1800" b="1" dirty="0">
              <a:solidFill>
                <a:schemeClr val="accent2"/>
              </a:solidFill>
              <a:latin typeface="Arial" panose="020B0604020202020204" pitchFamily="34" charset="0"/>
              <a:ea typeface="Calibri" panose="020F0502020204030204" pitchFamily="34" charset="0"/>
            </a:endParaRPr>
          </a:p>
          <a:p>
            <a:pPr lvl="1" algn="ctr"/>
            <a:r>
              <a:rPr lang="fr-FR" sz="2000" b="1" dirty="0">
                <a:solidFill>
                  <a:schemeClr val="accent2"/>
                </a:solidFill>
                <a:latin typeface="Arial" panose="020B0604020202020204" pitchFamily="34" charset="0"/>
                <a:ea typeface="Calibri" panose="020F0502020204030204" pitchFamily="34" charset="0"/>
              </a:rPr>
              <a:t>MERCI POUR VOTRE ATTENTION</a:t>
            </a:r>
          </a:p>
          <a:p>
            <a:pPr lvl="1"/>
            <a:endParaRPr lang="fr-FR" sz="1800" b="1" dirty="0">
              <a:solidFill>
                <a:schemeClr val="accent2"/>
              </a:solidFill>
              <a:latin typeface="Arial" panose="020B0604020202020204" pitchFamily="34" charset="0"/>
              <a:ea typeface="Calibri" panose="020F0502020204030204" pitchFamily="34" charset="0"/>
            </a:endParaRPr>
          </a:p>
          <a:p>
            <a:pPr lvl="1"/>
            <a:endParaRPr lang="fr-FR" sz="1800" b="1" dirty="0">
              <a:latin typeface="Arial" panose="020B0604020202020204" pitchFamily="34" charset="0"/>
              <a:ea typeface="Calibri" panose="020F0502020204030204" pitchFamily="34" charset="0"/>
            </a:endParaRPr>
          </a:p>
          <a:p>
            <a:pPr lvl="1"/>
            <a:r>
              <a:rPr lang="fr-FR" sz="1800" b="1" dirty="0">
                <a:latin typeface="Arial" panose="020B0604020202020204" pitchFamily="34" charset="0"/>
                <a:ea typeface="Calibri" panose="020F0502020204030204" pitchFamily="34" charset="0"/>
              </a:rPr>
              <a:t>Contacts </a:t>
            </a:r>
          </a:p>
          <a:p>
            <a:pPr lvl="1"/>
            <a:endParaRPr lang="fr-FR" b="1" dirty="0"/>
          </a:p>
          <a:p>
            <a:pPr marL="285750" indent="-285750">
              <a:buFont typeface="Arial" panose="020B0604020202020204" pitchFamily="34" charset="0"/>
              <a:buChar char="•"/>
            </a:pPr>
            <a:r>
              <a:rPr lang="fr-FR" sz="1800" b="1" dirty="0">
                <a:ea typeface="Calibri" panose="020F0502020204030204" pitchFamily="34" charset="0"/>
              </a:rPr>
              <a:t>FIPS – </a:t>
            </a:r>
            <a:r>
              <a:rPr lang="fr-FR" sz="1800" b="1" dirty="0">
                <a:ea typeface="Calibri" panose="020F0502020204030204" pitchFamily="34" charset="0"/>
                <a:hlinkClick r:id="rId2">
                  <a:extLst>
                    <a:ext uri="{A12FA001-AC4F-418D-AE19-62706E023703}">
                      <ahyp:hlinkClr xmlns:ahyp="http://schemas.microsoft.com/office/drawing/2018/hyperlinkcolor" val="tx"/>
                    </a:ext>
                  </a:extLst>
                </a:hlinkClick>
              </a:rPr>
              <a:t>dsn@fips-paritaire.fr</a:t>
            </a:r>
            <a:r>
              <a:rPr lang="fr-FR" sz="1800" b="1" dirty="0">
                <a:ea typeface="Calibri" panose="020F0502020204030204" pitchFamily="34" charset="0"/>
              </a:rPr>
              <a:t> </a:t>
            </a:r>
          </a:p>
          <a:p>
            <a:pPr marL="285750" indent="-285750">
              <a:buFont typeface="Arial" panose="020B0604020202020204" pitchFamily="34" charset="0"/>
              <a:buChar char="•"/>
            </a:pPr>
            <a:r>
              <a:rPr lang="fr-FR" sz="1800" b="1" dirty="0">
                <a:effectLst/>
                <a:latin typeface="Arial" panose="020B0604020202020204" pitchFamily="34" charset="0"/>
                <a:ea typeface="Calibri" panose="020F0502020204030204" pitchFamily="34" charset="0"/>
              </a:rPr>
              <a:t>France Assureurs </a:t>
            </a:r>
            <a:r>
              <a:rPr lang="fr-FR" sz="1800" b="1" dirty="0">
                <a:ea typeface="Calibri" panose="020F0502020204030204" pitchFamily="34" charset="0"/>
              </a:rPr>
              <a:t>– </a:t>
            </a:r>
            <a:r>
              <a:rPr lang="fr-FR" sz="1800" b="1" dirty="0">
                <a:ea typeface="Calibri" panose="020F0502020204030204" pitchFamily="34" charset="0"/>
                <a:hlinkClick r:id="rId3">
                  <a:extLst>
                    <a:ext uri="{A12FA001-AC4F-418D-AE19-62706E023703}">
                      <ahyp:hlinkClr xmlns:ahyp="http://schemas.microsoft.com/office/drawing/2018/hyperlinkcolor" val="tx"/>
                    </a:ext>
                  </a:extLst>
                </a:hlinkClick>
              </a:rPr>
              <a:t>dsn@sintia.fr</a:t>
            </a:r>
            <a:r>
              <a:rPr lang="fr-FR" sz="1800" b="1" dirty="0">
                <a:ea typeface="Calibri" panose="020F0502020204030204" pitchFamily="34" charset="0"/>
              </a:rPr>
              <a:t> </a:t>
            </a:r>
            <a:endParaRPr lang="fr-FR" sz="1800" b="1" dirty="0">
              <a:effectLst/>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r>
              <a:rPr lang="fr-FR" sz="1800" b="1" dirty="0">
                <a:ea typeface="Calibri" panose="020F0502020204030204" pitchFamily="34" charset="0"/>
              </a:rPr>
              <a:t>Mutualité Française – </a:t>
            </a:r>
            <a:r>
              <a:rPr lang="fr-FR" sz="1800" b="1" u="sng" dirty="0">
                <a:ea typeface="Calibri" panose="020F0502020204030204" pitchFamily="34" charset="0"/>
                <a:hlinkClick r:id="rId4">
                  <a:extLst>
                    <a:ext uri="{A12FA001-AC4F-418D-AE19-62706E023703}">
                      <ahyp:hlinkClr xmlns:ahyp="http://schemas.microsoft.com/office/drawing/2018/hyperlinkcolor" val="tx"/>
                    </a:ext>
                  </a:extLst>
                </a:hlinkClick>
              </a:rPr>
              <a:t>svp.dsn@mutualite.fr</a:t>
            </a:r>
            <a:r>
              <a:rPr lang="fr-FR" sz="1800" b="1" u="sng" dirty="0">
                <a:ea typeface="Calibri" panose="020F0502020204030204" pitchFamily="34" charset="0"/>
              </a:rPr>
              <a:t> </a:t>
            </a:r>
            <a:endParaRPr lang="fr-FR" sz="1800" b="1" u="sng" dirty="0">
              <a:effectLst/>
              <a:latin typeface="Arial" panose="020B0604020202020204" pitchFamily="34" charset="0"/>
              <a:ea typeface="Calibri" panose="020F0502020204030204" pitchFamily="34" charset="0"/>
            </a:endParaRPr>
          </a:p>
          <a:p>
            <a:pPr marL="285750" lvl="1" indent="-285750" algn="just">
              <a:buFontTx/>
              <a:buChar char="-"/>
            </a:pPr>
            <a:endParaRPr lang="fr-FR" b="1" dirty="0">
              <a:sym typeface="Wingdings"/>
            </a:endParaRPr>
          </a:p>
          <a:p>
            <a:pPr marL="285750" lvl="1" indent="-285750" algn="just">
              <a:buFontTx/>
              <a:buChar char="-"/>
            </a:pPr>
            <a:endParaRPr lang="fr-FR" b="1" dirty="0">
              <a:sym typeface="Wingdings"/>
            </a:endParaRPr>
          </a:p>
          <a:p>
            <a:pPr marL="285750" lvl="1" indent="-285750" algn="just">
              <a:buFontTx/>
              <a:buChar char="-"/>
            </a:pPr>
            <a:endParaRPr lang="fr-FR" dirty="0">
              <a:sym typeface="Wingdings"/>
            </a:endParaRPr>
          </a:p>
        </p:txBody>
      </p:sp>
      <p:pic>
        <p:nvPicPr>
          <p:cNvPr id="5" name="Image 4">
            <a:extLst>
              <a:ext uri="{FF2B5EF4-FFF2-40B4-BE49-F238E27FC236}">
                <a16:creationId xmlns:a16="http://schemas.microsoft.com/office/drawing/2014/main" id="{56624A98-184B-6B97-F304-53858CFBA5DF}"/>
              </a:ext>
            </a:extLst>
          </p:cNvPr>
          <p:cNvPicPr>
            <a:picLocks noChangeAspect="1"/>
          </p:cNvPicPr>
          <p:nvPr/>
        </p:nvPicPr>
        <p:blipFill>
          <a:blip r:embed="rId5"/>
          <a:stretch>
            <a:fillRect/>
          </a:stretch>
        </p:blipFill>
        <p:spPr>
          <a:xfrm>
            <a:off x="1490232" y="4005064"/>
            <a:ext cx="6163535" cy="1457528"/>
          </a:xfrm>
          <a:prstGeom prst="rect">
            <a:avLst/>
          </a:prstGeom>
        </p:spPr>
      </p:pic>
    </p:spTree>
    <p:extLst>
      <p:ext uri="{BB962C8B-B14F-4D97-AF65-F5344CB8AC3E}">
        <p14:creationId xmlns:p14="http://schemas.microsoft.com/office/powerpoint/2010/main" val="40260949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Thème Office">
  <a:themeElements>
    <a:clrScheme name="CTIP_PPT_2021">
      <a:dk1>
        <a:srgbClr val="242F62"/>
      </a:dk1>
      <a:lt1>
        <a:srgbClr val="FFFFFF"/>
      </a:lt1>
      <a:dk2>
        <a:srgbClr val="242F62"/>
      </a:dk2>
      <a:lt2>
        <a:srgbClr val="FFFFFF"/>
      </a:lt2>
      <a:accent1>
        <a:srgbClr val="E52142"/>
      </a:accent1>
      <a:accent2>
        <a:srgbClr val="FBBA20"/>
      </a:accent2>
      <a:accent3>
        <a:srgbClr val="00A3B6"/>
      </a:accent3>
      <a:accent4>
        <a:srgbClr val="E52142"/>
      </a:accent4>
      <a:accent5>
        <a:srgbClr val="FBBA20"/>
      </a:accent5>
      <a:accent6>
        <a:srgbClr val="00A3B6"/>
      </a:accent6>
      <a:hlink>
        <a:srgbClr val="E52142"/>
      </a:hlink>
      <a:folHlink>
        <a:srgbClr val="FBBA2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TIP - Gabarit ppt-Exemple" id="{BB6FFA11-1731-3D48-B80C-B75A49375CD5}" vid="{518A4AC2-6BF1-3A44-AAF2-0CB2DB35ADFC}"/>
    </a:ext>
  </a:extLst>
</a:theme>
</file>

<file path=ppt/theme/theme2.xml><?xml version="1.0" encoding="utf-8"?>
<a:theme xmlns:a="http://schemas.openxmlformats.org/drawingml/2006/main" name="1_Thème Office">
  <a:themeElements>
    <a:clrScheme name="CTIP_PPT_2021">
      <a:dk1>
        <a:srgbClr val="242F62"/>
      </a:dk1>
      <a:lt1>
        <a:srgbClr val="FFFFFF"/>
      </a:lt1>
      <a:dk2>
        <a:srgbClr val="242F62"/>
      </a:dk2>
      <a:lt2>
        <a:srgbClr val="FFFFFF"/>
      </a:lt2>
      <a:accent1>
        <a:srgbClr val="E52142"/>
      </a:accent1>
      <a:accent2>
        <a:srgbClr val="FBBA20"/>
      </a:accent2>
      <a:accent3>
        <a:srgbClr val="00A3B6"/>
      </a:accent3>
      <a:accent4>
        <a:srgbClr val="E52142"/>
      </a:accent4>
      <a:accent5>
        <a:srgbClr val="FBBA20"/>
      </a:accent5>
      <a:accent6>
        <a:srgbClr val="00A3B6"/>
      </a:accent6>
      <a:hlink>
        <a:srgbClr val="E52142"/>
      </a:hlink>
      <a:folHlink>
        <a:srgbClr val="FBBA2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TIP - Gabarit ppt-Exemple" id="{BB6FFA11-1731-3D48-B80C-B75A49375CD5}" vid="{518A4AC2-6BF1-3A44-AAF2-0CB2DB35ADFC}"/>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C83FF4E04430429BF9C06ADA1B3865" ma:contentTypeVersion="18" ma:contentTypeDescription="Crée un document." ma:contentTypeScope="" ma:versionID="d52069db2528eae7e38146010bd80cd1">
  <xsd:schema xmlns:xsd="http://www.w3.org/2001/XMLSchema" xmlns:xs="http://www.w3.org/2001/XMLSchema" xmlns:p="http://schemas.microsoft.com/office/2006/metadata/properties" xmlns:ns2="69739729-b4a6-4689-b633-9c205bd3e06f" xmlns:ns3="4e765892-55b5-40e1-941d-13f318e93961" targetNamespace="http://schemas.microsoft.com/office/2006/metadata/properties" ma:root="true" ma:fieldsID="01b7880283016f7877f2f135bef67116" ns2:_="" ns3:_="">
    <xsd:import namespace="69739729-b4a6-4689-b633-9c205bd3e06f"/>
    <xsd:import namespace="4e765892-55b5-40e1-941d-13f318e9396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739729-b4a6-4689-b633-9c205bd3e0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1a756491-8667-4552-bdfa-c1c15cc373c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765892-55b5-40e1-941d-13f318e93961" elementFormDefault="qualified">
    <xsd:import namespace="http://schemas.microsoft.com/office/2006/documentManagement/types"/>
    <xsd:import namespace="http://schemas.microsoft.com/office/infopath/2007/PartnerControls"/>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66028891-c371-43d0-b119-e9876fac6d2c}" ma:internalName="TaxCatchAll" ma:showField="CatchAllData" ma:web="4e765892-55b5-40e1-941d-13f318e939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9739729-b4a6-4689-b633-9c205bd3e06f">
      <Terms xmlns="http://schemas.microsoft.com/office/infopath/2007/PartnerControls"/>
    </lcf76f155ced4ddcb4097134ff3c332f>
    <TaxCatchAll xmlns="4e765892-55b5-40e1-941d-13f318e9396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3E3EBC-01C7-4DAE-974C-855F58EA7A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739729-b4a6-4689-b633-9c205bd3e06f"/>
    <ds:schemaRef ds:uri="4e765892-55b5-40e1-941d-13f318e939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8B58BEF-B6D3-49A1-8060-60776624A681}">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terms/"/>
    <ds:schemaRef ds:uri="http://www.w3.org/XML/1998/namespace"/>
    <ds:schemaRef ds:uri="4e765892-55b5-40e1-941d-13f318e93961"/>
    <ds:schemaRef ds:uri="69739729-b4a6-4689-b633-9c205bd3e06f"/>
    <ds:schemaRef ds:uri="http://purl.org/dc/dcmitype/"/>
  </ds:schemaRefs>
</ds:datastoreItem>
</file>

<file path=customXml/itemProps3.xml><?xml version="1.0" encoding="utf-8"?>
<ds:datastoreItem xmlns:ds="http://schemas.openxmlformats.org/officeDocument/2006/customXml" ds:itemID="{0BC7B0E3-2ED7-42F4-9509-AE7EF7D068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TotalTime>
  <Words>3760</Words>
  <Application>Microsoft Office PowerPoint</Application>
  <PresentationFormat>Affichage à l'écran (4:3)</PresentationFormat>
  <Paragraphs>468</Paragraphs>
  <Slides>26</Slides>
  <Notes>4</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26</vt:i4>
      </vt:variant>
    </vt:vector>
  </HeadingPairs>
  <TitlesOfParts>
    <vt:vector size="33" baseType="lpstr">
      <vt:lpstr>Arial</vt:lpstr>
      <vt:lpstr>Calibri</vt:lpstr>
      <vt:lpstr>Police système</vt:lpstr>
      <vt:lpstr>Times New Roman</vt:lpstr>
      <vt:lpstr>Wingdings</vt:lpstr>
      <vt:lpstr>Thème Office</vt:lpstr>
      <vt:lpstr>1_Thème Office</vt:lpstr>
      <vt:lpstr>FICHES DE PARAMETRAGE  V139 - V140</vt:lpstr>
      <vt:lpstr>Sommaire</vt:lpstr>
      <vt:lpstr>Calendrier des versions </vt:lpstr>
      <vt:lpstr> 1. Calendrier des versions</vt:lpstr>
      <vt:lpstr> 1. Calendrier des versions de fiches</vt:lpstr>
      <vt:lpstr>Mise à jour des versions 139 et 140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Delta entre les versions 139 et 140</vt:lpstr>
      <vt:lpstr> Delta entre les versions de fiches 139 et 140 </vt:lpstr>
      <vt:lpstr> 1. Ajout d'un plafond et plancher sur les bases et montants forfaitaires</vt:lpstr>
      <vt:lpstr> 1. Ajout d'un plafond et plancher sur les bases et montants forfaitaires</vt:lpstr>
      <vt:lpstr> 1. Ajout d'un plafond et plancher sur les bases et montants forfaitaires</vt:lpstr>
      <vt:lpstr> 2. Modification des cardinalités des critères salariés à valeurs discrètes </vt:lpstr>
      <vt:lpstr>Présentation PowerPoint</vt:lpstr>
      <vt:lpstr>Présentation PowerPoint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Marion Muret</dc:creator>
  <cp:lastModifiedBy>Marion Muret</cp:lastModifiedBy>
  <cp:revision>1267</cp:revision>
  <cp:lastPrinted>2020-02-21T09:37:38Z</cp:lastPrinted>
  <dcterms:created xsi:type="dcterms:W3CDTF">2019-11-13T13:04:31Z</dcterms:created>
  <dcterms:modified xsi:type="dcterms:W3CDTF">2026-07-23T09:22:50Z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0x01010009C83FF4E04430429BF9C06ADA1B3865</vt:lpwstr>
  </property>
  <property fmtid="{D5CDD505-2E9C-101B-9397-08002B2CF9AE}" pid="3" name="MSIP_Label_9038183e-43ef-4645-91eb-ddf99874cde1_Enabled">
    <vt:lpwstr>true</vt:lpwstr>
  </property>
  <property fmtid="{D5CDD505-2E9C-101B-9397-08002B2CF9AE}" pid="4" name="MSIP_Label_9038183e-43ef-4645-91eb-ddf99874cde1_SetDate">
    <vt:lpwstr>2025-05-02T14:32:41Z</vt:lpwstr>
  </property>
  <property fmtid="{D5CDD505-2E9C-101B-9397-08002B2CF9AE}" pid="5" name="MSIP_Label_9038183e-43ef-4645-91eb-ddf99874cde1_Method">
    <vt:lpwstr>Standard</vt:lpwstr>
  </property>
  <property fmtid="{D5CDD505-2E9C-101B-9397-08002B2CF9AE}" pid="6" name="MSIP_Label_9038183e-43ef-4645-91eb-ddf99874cde1_Name">
    <vt:lpwstr>Public</vt:lpwstr>
  </property>
  <property fmtid="{D5CDD505-2E9C-101B-9397-08002B2CF9AE}" pid="7" name="MSIP_Label_9038183e-43ef-4645-91eb-ddf99874cde1_SiteId">
    <vt:lpwstr>763071aa-e2bc-4899-9189-1d5d33cfc46c</vt:lpwstr>
  </property>
  <property fmtid="{D5CDD505-2E9C-101B-9397-08002B2CF9AE}" pid="8" name="MSIP_Label_9038183e-43ef-4645-91eb-ddf99874cde1_ActionId">
    <vt:lpwstr>943341e3-ed98-4006-b9d6-6f9976802ba3</vt:lpwstr>
  </property>
  <property fmtid="{D5CDD505-2E9C-101B-9397-08002B2CF9AE}" pid="9" name="MSIP_Label_9038183e-43ef-4645-91eb-ddf99874cde1_ContentBits">
    <vt:lpwstr>0</vt:lpwstr>
  </property>
  <property fmtid="{D5CDD505-2E9C-101B-9397-08002B2CF9AE}" pid="10" name="MSIP_Label_9038183e-43ef-4645-91eb-ddf99874cde1_Tag">
    <vt:lpwstr>10, 3, 0, 1</vt:lpwstr>
  </property>
  <property fmtid="{D5CDD505-2E9C-101B-9397-08002B2CF9AE}" pid="11" name="MediaServiceImageTags">
    <vt:lpwstr/>
  </property>
</Properties>
</file>